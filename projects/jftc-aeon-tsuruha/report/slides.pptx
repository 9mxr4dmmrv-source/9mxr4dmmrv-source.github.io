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2" d="100"/>
          <a:sy n="52" d="100"/>
        </p:scale>
        <p:origin x="220"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稔人 永田" userId="6f89a4395cd801de" providerId="LiveId" clId="{C9289BA4-044C-49A9-ACB2-B3E77BE5E5D8}"/>
    <pc:docChg chg="modSld">
      <pc:chgData name="稔人 永田" userId="6f89a4395cd801de" providerId="LiveId" clId="{C9289BA4-044C-49A9-ACB2-B3E77BE5E5D8}" dt="2026-07-02T07:03:16.742" v="1" actId="1076"/>
      <pc:docMkLst>
        <pc:docMk/>
      </pc:docMkLst>
      <pc:sldChg chg="modSp mod">
        <pc:chgData name="稔人 永田" userId="6f89a4395cd801de" providerId="LiveId" clId="{C9289BA4-044C-49A9-ACB2-B3E77BE5E5D8}" dt="2026-07-02T07:03:16.742" v="1" actId="1076"/>
        <pc:sldMkLst>
          <pc:docMk/>
          <pc:sldMk cId="0" sldId="260"/>
        </pc:sldMkLst>
        <pc:spChg chg="mod">
          <ac:chgData name="稔人 永田" userId="6f89a4395cd801de" providerId="LiveId" clId="{C9289BA4-044C-49A9-ACB2-B3E77BE5E5D8}" dt="2026-07-02T07:03:16.742" v="1" actId="1076"/>
          <ac:spMkLst>
            <pc:docMk/>
            <pc:sldMk cId="0" sldId="260"/>
            <ac:spMk id="6" creationId="{00000000-0000-0000-0000-000000000000}"/>
          </ac:spMkLst>
        </pc:spChg>
      </pc:sldChg>
      <pc:sldChg chg="modSp mod">
        <pc:chgData name="稔人 永田" userId="6f89a4395cd801de" providerId="LiveId" clId="{C9289BA4-044C-49A9-ACB2-B3E77BE5E5D8}" dt="2026-07-01T06:01:02.260" v="0" actId="1076"/>
        <pc:sldMkLst>
          <pc:docMk/>
          <pc:sldMk cId="0" sldId="278"/>
        </pc:sldMkLst>
        <pc:spChg chg="mod">
          <ac:chgData name="稔人 永田" userId="6f89a4395cd801de" providerId="LiveId" clId="{C9289BA4-044C-49A9-ACB2-B3E77BE5E5D8}" dt="2026-07-01T06:01:02.260" v="0" actId="1076"/>
          <ac:spMkLst>
            <pc:docMk/>
            <pc:sldMk cId="0" sldId="278"/>
            <ac:spMk id="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2860770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報告のテーマは、公正取引委員会が令和7年4月30日に条件付きで承認したイオンによるツルハHDの株式取得です。中核である地理的市場画定と経済分析をRで再現し、その土台である市場画定を食品小売の観点から再検討します。</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報告を貫くのは三つの局面の往復です。まず手法を再現して内側から理解し、次にその土台である市場画定を批判し、最後にその批判の当否までデータで検証します。批判はむしろ反証され、公取委の画定を裏づける結果になりました。</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件を素材に二つの作業を行います。第一に手法をRで再現して理解すること、第二にその土台である市場画定を食品小売の観点から問い直すこと。結論を先取りすれば、機械的判定には限界があり、食品からの批判は反証されました。</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ここから第1部。企業結合規制の枠組みと、本件の取引・審査の全体像を確認します。</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企業結合規制の最大の特徴は、行為を事後的に規制するのではなく、企業が一体化する構造そのものを事前に審査する点です。行為規制では意思の連絡が争点になりますが、構造規制である本件では、結合がもたらす競争への効果そのものが争点になります。</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構造審査は三段階で進みます。第一に需要の代替性を基準とした市場画定、その道具がSSNIP。第二に市場集中度HHIを用いた競争評価とセーフハーバー。第三に、懸念があっても事業譲渡などの問題解消措置を前提に承認しうる、というものです。</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10条第1項は、当てはめを三つの問いに帰着させます。市場は何か、競争を実質的に制限するか、措置で懸念は解消されるか。なお市場画定は一般用医薬品を軸に行われ、食料品が主力でも基準には用いられていません。これが第4部の伏線です。</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取引の中心は、イオンによるツルハHDの株式取得です。議決権の50%超を取得するため第10条が適用されます。両グループはドラッグストア事業が重複し、全国で1,330の競合商圏が生じます。</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公取委はまず重複する競合商圏1,330を抽出し、競争者グループが1以下の157商圏に機械的に絞り込みます。これを6類型で個別審査し、最終的に競争圧力が確認できない10商圏で懸念を認めました。措置を前提に排除措置命令は行われていません。</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ここから本報告の核、第2部です。ツルハ基点の2km商圏をRのsfパッケージで構成し、機械的判定が公取委の懸念をどこまで捕捉できるかを再現します。</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店舗位置をOpenStreetMapとGoogle Places APIから取得し、ツルハ基点2km商圏を構成しました。公取委の二段スクリーニングを、企業結合との因果関係に着目して4つに区分。重複がなければ構造は不変＝因果なしとして懸念から除外します。対象は懸念10商圏が所在する7県です。</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機械的判定は7県で15商圏を懸念としました。まず前半5商圏。いずれも公取委の懸念商圏ですが、機械的には捕捉できず取りこぼしです。要因は、措置後にデータが変わったもの、店舗データの漏れ、そして競争者の過大計上です。</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後半5商圏。的中は08の米子・夜見店と10の今治・波止浜店の2つだけです。残りはやはり過大計上やデータ漏れによる取りこぼし。結果、的中はわずか2、取りこぼし8。逆に公取委の懸念に含まれない13商圏を新規に検出しました。この乖離が次の含意の論拠です。</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再現率2割、偽陽性13という乖離そのものが論拠です。機械的判定は第一にデータの完全性に決定的に依存し、第二に隣接競争者や商圏外圧力といった個別事情を評価できません。ゆえに公取委の最終判断を代替するものではありません。</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第3部は経済分析の再現です。公取委の粗利益率回帰を読み解き、固定効果と内生性の働きをモンテカルロで操作的に示します。</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公取委は店舗固定効果パネル回帰で、競合グループが1増えると粗利益率が2km商圏で約0.16ポイント、500m商圏では約0.41ポイント低下することを示しました。商圏が狭いほど競争の効果は強く、いずれも有意です。</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知りたいのはただ一つの係数βです。競合が1つ増えると粗利益率は何%ポイント動くか。本来はマイナスのはずです。ところが競合は儲かる立地を選んで出店するため、データ上は競合が多い場所ほどもともと儲かる場所になりがちです。地域の需要という共通原因が競合と利益率の両方を押し上げ、本当の効果を覆い隠す。これが内生性で、火事の現場の消防車と焼損面積の関係と同じ構造です。素朴なプールドOLSでは符号が逆転し、競合が多いほど高利益という結果すら出ます。</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モンテカルロは内生性の働きを操作的に示したものです。競合が外生的なら、推定量は真値マイナス0.16付近に集中し、正しく推定できます。青のヒストグラムです。ところが競合が内生的だと、固定効果と観測シフターを入れても推定量はゼロ付近へ大きく偏ります。赤のヒストグラムです。つまり真の競争効果は報告書の推定値より強い可能性がある。ただしこれは真値を仮定した例示であり、実データは非公開なので追認ではありません。</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第4部では、市場を『ドラッグストア業』と画定した土台そのものを、食品小売市場の観点から問い直し、その当否をデータで検証します。</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ドラッグストアは食料品も主力で、イオンはスーパーも経営しています。そこで食品小売市場の集中を問う余地があります。SSNIPを食品次元に当てると、弊害が現れうるのは食品市場が局所的に薄い場所、すなわちスーパー不在商圏に限られる、という仮説が立ちます。</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平成27年度事例9、ファミリーマートとユニーの統合では、公取委はコンビニを業態として画定しつつ、チェーンスーパー等からの競争圧力を認めて無条件で承認しました。ただしそこではスーパーが近接していた。だからこの先例は、スーパーが不在なら圧力が欠ける、という向きで援用するのが正しいのです。</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県799商圏のうち、2km内にスーパーがないのはわずか3商圏で、典型的な商圏は中央値8つのスーパーに囲まれています。統合が食品集中を生む商圏は1つだけ。さらに、形式的にセーフハーバーを超える54商圏でも、その53までがスーパーを擁し、競争は維持されています。</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統合が食品集中を生む唯一の形式的例外が西郷店商圏です。統合後HHI1,582、ΔHHI306、合算シェア25%でセーフハーバーを形式的に超えます。しかしイオン系の食品供給はコンビニのミニストップに限られ代替性は弱く、商圏外スーパーやネット通販の圧力もあるため、実質的な弊害は乏しい。仮説は反証され、かえって公取委の画定を裏づけました。</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結論は三点です。第一に、再現により手法と当てはめを内側から理解できたこと。第二に、機械的スクリーニングと最終10商圏の差が、データの完全性と個別審査の必要性を示したこと。第三に、食品小売からの再検討は反証され、かえって公取委の画定を裏づけたことです。</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手法を再現して理解し、その土台に批判を試み、批判の当否までデータで検証する。この往復こそが本報告の方法論的な意義であり、データ駆動の法的分析がもつ可能性と限界の双方を示しています。</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限界です。データは公開ソースに依拠し被覆に限界があること、商圏を一律2km直線で画定したこと、食品ウェイトは測定値でなく仮定であること、現データは措置実行後を反映していること。以上より本報告の数値は予備的・例示的なものです。</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一次資料は公取委の審査結果・経済分析報告書・企業結合ガイドライン、先例の事例9。文献は菅久ほか、百選。計画資料としてイオンの中期経営計画。分析環境はRとOpenStreetMap、Google Places APIです。</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2303A"/>
        </a:solidFill>
        <a:effectLst/>
      </p:bgPr>
    </p:bg>
    <p:spTree>
      <p:nvGrpSpPr>
        <p:cNvPr id="1" name=""/>
        <p:cNvGrpSpPr/>
        <p:nvPr/>
      </p:nvGrpSpPr>
      <p:grpSpPr>
        <a:xfrm>
          <a:off x="0" y="0"/>
          <a:ext cx="0" cy="0"/>
          <a:chOff x="0" y="0"/>
          <a:chExt cx="0" cy="0"/>
        </a:xfrm>
      </p:grpSpPr>
      <p:sp>
        <p:nvSpPr>
          <p:cNvPr id="2" name="Text 0"/>
          <p:cNvSpPr/>
          <p:nvPr/>
        </p:nvSpPr>
        <p:spPr>
          <a:xfrm>
            <a:off x="1257300" y="2379166"/>
            <a:ext cx="17350740" cy="374650"/>
          </a:xfrm>
          <a:prstGeom prst="rect">
            <a:avLst/>
          </a:prstGeom>
          <a:noFill/>
          <a:ln/>
        </p:spPr>
        <p:txBody>
          <a:bodyPr wrap="square" lIns="25400" tIns="25400" rIns="25400" bIns="25400" rtlCol="0" anchor="t">
            <a:normAutofit/>
          </a:bodyPr>
          <a:lstStyle/>
          <a:p>
            <a:pPr marL="0" indent="0" algn="l">
              <a:buNone/>
            </a:pPr>
            <a:r>
              <a:rPr lang="en-US" sz="2025" kern="0" spc="203" dirty="0">
                <a:solidFill>
                  <a:srgbClr val="CC7159"/>
                </a:solidFill>
                <a:latin typeface="Courier New" pitchFamily="34" charset="0"/>
                <a:ea typeface="Courier New" pitchFamily="34" charset="-122"/>
                <a:cs typeface="Courier New" pitchFamily="34" charset="-120"/>
              </a:rPr>
              <a:t>独占禁止法 第10条 ・ イオン × ツルハHD ・ 令和7年4月30日 条件付承認</a:t>
            </a:r>
            <a:endParaRPr lang="en-US" sz="2025" dirty="0"/>
          </a:p>
        </p:txBody>
      </p:sp>
      <p:sp>
        <p:nvSpPr>
          <p:cNvPr id="3" name="Text 1"/>
          <p:cNvSpPr/>
          <p:nvPr/>
        </p:nvSpPr>
        <p:spPr>
          <a:xfrm>
            <a:off x="1257300" y="3115767"/>
            <a:ext cx="14716125" cy="1804392"/>
          </a:xfrm>
          <a:prstGeom prst="rect">
            <a:avLst/>
          </a:prstGeom>
          <a:noFill/>
          <a:ln/>
        </p:spPr>
        <p:txBody>
          <a:bodyPr wrap="square" lIns="25400" tIns="25400" rIns="25400" bIns="25400" rtlCol="0" anchor="t">
            <a:normAutofit/>
          </a:bodyPr>
          <a:lstStyle/>
          <a:p>
            <a:pPr marL="0" indent="0" algn="l">
              <a:lnSpc>
                <a:spcPct val="122000"/>
              </a:lnSpc>
              <a:buNone/>
            </a:pPr>
            <a:r>
              <a:rPr lang="en-US" sz="5700" b="1" kern="0" spc="57" dirty="0">
                <a:solidFill>
                  <a:srgbClr val="F4F1EA"/>
                </a:solidFill>
                <a:latin typeface="Arial" pitchFamily="34" charset="0"/>
                <a:ea typeface="Arial" pitchFamily="34" charset="-122"/>
                <a:cs typeface="Arial" pitchFamily="34" charset="-120"/>
              </a:rPr>
              <a:t>企業結合審査における 地理的市場画定と経済分析</a:t>
            </a:r>
            <a:endParaRPr lang="en-US" sz="5700" dirty="0"/>
          </a:p>
        </p:txBody>
      </p:sp>
      <p:sp>
        <p:nvSpPr>
          <p:cNvPr id="4" name="Shape 2"/>
          <p:cNvSpPr/>
          <p:nvPr/>
        </p:nvSpPr>
        <p:spPr>
          <a:xfrm>
            <a:off x="1257300" y="5301159"/>
            <a:ext cx="990600" cy="47625"/>
          </a:xfrm>
          <a:prstGeom prst="rect">
            <a:avLst/>
          </a:prstGeom>
          <a:solidFill>
            <a:srgbClr val="B0573F"/>
          </a:solidFill>
          <a:ln/>
        </p:spPr>
      </p:sp>
      <p:sp>
        <p:nvSpPr>
          <p:cNvPr id="5" name="Text 3"/>
          <p:cNvSpPr/>
          <p:nvPr/>
        </p:nvSpPr>
        <p:spPr>
          <a:xfrm>
            <a:off x="1257300" y="5634534"/>
            <a:ext cx="17350740" cy="558800"/>
          </a:xfrm>
          <a:prstGeom prst="rect">
            <a:avLst/>
          </a:prstGeom>
          <a:noFill/>
          <a:ln/>
        </p:spPr>
        <p:txBody>
          <a:bodyPr wrap="square" lIns="25400" tIns="25400" rIns="25400" bIns="25400" rtlCol="0" anchor="t">
            <a:normAutofit/>
          </a:bodyPr>
          <a:lstStyle/>
          <a:p>
            <a:pPr marL="0" indent="0" algn="l">
              <a:buNone/>
            </a:pPr>
            <a:r>
              <a:rPr lang="en-US" sz="2850" kern="0" spc="57" dirty="0">
                <a:solidFill>
                  <a:srgbClr val="DCD6CA"/>
                </a:solidFill>
                <a:latin typeface="Arial" pitchFamily="34" charset="0"/>
                <a:ea typeface="Arial" pitchFamily="34" charset="-122"/>
                <a:cs typeface="Arial" pitchFamily="34" charset="-120"/>
              </a:rPr>
              <a:t>― イオン × ツルハを R で再現 ―</a:t>
            </a:r>
            <a:endParaRPr lang="en-US" sz="2850" dirty="0"/>
          </a:p>
        </p:txBody>
      </p:sp>
      <p:sp>
        <p:nvSpPr>
          <p:cNvPr id="6" name="Text 4"/>
          <p:cNvSpPr/>
          <p:nvPr/>
        </p:nvSpPr>
        <p:spPr>
          <a:xfrm>
            <a:off x="1257300" y="6307634"/>
            <a:ext cx="17350740" cy="450850"/>
          </a:xfrm>
          <a:prstGeom prst="rect">
            <a:avLst/>
          </a:prstGeom>
          <a:noFill/>
          <a:ln/>
        </p:spPr>
        <p:txBody>
          <a:bodyPr wrap="square" lIns="25400" tIns="25400" rIns="25400" bIns="25400" rtlCol="0" anchor="t">
            <a:normAutofit/>
          </a:bodyPr>
          <a:lstStyle/>
          <a:p>
            <a:pPr marL="0" indent="0" algn="l">
              <a:buNone/>
            </a:pPr>
            <a:r>
              <a:rPr lang="en-US" sz="2250" dirty="0">
                <a:solidFill>
                  <a:srgbClr val="A7AEB4"/>
                </a:solidFill>
                <a:latin typeface="Arial" pitchFamily="34" charset="0"/>
                <a:ea typeface="Arial" pitchFamily="34" charset="-122"/>
                <a:cs typeface="Arial" pitchFamily="34" charset="-120"/>
              </a:rPr>
              <a:t>ドラッグストア市場の再現と、食品小売市場からの市場画定の再検討</a:t>
            </a:r>
            <a:endParaRPr lang="en-US" sz="2250" dirty="0"/>
          </a:p>
        </p:txBody>
      </p:sp>
      <p:sp>
        <p:nvSpPr>
          <p:cNvPr id="7" name="Text 5"/>
          <p:cNvSpPr/>
          <p:nvPr/>
        </p:nvSpPr>
        <p:spPr>
          <a:xfrm>
            <a:off x="1257300" y="7520484"/>
            <a:ext cx="1203027" cy="425450"/>
          </a:xfrm>
          <a:prstGeom prst="rect">
            <a:avLst/>
          </a:prstGeom>
          <a:noFill/>
          <a:ln/>
        </p:spPr>
        <p:txBody>
          <a:bodyPr wrap="square" lIns="25400" tIns="25400" rIns="25400" bIns="25400" rtlCol="0" anchor="t">
            <a:normAutofit/>
          </a:bodyPr>
          <a:lstStyle/>
          <a:p>
            <a:pPr marL="0" indent="0" algn="l">
              <a:buNone/>
            </a:pPr>
            <a:r>
              <a:rPr lang="en-US" sz="2100" dirty="0">
                <a:solidFill>
                  <a:srgbClr val="EDE9E0"/>
                </a:solidFill>
                <a:latin typeface="Arial" pitchFamily="34" charset="0"/>
                <a:ea typeface="Arial" pitchFamily="34" charset="-122"/>
                <a:cs typeface="Arial" pitchFamily="34" charset="-120"/>
              </a:rPr>
              <a:t>永田 稔人</a:t>
            </a:r>
            <a:endParaRPr lang="en-US" sz="2100" dirty="0"/>
          </a:p>
        </p:txBody>
      </p:sp>
      <p:sp>
        <p:nvSpPr>
          <p:cNvPr id="8" name="Text 6"/>
          <p:cNvSpPr/>
          <p:nvPr/>
        </p:nvSpPr>
        <p:spPr>
          <a:xfrm>
            <a:off x="2631777" y="7520484"/>
            <a:ext cx="342900" cy="425450"/>
          </a:xfrm>
          <a:prstGeom prst="rect">
            <a:avLst/>
          </a:prstGeom>
          <a:noFill/>
          <a:ln/>
        </p:spPr>
        <p:txBody>
          <a:bodyPr wrap="square" lIns="25400" tIns="25400" rIns="25400" bIns="25400" rtlCol="0" anchor="t">
            <a:normAutofit/>
          </a:bodyPr>
          <a:lstStyle/>
          <a:p>
            <a:pPr marL="0" indent="0" algn="l">
              <a:buNone/>
            </a:pPr>
            <a:r>
              <a:rPr lang="en-US" sz="2100" dirty="0">
                <a:solidFill>
                  <a:srgbClr val="C5BFB4">
                    <a:alpha val="45000"/>
                  </a:srgbClr>
                </a:solidFill>
                <a:latin typeface="Arial" pitchFamily="34" charset="0"/>
                <a:ea typeface="Arial" pitchFamily="34" charset="-122"/>
                <a:cs typeface="Arial" pitchFamily="34" charset="-120"/>
              </a:rPr>
              <a:t>｜</a:t>
            </a:r>
            <a:endParaRPr lang="en-US" sz="2100" dirty="0"/>
          </a:p>
        </p:txBody>
      </p:sp>
      <p:sp>
        <p:nvSpPr>
          <p:cNvPr id="9" name="Text 7"/>
          <p:cNvSpPr/>
          <p:nvPr/>
        </p:nvSpPr>
        <p:spPr>
          <a:xfrm>
            <a:off x="3146127" y="7520484"/>
            <a:ext cx="2346960" cy="425450"/>
          </a:xfrm>
          <a:prstGeom prst="rect">
            <a:avLst/>
          </a:prstGeom>
          <a:noFill/>
          <a:ln/>
        </p:spPr>
        <p:txBody>
          <a:bodyPr wrap="square" lIns="25400" tIns="25400" rIns="25400" bIns="25400" rtlCol="0" anchor="t">
            <a:normAutofit/>
          </a:bodyPr>
          <a:lstStyle/>
          <a:p>
            <a:pPr marL="0" indent="0" algn="l">
              <a:buNone/>
            </a:pPr>
            <a:r>
              <a:rPr lang="en-US" sz="2100" dirty="0">
                <a:solidFill>
                  <a:srgbClr val="C5BFB4"/>
                </a:solidFill>
                <a:latin typeface="Arial" pitchFamily="34" charset="0"/>
                <a:ea typeface="Arial" pitchFamily="34" charset="-122"/>
                <a:cs typeface="Arial" pitchFamily="34" charset="-120"/>
              </a:rPr>
              <a:t>早稲田大学法学部</a:t>
            </a:r>
            <a:endParaRPr lang="en-US" sz="2100" dirty="0"/>
          </a:p>
        </p:txBody>
      </p:sp>
      <p:sp>
        <p:nvSpPr>
          <p:cNvPr id="10" name="Text 8"/>
          <p:cNvSpPr/>
          <p:nvPr/>
        </p:nvSpPr>
        <p:spPr>
          <a:xfrm>
            <a:off x="5527378" y="7520484"/>
            <a:ext cx="342900" cy="425450"/>
          </a:xfrm>
          <a:prstGeom prst="rect">
            <a:avLst/>
          </a:prstGeom>
          <a:noFill/>
          <a:ln/>
        </p:spPr>
        <p:txBody>
          <a:bodyPr wrap="square" lIns="25400" tIns="25400" rIns="25400" bIns="25400" rtlCol="0" anchor="t">
            <a:normAutofit/>
          </a:bodyPr>
          <a:lstStyle/>
          <a:p>
            <a:pPr marL="0" indent="0" algn="l">
              <a:buNone/>
            </a:pPr>
            <a:r>
              <a:rPr lang="en-US" sz="2100" dirty="0">
                <a:solidFill>
                  <a:srgbClr val="C5BFB4">
                    <a:alpha val="45000"/>
                  </a:srgbClr>
                </a:solidFill>
                <a:latin typeface="Arial" pitchFamily="34" charset="0"/>
                <a:ea typeface="Arial" pitchFamily="34" charset="-122"/>
                <a:cs typeface="Arial" pitchFamily="34" charset="-120"/>
              </a:rPr>
              <a:t>｜</a:t>
            </a:r>
            <a:endParaRPr lang="en-US" sz="2100" dirty="0"/>
          </a:p>
        </p:txBody>
      </p:sp>
      <p:sp>
        <p:nvSpPr>
          <p:cNvPr id="11" name="Text 9"/>
          <p:cNvSpPr/>
          <p:nvPr/>
        </p:nvSpPr>
        <p:spPr>
          <a:xfrm>
            <a:off x="6041728" y="7520484"/>
            <a:ext cx="2640330" cy="425450"/>
          </a:xfrm>
          <a:prstGeom prst="rect">
            <a:avLst/>
          </a:prstGeom>
          <a:noFill/>
          <a:ln/>
        </p:spPr>
        <p:txBody>
          <a:bodyPr wrap="square" lIns="25400" tIns="25400" rIns="25400" bIns="25400" rtlCol="0" anchor="t">
            <a:normAutofit/>
          </a:bodyPr>
          <a:lstStyle/>
          <a:p>
            <a:pPr marL="0" indent="0" algn="l">
              <a:buNone/>
            </a:pPr>
            <a:r>
              <a:rPr lang="en-US" sz="2100" dirty="0">
                <a:solidFill>
                  <a:srgbClr val="C5BFB4"/>
                </a:solidFill>
                <a:latin typeface="Arial" pitchFamily="34" charset="0"/>
                <a:ea typeface="Arial" pitchFamily="34" charset="-122"/>
                <a:cs typeface="Arial" pitchFamily="34" charset="-120"/>
              </a:rPr>
              <a:t>中里ゼミ（経済法）</a:t>
            </a:r>
            <a:endParaRPr lang="en-US" sz="2100" dirty="0"/>
          </a:p>
        </p:txBody>
      </p:sp>
      <p:sp>
        <p:nvSpPr>
          <p:cNvPr id="12" name="Text 10"/>
          <p:cNvSpPr/>
          <p:nvPr/>
        </p:nvSpPr>
        <p:spPr>
          <a:xfrm>
            <a:off x="8689678" y="7520484"/>
            <a:ext cx="342900" cy="425450"/>
          </a:xfrm>
          <a:prstGeom prst="rect">
            <a:avLst/>
          </a:prstGeom>
          <a:noFill/>
          <a:ln/>
        </p:spPr>
        <p:txBody>
          <a:bodyPr wrap="square" lIns="25400" tIns="25400" rIns="25400" bIns="25400" rtlCol="0" anchor="t">
            <a:normAutofit/>
          </a:bodyPr>
          <a:lstStyle/>
          <a:p>
            <a:pPr marL="0" indent="0" algn="l">
              <a:buNone/>
            </a:pPr>
            <a:r>
              <a:rPr lang="en-US" sz="2100" dirty="0">
                <a:solidFill>
                  <a:srgbClr val="C5BFB4">
                    <a:alpha val="45000"/>
                  </a:srgbClr>
                </a:solidFill>
                <a:latin typeface="Arial" pitchFamily="34" charset="0"/>
                <a:ea typeface="Arial" pitchFamily="34" charset="-122"/>
                <a:cs typeface="Arial" pitchFamily="34" charset="-120"/>
              </a:rPr>
              <a:t>｜</a:t>
            </a:r>
            <a:endParaRPr lang="en-US" sz="2100" dirty="0"/>
          </a:p>
        </p:txBody>
      </p:sp>
      <p:sp>
        <p:nvSpPr>
          <p:cNvPr id="13" name="Text 11"/>
          <p:cNvSpPr/>
          <p:nvPr/>
        </p:nvSpPr>
        <p:spPr>
          <a:xfrm>
            <a:off x="9204028" y="7539534"/>
            <a:ext cx="1877655" cy="387350"/>
          </a:xfrm>
          <a:prstGeom prst="rect">
            <a:avLst/>
          </a:prstGeom>
          <a:noFill/>
          <a:ln/>
        </p:spPr>
        <p:txBody>
          <a:bodyPr wrap="square" lIns="25400" tIns="25400" rIns="25400" bIns="25400" rtlCol="0" anchor="t">
            <a:normAutofit/>
          </a:bodyPr>
          <a:lstStyle/>
          <a:p>
            <a:pPr marL="0" indent="0" algn="l">
              <a:buNone/>
            </a:pPr>
            <a:r>
              <a:rPr lang="en-US" sz="2100" kern="0" spc="84" dirty="0">
                <a:solidFill>
                  <a:srgbClr val="C5BFB4"/>
                </a:solidFill>
                <a:latin typeface="Courier New" pitchFamily="34" charset="0"/>
                <a:ea typeface="Courier New" pitchFamily="34" charset="-122"/>
                <a:cs typeface="Courier New" pitchFamily="34" charset="-120"/>
              </a:rPr>
              <a:t>2026.06.30</a:t>
            </a:r>
            <a:endParaRPr lang="en-US" sz="2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a:effectLst/>
      </p:bgPr>
    </p:bg>
    <p:spTree>
      <p:nvGrpSpPr>
        <p:cNvPr id="1" name=""/>
        <p:cNvGrpSpPr/>
        <p:nvPr/>
      </p:nvGrpSpPr>
      <p:grpSpPr>
        <a:xfrm>
          <a:off x="0" y="0"/>
          <a:ext cx="0" cy="0"/>
          <a:chOff x="0" y="0"/>
          <a:chExt cx="0" cy="0"/>
        </a:xfrm>
      </p:grpSpPr>
      <p:sp>
        <p:nvSpPr>
          <p:cNvPr id="2" name="Shape 0"/>
          <p:cNvSpPr/>
          <p:nvPr/>
        </p:nvSpPr>
        <p:spPr>
          <a:xfrm>
            <a:off x="1028700" y="801688"/>
            <a:ext cx="304800" cy="28575"/>
          </a:xfrm>
          <a:prstGeom prst="rect">
            <a:avLst/>
          </a:prstGeom>
          <a:solidFill>
            <a:srgbClr val="9A4A38"/>
          </a:solidFill>
          <a:ln/>
        </p:spPr>
      </p:sp>
      <p:sp>
        <p:nvSpPr>
          <p:cNvPr id="3" name="Text 1"/>
          <p:cNvSpPr/>
          <p:nvPr/>
        </p:nvSpPr>
        <p:spPr>
          <a:xfrm>
            <a:off x="1466850" y="628650"/>
            <a:ext cx="642045" cy="412750"/>
          </a:xfrm>
          <a:prstGeom prst="rect">
            <a:avLst/>
          </a:prstGeom>
          <a:noFill/>
          <a:ln/>
        </p:spPr>
        <p:txBody>
          <a:bodyPr wrap="square" lIns="25400" tIns="25400" rIns="25400" bIns="25400" rtlCol="0" anchor="t">
            <a:normAutofit/>
          </a:bodyPr>
          <a:lstStyle/>
          <a:p>
            <a:pPr marL="0" indent="0" algn="l">
              <a:buNone/>
            </a:pPr>
            <a:r>
              <a:rPr lang="en-US" sz="2025" kern="0" spc="203" dirty="0">
                <a:solidFill>
                  <a:srgbClr val="5A6470"/>
                </a:solidFill>
                <a:latin typeface="Arial" pitchFamily="34" charset="0"/>
                <a:ea typeface="Arial" pitchFamily="34" charset="-122"/>
                <a:cs typeface="Arial" pitchFamily="34" charset="-120"/>
              </a:rPr>
              <a:t>序論</a:t>
            </a:r>
            <a:endParaRPr lang="en-US" sz="2025" dirty="0"/>
          </a:p>
        </p:txBody>
      </p:sp>
      <p:sp>
        <p:nvSpPr>
          <p:cNvPr id="4" name="Text 2"/>
          <p:cNvSpPr/>
          <p:nvPr/>
        </p:nvSpPr>
        <p:spPr>
          <a:xfrm>
            <a:off x="1028700" y="1174750"/>
            <a:ext cx="17853660" cy="624384"/>
          </a:xfrm>
          <a:prstGeom prst="rect">
            <a:avLst/>
          </a:prstGeom>
          <a:noFill/>
          <a:ln/>
        </p:spPr>
        <p:txBody>
          <a:bodyPr wrap="square" lIns="25400" tIns="25400" rIns="25400" bIns="25400" rtlCol="0" anchor="t">
            <a:normAutofit/>
          </a:bodyPr>
          <a:lstStyle/>
          <a:p>
            <a:pPr marL="0" indent="0" algn="l">
              <a:lnSpc>
                <a:spcPct val="114000"/>
              </a:lnSpc>
              <a:buNone/>
            </a:pPr>
            <a:r>
              <a:rPr lang="en-US" sz="4050" b="1" dirty="0">
                <a:solidFill>
                  <a:srgbClr val="1F2730"/>
                </a:solidFill>
                <a:latin typeface="Arial" pitchFamily="34" charset="0"/>
                <a:ea typeface="Arial" pitchFamily="34" charset="-122"/>
                <a:cs typeface="Arial" pitchFamily="34" charset="-120"/>
              </a:rPr>
              <a:t>論点マップ</a:t>
            </a:r>
            <a:endParaRPr lang="en-US" sz="4050" dirty="0"/>
          </a:p>
        </p:txBody>
      </p:sp>
      <p:sp>
        <p:nvSpPr>
          <p:cNvPr id="5" name="Text 3"/>
          <p:cNvSpPr/>
          <p:nvPr/>
        </p:nvSpPr>
        <p:spPr>
          <a:xfrm>
            <a:off x="1028700" y="1894384"/>
            <a:ext cx="15304770" cy="949523"/>
          </a:xfrm>
          <a:prstGeom prst="rect">
            <a:avLst/>
          </a:prstGeom>
          <a:noFill/>
          <a:ln/>
        </p:spPr>
        <p:txBody>
          <a:bodyPr wrap="square" lIns="25400" tIns="25400" rIns="25400" bIns="25400" rtlCol="0" anchor="t">
            <a:normAutofit/>
          </a:bodyPr>
          <a:lstStyle/>
          <a:p>
            <a:pPr marL="0" indent="0" algn="l">
              <a:lnSpc>
                <a:spcPct val="145000"/>
              </a:lnSpc>
              <a:buNone/>
            </a:pPr>
            <a:r>
              <a:rPr lang="en-US" sz="2475" dirty="0">
                <a:solidFill>
                  <a:srgbClr val="4A5560"/>
                </a:solidFill>
                <a:latin typeface="Arial" pitchFamily="34" charset="0"/>
                <a:ea typeface="Arial" pitchFamily="34" charset="-122"/>
                <a:cs typeface="Arial" pitchFamily="34" charset="-120"/>
              </a:rPr>
              <a:t>「再現して理解し → 土台を批判し → 批判の当否までデータで検証する」という往復が、本報告の骨格である。</a:t>
            </a:r>
            <a:endParaRPr lang="en-US" sz="2475" dirty="0"/>
          </a:p>
        </p:txBody>
      </p:sp>
      <p:sp>
        <p:nvSpPr>
          <p:cNvPr id="6" name="Shape 4"/>
          <p:cNvSpPr/>
          <p:nvPr/>
        </p:nvSpPr>
        <p:spPr>
          <a:xfrm>
            <a:off x="1028700" y="3980954"/>
            <a:ext cx="5260777" cy="3022600"/>
          </a:xfrm>
          <a:prstGeom prst="roundRect">
            <a:avLst>
              <a:gd name="adj" fmla="val 2521"/>
            </a:avLst>
          </a:prstGeom>
          <a:solidFill>
            <a:srgbClr val="FFFFFF"/>
          </a:solidFill>
          <a:ln w="6350">
            <a:solidFill>
              <a:srgbClr val="E0DCD2"/>
            </a:solidFill>
            <a:prstDash val="solid"/>
          </a:ln>
        </p:spPr>
      </p:sp>
      <p:sp>
        <p:nvSpPr>
          <p:cNvPr id="7" name="Text 5"/>
          <p:cNvSpPr/>
          <p:nvPr/>
        </p:nvSpPr>
        <p:spPr>
          <a:xfrm>
            <a:off x="1320800" y="4342904"/>
            <a:ext cx="396280" cy="387350"/>
          </a:xfrm>
          <a:prstGeom prst="rect">
            <a:avLst/>
          </a:prstGeom>
          <a:noFill/>
          <a:ln/>
        </p:spPr>
        <p:txBody>
          <a:bodyPr wrap="square" lIns="25400" tIns="25400" rIns="25400" bIns="25400" rtlCol="0" anchor="t">
            <a:normAutofit/>
          </a:bodyPr>
          <a:lstStyle/>
          <a:p>
            <a:pPr marL="0" indent="0" algn="l">
              <a:buNone/>
            </a:pPr>
            <a:r>
              <a:rPr lang="en-US" sz="2100" dirty="0">
                <a:solidFill>
                  <a:srgbClr val="9A4A38"/>
                </a:solidFill>
                <a:latin typeface="Courier New" pitchFamily="34" charset="0"/>
                <a:ea typeface="Courier New" pitchFamily="34" charset="-122"/>
                <a:cs typeface="Courier New" pitchFamily="34" charset="-120"/>
              </a:rPr>
              <a:t>01</a:t>
            </a:r>
            <a:endParaRPr lang="en-US" sz="2100" dirty="0"/>
          </a:p>
        </p:txBody>
      </p:sp>
      <p:sp>
        <p:nvSpPr>
          <p:cNvPr id="8" name="Text 6"/>
          <p:cNvSpPr/>
          <p:nvPr/>
        </p:nvSpPr>
        <p:spPr>
          <a:xfrm>
            <a:off x="1774230" y="4254004"/>
            <a:ext cx="704850" cy="488950"/>
          </a:xfrm>
          <a:prstGeom prst="rect">
            <a:avLst/>
          </a:prstGeom>
          <a:noFill/>
          <a:ln/>
        </p:spPr>
        <p:txBody>
          <a:bodyPr wrap="square" lIns="25400" tIns="25400" rIns="25400" bIns="25400" rtlCol="0" anchor="t">
            <a:normAutofit/>
          </a:bodyPr>
          <a:lstStyle/>
          <a:p>
            <a:pPr marL="0" indent="0" algn="l">
              <a:buNone/>
            </a:pPr>
            <a:r>
              <a:rPr lang="en-US" sz="2475" b="1" dirty="0">
                <a:solidFill>
                  <a:srgbClr val="1F2730"/>
                </a:solidFill>
                <a:latin typeface="Arial" pitchFamily="34" charset="0"/>
                <a:ea typeface="Arial" pitchFamily="34" charset="-122"/>
                <a:cs typeface="Arial" pitchFamily="34" charset="-120"/>
              </a:rPr>
              <a:t>理解</a:t>
            </a:r>
            <a:endParaRPr lang="en-US" sz="2475" dirty="0"/>
          </a:p>
        </p:txBody>
      </p:sp>
      <p:sp>
        <p:nvSpPr>
          <p:cNvPr id="9" name="Text 7"/>
          <p:cNvSpPr/>
          <p:nvPr/>
        </p:nvSpPr>
        <p:spPr>
          <a:xfrm>
            <a:off x="1320800" y="4838204"/>
            <a:ext cx="5144234" cy="425450"/>
          </a:xfrm>
          <a:prstGeom prst="rect">
            <a:avLst/>
          </a:prstGeom>
          <a:noFill/>
          <a:ln/>
        </p:spPr>
        <p:txBody>
          <a:bodyPr wrap="square" lIns="25400" tIns="25400" rIns="25400" bIns="25400" rtlCol="0" anchor="t">
            <a:normAutofit/>
          </a:bodyPr>
          <a:lstStyle/>
          <a:p>
            <a:pPr marL="0" indent="0" algn="l">
              <a:buNone/>
            </a:pPr>
            <a:r>
              <a:rPr lang="en-US" sz="2100" dirty="0">
                <a:solidFill>
                  <a:srgbClr val="5A6470"/>
                </a:solidFill>
                <a:latin typeface="Arial" pitchFamily="34" charset="0"/>
                <a:ea typeface="Arial" pitchFamily="34" charset="-122"/>
                <a:cs typeface="Arial" pitchFamily="34" charset="-120"/>
              </a:rPr>
              <a:t>手法を内側から再現する</a:t>
            </a:r>
            <a:endParaRPr lang="en-US" sz="2100" dirty="0"/>
          </a:p>
        </p:txBody>
      </p:sp>
      <p:sp>
        <p:nvSpPr>
          <p:cNvPr id="10" name="Text 8"/>
          <p:cNvSpPr/>
          <p:nvPr/>
        </p:nvSpPr>
        <p:spPr>
          <a:xfrm>
            <a:off x="1320800" y="5377954"/>
            <a:ext cx="5144234" cy="425450"/>
          </a:xfrm>
          <a:prstGeom prst="rect">
            <a:avLst/>
          </a:prstGeom>
          <a:noFill/>
          <a:ln/>
        </p:spPr>
        <p:txBody>
          <a:bodyPr wrap="square" lIns="25400" tIns="25400" rIns="25400" bIns="25400" rtlCol="0" anchor="t">
            <a:normAutofit/>
          </a:bodyPr>
          <a:lstStyle/>
          <a:p>
            <a:pPr marL="0" indent="0" algn="l">
              <a:buNone/>
            </a:pPr>
            <a:r>
              <a:rPr lang="en-US" sz="2100" dirty="0">
                <a:solidFill>
                  <a:srgbClr val="2C333C"/>
                </a:solidFill>
                <a:latin typeface="Arial" pitchFamily="34" charset="0"/>
                <a:ea typeface="Arial" pitchFamily="34" charset="-122"/>
                <a:cs typeface="Arial" pitchFamily="34" charset="-120"/>
              </a:rPr>
              <a:t>・規範と当てはめ </a:t>
            </a:r>
            <a:r>
              <a:rPr lang="en-US" sz="1950" dirty="0">
                <a:solidFill>
                  <a:srgbClr val="97928A"/>
                </a:solidFill>
                <a:latin typeface="Arial" pitchFamily="34" charset="0"/>
                <a:ea typeface="Arial" pitchFamily="34" charset="-122"/>
                <a:cs typeface="Arial" pitchFamily="34" charset="-120"/>
              </a:rPr>
              <a:t>第1部</a:t>
            </a:r>
            <a:endParaRPr lang="en-US" sz="2100" dirty="0"/>
          </a:p>
        </p:txBody>
      </p:sp>
      <p:sp>
        <p:nvSpPr>
          <p:cNvPr id="11" name="Text 9"/>
          <p:cNvSpPr/>
          <p:nvPr/>
        </p:nvSpPr>
        <p:spPr>
          <a:xfrm>
            <a:off x="1320800" y="5860554"/>
            <a:ext cx="5144234" cy="425450"/>
          </a:xfrm>
          <a:prstGeom prst="rect">
            <a:avLst/>
          </a:prstGeom>
          <a:noFill/>
          <a:ln/>
        </p:spPr>
        <p:txBody>
          <a:bodyPr wrap="square" lIns="25400" tIns="25400" rIns="25400" bIns="25400" rtlCol="0" anchor="t">
            <a:normAutofit/>
          </a:bodyPr>
          <a:lstStyle/>
          <a:p>
            <a:pPr marL="0" indent="0" algn="l">
              <a:buNone/>
            </a:pPr>
            <a:r>
              <a:rPr lang="en-US" sz="2100" dirty="0">
                <a:solidFill>
                  <a:srgbClr val="2C333C"/>
                </a:solidFill>
                <a:latin typeface="Arial" pitchFamily="34" charset="0"/>
                <a:ea typeface="Arial" pitchFamily="34" charset="-122"/>
                <a:cs typeface="Arial" pitchFamily="34" charset="-120"/>
              </a:rPr>
              <a:t>・地理的市場画定の再現 </a:t>
            </a:r>
            <a:r>
              <a:rPr lang="en-US" sz="1950" dirty="0">
                <a:solidFill>
                  <a:srgbClr val="97928A"/>
                </a:solidFill>
                <a:latin typeface="Arial" pitchFamily="34" charset="0"/>
                <a:ea typeface="Arial" pitchFamily="34" charset="-122"/>
                <a:cs typeface="Arial" pitchFamily="34" charset="-120"/>
              </a:rPr>
              <a:t>第2部</a:t>
            </a:r>
            <a:endParaRPr lang="en-US" sz="2100" dirty="0"/>
          </a:p>
        </p:txBody>
      </p:sp>
      <p:sp>
        <p:nvSpPr>
          <p:cNvPr id="12" name="Text 10"/>
          <p:cNvSpPr/>
          <p:nvPr/>
        </p:nvSpPr>
        <p:spPr>
          <a:xfrm>
            <a:off x="1320800" y="6343154"/>
            <a:ext cx="5144234" cy="425450"/>
          </a:xfrm>
          <a:prstGeom prst="rect">
            <a:avLst/>
          </a:prstGeom>
          <a:noFill/>
          <a:ln/>
        </p:spPr>
        <p:txBody>
          <a:bodyPr wrap="square" lIns="25400" tIns="25400" rIns="25400" bIns="25400" rtlCol="0" anchor="t">
            <a:normAutofit/>
          </a:bodyPr>
          <a:lstStyle/>
          <a:p>
            <a:pPr marL="0" indent="0" algn="l">
              <a:buNone/>
            </a:pPr>
            <a:r>
              <a:rPr lang="en-US" sz="2100" dirty="0">
                <a:solidFill>
                  <a:srgbClr val="2C333C"/>
                </a:solidFill>
                <a:latin typeface="Arial" pitchFamily="34" charset="0"/>
                <a:ea typeface="Arial" pitchFamily="34" charset="-122"/>
                <a:cs typeface="Arial" pitchFamily="34" charset="-120"/>
              </a:rPr>
              <a:t>・経済分析の再現 </a:t>
            </a:r>
            <a:r>
              <a:rPr lang="en-US" sz="1950" dirty="0">
                <a:solidFill>
                  <a:srgbClr val="97928A"/>
                </a:solidFill>
                <a:latin typeface="Arial" pitchFamily="34" charset="0"/>
                <a:ea typeface="Arial" pitchFamily="34" charset="-122"/>
                <a:cs typeface="Arial" pitchFamily="34" charset="-120"/>
              </a:rPr>
              <a:t>第3部</a:t>
            </a:r>
            <a:endParaRPr lang="en-US" sz="2100" dirty="0"/>
          </a:p>
        </p:txBody>
      </p:sp>
      <p:sp>
        <p:nvSpPr>
          <p:cNvPr id="13" name="Text 11"/>
          <p:cNvSpPr/>
          <p:nvPr/>
        </p:nvSpPr>
        <p:spPr>
          <a:xfrm>
            <a:off x="6479977" y="3980954"/>
            <a:ext cx="457200" cy="3060700"/>
          </a:xfrm>
          <a:prstGeom prst="rect">
            <a:avLst/>
          </a:prstGeom>
          <a:noFill/>
          <a:ln/>
        </p:spPr>
        <p:txBody>
          <a:bodyPr wrap="square" lIns="25400" tIns="25400" rIns="25400" bIns="25400" rtlCol="0" anchor="ctr">
            <a:normAutofit/>
          </a:bodyPr>
          <a:lstStyle/>
          <a:p>
            <a:pPr marL="0" indent="0" algn="l">
              <a:buNone/>
            </a:pPr>
            <a:r>
              <a:rPr lang="en-US" sz="3000" dirty="0">
                <a:solidFill>
                  <a:srgbClr val="B6AFA2"/>
                </a:solidFill>
                <a:latin typeface="Arial" pitchFamily="34" charset="0"/>
                <a:ea typeface="Arial" pitchFamily="34" charset="-122"/>
                <a:cs typeface="Arial" pitchFamily="34" charset="-120"/>
              </a:rPr>
              <a:t>→</a:t>
            </a:r>
            <a:endParaRPr lang="en-US" sz="3000" dirty="0"/>
          </a:p>
        </p:txBody>
      </p:sp>
      <p:sp>
        <p:nvSpPr>
          <p:cNvPr id="14" name="Shape 12"/>
          <p:cNvSpPr/>
          <p:nvPr/>
        </p:nvSpPr>
        <p:spPr>
          <a:xfrm>
            <a:off x="7051477" y="3980954"/>
            <a:ext cx="4418906" cy="3022600"/>
          </a:xfrm>
          <a:prstGeom prst="roundRect">
            <a:avLst>
              <a:gd name="adj" fmla="val 2521"/>
            </a:avLst>
          </a:prstGeom>
          <a:solidFill>
            <a:srgbClr val="FFFFFF"/>
          </a:solidFill>
          <a:ln w="6350">
            <a:solidFill>
              <a:srgbClr val="E0DCD2"/>
            </a:solidFill>
            <a:prstDash val="solid"/>
          </a:ln>
        </p:spPr>
      </p:sp>
      <p:sp>
        <p:nvSpPr>
          <p:cNvPr id="15" name="Text 13"/>
          <p:cNvSpPr/>
          <p:nvPr/>
        </p:nvSpPr>
        <p:spPr>
          <a:xfrm>
            <a:off x="7343577" y="4342904"/>
            <a:ext cx="396280" cy="387350"/>
          </a:xfrm>
          <a:prstGeom prst="rect">
            <a:avLst/>
          </a:prstGeom>
          <a:noFill/>
          <a:ln/>
        </p:spPr>
        <p:txBody>
          <a:bodyPr wrap="square" lIns="25400" tIns="25400" rIns="25400" bIns="25400" rtlCol="0" anchor="t">
            <a:normAutofit/>
          </a:bodyPr>
          <a:lstStyle/>
          <a:p>
            <a:pPr marL="0" indent="0" algn="l">
              <a:buNone/>
            </a:pPr>
            <a:r>
              <a:rPr lang="en-US" sz="2100" dirty="0">
                <a:solidFill>
                  <a:srgbClr val="9A4A38"/>
                </a:solidFill>
                <a:latin typeface="Courier New" pitchFamily="34" charset="0"/>
                <a:ea typeface="Courier New" pitchFamily="34" charset="-122"/>
                <a:cs typeface="Courier New" pitchFamily="34" charset="-120"/>
              </a:rPr>
              <a:t>02</a:t>
            </a:r>
            <a:endParaRPr lang="en-US" sz="2100" dirty="0"/>
          </a:p>
        </p:txBody>
      </p:sp>
      <p:sp>
        <p:nvSpPr>
          <p:cNvPr id="16" name="Text 14"/>
          <p:cNvSpPr/>
          <p:nvPr/>
        </p:nvSpPr>
        <p:spPr>
          <a:xfrm>
            <a:off x="7797007" y="4254004"/>
            <a:ext cx="704850" cy="488950"/>
          </a:xfrm>
          <a:prstGeom prst="rect">
            <a:avLst/>
          </a:prstGeom>
          <a:noFill/>
          <a:ln/>
        </p:spPr>
        <p:txBody>
          <a:bodyPr wrap="square" lIns="25400" tIns="25400" rIns="25400" bIns="25400" rtlCol="0" anchor="t">
            <a:normAutofit/>
          </a:bodyPr>
          <a:lstStyle/>
          <a:p>
            <a:pPr marL="0" indent="0" algn="l">
              <a:buNone/>
            </a:pPr>
            <a:r>
              <a:rPr lang="en-US" sz="2475" b="1" dirty="0">
                <a:solidFill>
                  <a:srgbClr val="1F2730"/>
                </a:solidFill>
                <a:latin typeface="Arial" pitchFamily="34" charset="0"/>
                <a:ea typeface="Arial" pitchFamily="34" charset="-122"/>
                <a:cs typeface="Arial" pitchFamily="34" charset="-120"/>
              </a:rPr>
              <a:t>批判</a:t>
            </a:r>
            <a:endParaRPr lang="en-US" sz="2475" dirty="0"/>
          </a:p>
        </p:txBody>
      </p:sp>
      <p:sp>
        <p:nvSpPr>
          <p:cNvPr id="17" name="Text 15"/>
          <p:cNvSpPr/>
          <p:nvPr/>
        </p:nvSpPr>
        <p:spPr>
          <a:xfrm>
            <a:off x="7343577" y="4838204"/>
            <a:ext cx="4218176" cy="425450"/>
          </a:xfrm>
          <a:prstGeom prst="rect">
            <a:avLst/>
          </a:prstGeom>
          <a:noFill/>
          <a:ln/>
        </p:spPr>
        <p:txBody>
          <a:bodyPr wrap="square" lIns="25400" tIns="25400" rIns="25400" bIns="25400" rtlCol="0" anchor="t">
            <a:normAutofit/>
          </a:bodyPr>
          <a:lstStyle/>
          <a:p>
            <a:pPr marL="0" indent="0" algn="l">
              <a:buNone/>
            </a:pPr>
            <a:r>
              <a:rPr lang="en-US" sz="2100" dirty="0">
                <a:solidFill>
                  <a:srgbClr val="5A6470"/>
                </a:solidFill>
                <a:latin typeface="Arial" pitchFamily="34" charset="0"/>
                <a:ea typeface="Arial" pitchFamily="34" charset="-122"/>
                <a:cs typeface="Arial" pitchFamily="34" charset="-120"/>
              </a:rPr>
              <a:t>土台＝市場画定を問い直す</a:t>
            </a:r>
            <a:endParaRPr lang="en-US" sz="2100" dirty="0"/>
          </a:p>
        </p:txBody>
      </p:sp>
      <p:sp>
        <p:nvSpPr>
          <p:cNvPr id="18" name="Text 16"/>
          <p:cNvSpPr/>
          <p:nvPr/>
        </p:nvSpPr>
        <p:spPr>
          <a:xfrm>
            <a:off x="7343577" y="5377954"/>
            <a:ext cx="3949747" cy="812800"/>
          </a:xfrm>
          <a:prstGeom prst="rect">
            <a:avLst/>
          </a:prstGeom>
          <a:noFill/>
          <a:ln/>
        </p:spPr>
        <p:txBody>
          <a:bodyPr wrap="square" lIns="25400" tIns="25400" rIns="25400" bIns="25400" rtlCol="0" anchor="t">
            <a:normAutofit/>
          </a:bodyPr>
          <a:lstStyle/>
          <a:p>
            <a:pPr marL="0" indent="0" algn="l">
              <a:buNone/>
            </a:pPr>
            <a:r>
              <a:rPr lang="en-US" sz="2100" dirty="0">
                <a:solidFill>
                  <a:srgbClr val="2C333C"/>
                </a:solidFill>
                <a:latin typeface="Arial" pitchFamily="34" charset="0"/>
                <a:ea typeface="Arial" pitchFamily="34" charset="-122"/>
                <a:cs typeface="Arial" pitchFamily="34" charset="-120"/>
              </a:rPr>
              <a:t>・食品小売市場からの再検討 </a:t>
            </a:r>
            <a:r>
              <a:rPr lang="en-US" sz="1950" dirty="0">
                <a:solidFill>
                  <a:srgbClr val="97928A"/>
                </a:solidFill>
                <a:latin typeface="Arial" pitchFamily="34" charset="0"/>
                <a:ea typeface="Arial" pitchFamily="34" charset="-122"/>
                <a:cs typeface="Arial" pitchFamily="34" charset="-120"/>
              </a:rPr>
              <a:t>第4部</a:t>
            </a:r>
            <a:endParaRPr lang="en-US" sz="2100" dirty="0"/>
          </a:p>
        </p:txBody>
      </p:sp>
      <p:sp>
        <p:nvSpPr>
          <p:cNvPr id="19" name="Text 17"/>
          <p:cNvSpPr/>
          <p:nvPr/>
        </p:nvSpPr>
        <p:spPr>
          <a:xfrm>
            <a:off x="11660882" y="3980954"/>
            <a:ext cx="457200" cy="3060700"/>
          </a:xfrm>
          <a:prstGeom prst="rect">
            <a:avLst/>
          </a:prstGeom>
          <a:noFill/>
          <a:ln/>
        </p:spPr>
        <p:txBody>
          <a:bodyPr wrap="square" lIns="25400" tIns="25400" rIns="25400" bIns="25400" rtlCol="0" anchor="ctr">
            <a:normAutofit/>
          </a:bodyPr>
          <a:lstStyle/>
          <a:p>
            <a:pPr marL="0" indent="0" algn="l">
              <a:buNone/>
            </a:pPr>
            <a:r>
              <a:rPr lang="en-US" sz="3000" dirty="0">
                <a:solidFill>
                  <a:srgbClr val="B6AFA2"/>
                </a:solidFill>
                <a:latin typeface="Arial" pitchFamily="34" charset="0"/>
                <a:ea typeface="Arial" pitchFamily="34" charset="-122"/>
                <a:cs typeface="Arial" pitchFamily="34" charset="-120"/>
              </a:rPr>
              <a:t>→</a:t>
            </a:r>
            <a:endParaRPr lang="en-US" sz="3000" dirty="0"/>
          </a:p>
        </p:txBody>
      </p:sp>
      <p:sp>
        <p:nvSpPr>
          <p:cNvPr id="20" name="Shape 18"/>
          <p:cNvSpPr/>
          <p:nvPr/>
        </p:nvSpPr>
        <p:spPr>
          <a:xfrm>
            <a:off x="12232382" y="3980954"/>
            <a:ext cx="5026918" cy="3022600"/>
          </a:xfrm>
          <a:prstGeom prst="roundRect">
            <a:avLst>
              <a:gd name="adj" fmla="val 2521"/>
            </a:avLst>
          </a:prstGeom>
          <a:solidFill>
            <a:srgbClr val="FFFFFF"/>
          </a:solidFill>
          <a:ln w="6350">
            <a:solidFill>
              <a:srgbClr val="E0DCD2"/>
            </a:solidFill>
            <a:prstDash val="solid"/>
          </a:ln>
        </p:spPr>
      </p:sp>
      <p:sp>
        <p:nvSpPr>
          <p:cNvPr id="21" name="Text 19"/>
          <p:cNvSpPr/>
          <p:nvPr/>
        </p:nvSpPr>
        <p:spPr>
          <a:xfrm>
            <a:off x="12524482" y="4342904"/>
            <a:ext cx="396280" cy="387350"/>
          </a:xfrm>
          <a:prstGeom prst="rect">
            <a:avLst/>
          </a:prstGeom>
          <a:noFill/>
          <a:ln/>
        </p:spPr>
        <p:txBody>
          <a:bodyPr wrap="square" lIns="25400" tIns="25400" rIns="25400" bIns="25400" rtlCol="0" anchor="t">
            <a:normAutofit/>
          </a:bodyPr>
          <a:lstStyle/>
          <a:p>
            <a:pPr marL="0" indent="0" algn="l">
              <a:buNone/>
            </a:pPr>
            <a:r>
              <a:rPr lang="en-US" sz="2100" dirty="0">
                <a:solidFill>
                  <a:srgbClr val="9A4A38"/>
                </a:solidFill>
                <a:latin typeface="Courier New" pitchFamily="34" charset="0"/>
                <a:ea typeface="Courier New" pitchFamily="34" charset="-122"/>
                <a:cs typeface="Courier New" pitchFamily="34" charset="-120"/>
              </a:rPr>
              <a:t>03</a:t>
            </a:r>
            <a:endParaRPr lang="en-US" sz="2100" dirty="0"/>
          </a:p>
        </p:txBody>
      </p:sp>
      <p:sp>
        <p:nvSpPr>
          <p:cNvPr id="22" name="Text 20"/>
          <p:cNvSpPr/>
          <p:nvPr/>
        </p:nvSpPr>
        <p:spPr>
          <a:xfrm>
            <a:off x="12977912" y="4254004"/>
            <a:ext cx="704850" cy="488950"/>
          </a:xfrm>
          <a:prstGeom prst="rect">
            <a:avLst/>
          </a:prstGeom>
          <a:noFill/>
          <a:ln/>
        </p:spPr>
        <p:txBody>
          <a:bodyPr wrap="square" lIns="25400" tIns="25400" rIns="25400" bIns="25400" rtlCol="0" anchor="t">
            <a:normAutofit/>
          </a:bodyPr>
          <a:lstStyle/>
          <a:p>
            <a:pPr marL="0" indent="0" algn="l">
              <a:buNone/>
            </a:pPr>
            <a:r>
              <a:rPr lang="en-US" sz="2475" b="1" dirty="0">
                <a:solidFill>
                  <a:srgbClr val="1F2730"/>
                </a:solidFill>
                <a:latin typeface="Arial" pitchFamily="34" charset="0"/>
                <a:ea typeface="Arial" pitchFamily="34" charset="-122"/>
                <a:cs typeface="Arial" pitchFamily="34" charset="-120"/>
              </a:rPr>
              <a:t>検証</a:t>
            </a:r>
            <a:endParaRPr lang="en-US" sz="2475" dirty="0"/>
          </a:p>
        </p:txBody>
      </p:sp>
      <p:sp>
        <p:nvSpPr>
          <p:cNvPr id="23" name="Text 21"/>
          <p:cNvSpPr/>
          <p:nvPr/>
        </p:nvSpPr>
        <p:spPr>
          <a:xfrm>
            <a:off x="12524482" y="4838204"/>
            <a:ext cx="4886990" cy="425450"/>
          </a:xfrm>
          <a:prstGeom prst="rect">
            <a:avLst/>
          </a:prstGeom>
          <a:noFill/>
          <a:ln/>
        </p:spPr>
        <p:txBody>
          <a:bodyPr wrap="square" lIns="25400" tIns="25400" rIns="25400" bIns="25400" rtlCol="0" anchor="t">
            <a:normAutofit/>
          </a:bodyPr>
          <a:lstStyle/>
          <a:p>
            <a:pPr marL="0" indent="0" algn="l">
              <a:buNone/>
            </a:pPr>
            <a:r>
              <a:rPr lang="en-US" sz="2100" dirty="0">
                <a:solidFill>
                  <a:srgbClr val="5A6470"/>
                </a:solidFill>
                <a:latin typeface="Arial" pitchFamily="34" charset="0"/>
                <a:ea typeface="Arial" pitchFamily="34" charset="-122"/>
                <a:cs typeface="Arial" pitchFamily="34" charset="-120"/>
              </a:rPr>
              <a:t>批判の当否をデータで確かめる</a:t>
            </a:r>
            <a:endParaRPr lang="en-US" sz="2100" dirty="0"/>
          </a:p>
        </p:txBody>
      </p:sp>
      <p:sp>
        <p:nvSpPr>
          <p:cNvPr id="24" name="Text 22"/>
          <p:cNvSpPr/>
          <p:nvPr/>
        </p:nvSpPr>
        <p:spPr>
          <a:xfrm>
            <a:off x="12524482" y="5377954"/>
            <a:ext cx="4886990" cy="425450"/>
          </a:xfrm>
          <a:prstGeom prst="rect">
            <a:avLst/>
          </a:prstGeom>
          <a:noFill/>
          <a:ln/>
        </p:spPr>
        <p:txBody>
          <a:bodyPr wrap="square" lIns="25400" tIns="25400" rIns="25400" bIns="25400" rtlCol="0" anchor="t">
            <a:normAutofit/>
          </a:bodyPr>
          <a:lstStyle/>
          <a:p>
            <a:pPr marL="0" indent="0" algn="l">
              <a:buNone/>
            </a:pPr>
            <a:r>
              <a:rPr lang="en-US" sz="2100" dirty="0">
                <a:solidFill>
                  <a:srgbClr val="2C333C"/>
                </a:solidFill>
                <a:latin typeface="Arial" pitchFamily="34" charset="0"/>
                <a:ea typeface="Arial" pitchFamily="34" charset="-122"/>
                <a:cs typeface="Arial" pitchFamily="34" charset="-120"/>
              </a:rPr>
              <a:t>・近完全データで反証 </a:t>
            </a:r>
            <a:r>
              <a:rPr lang="en-US" sz="1950" dirty="0">
                <a:solidFill>
                  <a:srgbClr val="97928A"/>
                </a:solidFill>
                <a:latin typeface="Arial" pitchFamily="34" charset="0"/>
                <a:ea typeface="Arial" pitchFamily="34" charset="-122"/>
                <a:cs typeface="Arial" pitchFamily="34" charset="-120"/>
              </a:rPr>
              <a:t>第4部</a:t>
            </a:r>
            <a:endParaRPr lang="en-US" sz="2100" dirty="0"/>
          </a:p>
        </p:txBody>
      </p:sp>
      <p:sp>
        <p:nvSpPr>
          <p:cNvPr id="25" name="Text 23"/>
          <p:cNvSpPr/>
          <p:nvPr/>
        </p:nvSpPr>
        <p:spPr>
          <a:xfrm>
            <a:off x="12524482" y="5860554"/>
            <a:ext cx="4886990" cy="425450"/>
          </a:xfrm>
          <a:prstGeom prst="rect">
            <a:avLst/>
          </a:prstGeom>
          <a:noFill/>
          <a:ln/>
        </p:spPr>
        <p:txBody>
          <a:bodyPr wrap="square" lIns="25400" tIns="25400" rIns="25400" bIns="25400" rtlCol="0" anchor="t">
            <a:normAutofit/>
          </a:bodyPr>
          <a:lstStyle/>
          <a:p>
            <a:pPr marL="0" indent="0" algn="l">
              <a:buNone/>
            </a:pPr>
            <a:r>
              <a:rPr lang="en-US" sz="2100" dirty="0">
                <a:solidFill>
                  <a:srgbClr val="2C333C"/>
                </a:solidFill>
                <a:latin typeface="Arial" pitchFamily="34" charset="0"/>
                <a:ea typeface="Arial" pitchFamily="34" charset="-122"/>
                <a:cs typeface="Arial" pitchFamily="34" charset="-120"/>
              </a:rPr>
              <a:t>・含意と結論 </a:t>
            </a:r>
            <a:r>
              <a:rPr lang="en-US" sz="1950" dirty="0">
                <a:solidFill>
                  <a:srgbClr val="97928A"/>
                </a:solidFill>
                <a:latin typeface="Arial" pitchFamily="34" charset="0"/>
                <a:ea typeface="Arial" pitchFamily="34" charset="-122"/>
                <a:cs typeface="Arial" pitchFamily="34" charset="-120"/>
              </a:rPr>
              <a:t>結論</a:t>
            </a:r>
            <a:endParaRPr lang="en-US" sz="2100" dirty="0"/>
          </a:p>
        </p:txBody>
      </p:sp>
      <p:sp>
        <p:nvSpPr>
          <p:cNvPr id="26" name="Shape 24"/>
          <p:cNvSpPr/>
          <p:nvPr/>
        </p:nvSpPr>
        <p:spPr>
          <a:xfrm>
            <a:off x="1028700" y="7251204"/>
            <a:ext cx="16230600" cy="831850"/>
          </a:xfrm>
          <a:prstGeom prst="rect">
            <a:avLst/>
          </a:prstGeom>
          <a:solidFill>
            <a:srgbClr val="F1E7E3"/>
          </a:solidFill>
          <a:ln/>
        </p:spPr>
      </p:sp>
      <p:sp>
        <p:nvSpPr>
          <p:cNvPr id="27" name="Shape 25"/>
          <p:cNvSpPr/>
          <p:nvPr/>
        </p:nvSpPr>
        <p:spPr>
          <a:xfrm>
            <a:off x="1028700" y="7251204"/>
            <a:ext cx="44450" cy="831850"/>
          </a:xfrm>
          <a:prstGeom prst="rect">
            <a:avLst/>
          </a:prstGeom>
          <a:solidFill>
            <a:srgbClr val="9A4A38"/>
          </a:solidFill>
          <a:ln/>
        </p:spPr>
      </p:sp>
      <p:sp>
        <p:nvSpPr>
          <p:cNvPr id="28" name="Text 26"/>
          <p:cNvSpPr/>
          <p:nvPr/>
        </p:nvSpPr>
        <p:spPr>
          <a:xfrm>
            <a:off x="1358900" y="7473454"/>
            <a:ext cx="322759" cy="425450"/>
          </a:xfrm>
          <a:prstGeom prst="rect">
            <a:avLst/>
          </a:prstGeom>
          <a:noFill/>
          <a:ln/>
        </p:spPr>
        <p:txBody>
          <a:bodyPr wrap="square" lIns="25400" tIns="25400" rIns="25400" bIns="25400" rtlCol="0" anchor="t">
            <a:normAutofit/>
          </a:bodyPr>
          <a:lstStyle/>
          <a:p>
            <a:pPr marL="0" indent="0" algn="l">
              <a:buNone/>
            </a:pPr>
            <a:r>
              <a:rPr lang="en-US" sz="2250" dirty="0">
                <a:solidFill>
                  <a:srgbClr val="9A4A38"/>
                </a:solidFill>
                <a:latin typeface="Courier New" pitchFamily="34" charset="0"/>
                <a:ea typeface="Courier New" pitchFamily="34" charset="-122"/>
                <a:cs typeface="Courier New" pitchFamily="34" charset="-120"/>
              </a:rPr>
              <a:t>↩</a:t>
            </a:r>
            <a:endParaRPr lang="en-US" sz="2250" dirty="0"/>
          </a:p>
        </p:txBody>
      </p:sp>
      <p:sp>
        <p:nvSpPr>
          <p:cNvPr id="29" name="Text 27"/>
          <p:cNvSpPr/>
          <p:nvPr/>
        </p:nvSpPr>
        <p:spPr>
          <a:xfrm>
            <a:off x="1776909" y="7460754"/>
            <a:ext cx="12560449" cy="450850"/>
          </a:xfrm>
          <a:prstGeom prst="rect">
            <a:avLst/>
          </a:prstGeom>
          <a:noFill/>
          <a:ln/>
        </p:spPr>
        <p:txBody>
          <a:bodyPr wrap="square" lIns="25400" tIns="25400" rIns="25400" bIns="25400" rtlCol="0" anchor="t">
            <a:normAutofit/>
          </a:bodyPr>
          <a:lstStyle/>
          <a:p>
            <a:pPr marL="0" indent="0" algn="l">
              <a:buNone/>
            </a:pPr>
            <a:r>
              <a:rPr lang="en-US" sz="2250" dirty="0">
                <a:solidFill>
                  <a:srgbClr val="3A2F2B"/>
                </a:solidFill>
                <a:latin typeface="Arial" pitchFamily="34" charset="0"/>
                <a:ea typeface="Arial" pitchFamily="34" charset="-122"/>
                <a:cs typeface="Arial" pitchFamily="34" charset="-120"/>
              </a:rPr>
              <a:t>批判はむしろ</a:t>
            </a:r>
            <a:r>
              <a:rPr lang="en-US" sz="2250" b="1" dirty="0">
                <a:solidFill>
                  <a:srgbClr val="9A4A38"/>
                </a:solidFill>
                <a:latin typeface="Arial" pitchFamily="34" charset="0"/>
                <a:ea typeface="Arial" pitchFamily="34" charset="-122"/>
                <a:cs typeface="Arial" pitchFamily="34" charset="-120"/>
              </a:rPr>
              <a:t>反証</a:t>
            </a:r>
            <a:r>
              <a:rPr lang="en-US" sz="2250" dirty="0">
                <a:solidFill>
                  <a:srgbClr val="3A2F2B"/>
                </a:solidFill>
                <a:latin typeface="Arial" pitchFamily="34" charset="0"/>
                <a:ea typeface="Arial" pitchFamily="34" charset="-122"/>
                <a:cs typeface="Arial" pitchFamily="34" charset="-120"/>
              </a:rPr>
              <a:t>され、かえって公取委のドラッグストア市場画定の妥当性を裏づけた。</a:t>
            </a:r>
            <a:endParaRPr lang="en-US" sz="2250" dirty="0"/>
          </a:p>
        </p:txBody>
      </p:sp>
      <p:sp>
        <p:nvSpPr>
          <p:cNvPr id="30" name="Shape 28"/>
          <p:cNvSpPr/>
          <p:nvPr/>
        </p:nvSpPr>
        <p:spPr>
          <a:xfrm>
            <a:off x="1028700" y="9296400"/>
            <a:ext cx="16230600" cy="9525"/>
          </a:xfrm>
          <a:prstGeom prst="rect">
            <a:avLst/>
          </a:prstGeom>
          <a:solidFill>
            <a:srgbClr val="E4E0D7"/>
          </a:solidFill>
          <a:ln/>
        </p:spPr>
      </p:sp>
      <p:sp>
        <p:nvSpPr>
          <p:cNvPr id="31" name="Text 29"/>
          <p:cNvSpPr/>
          <p:nvPr/>
        </p:nvSpPr>
        <p:spPr>
          <a:xfrm>
            <a:off x="1028700" y="9455150"/>
            <a:ext cx="6976378" cy="393700"/>
          </a:xfrm>
          <a:prstGeom prst="rect">
            <a:avLst/>
          </a:prstGeom>
          <a:noFill/>
          <a:ln/>
        </p:spPr>
        <p:txBody>
          <a:bodyPr wrap="square" lIns="25400" tIns="25400" rIns="25400" bIns="25400" rtlCol="0" anchor="t">
            <a:normAutofit/>
          </a:bodyPr>
          <a:lstStyle/>
          <a:p>
            <a:pPr marL="0" indent="0" algn="l">
              <a:buNone/>
            </a:pPr>
            <a:r>
              <a:rPr lang="en-US" sz="1950" dirty="0">
                <a:solidFill>
                  <a:srgbClr val="97928A"/>
                </a:solidFill>
                <a:latin typeface="Arial" pitchFamily="34" charset="0"/>
                <a:ea typeface="Arial" pitchFamily="34" charset="-122"/>
                <a:cs typeface="Arial" pitchFamily="34" charset="-120"/>
              </a:rPr>
              <a:t>永田 稔人 ｜ 中里ゼミ（経済法） ｜ 2026年6月30日</a:t>
            </a:r>
            <a:endParaRPr lang="en-US" sz="1950" dirty="0"/>
          </a:p>
        </p:txBody>
      </p:sp>
      <p:sp>
        <p:nvSpPr>
          <p:cNvPr id="32" name="Text 30"/>
          <p:cNvSpPr/>
          <p:nvPr/>
        </p:nvSpPr>
        <p:spPr>
          <a:xfrm>
            <a:off x="16115109" y="9471025"/>
            <a:ext cx="1220391" cy="361950"/>
          </a:xfrm>
          <a:prstGeom prst="rect">
            <a:avLst/>
          </a:prstGeom>
          <a:noFill/>
          <a:ln/>
        </p:spPr>
        <p:txBody>
          <a:bodyPr wrap="square" lIns="25400" tIns="25400" rIns="25400" bIns="25400" rtlCol="0" anchor="t">
            <a:normAutofit/>
          </a:bodyPr>
          <a:lstStyle/>
          <a:p>
            <a:pPr marL="0" indent="0" algn="l">
              <a:buNone/>
            </a:pPr>
            <a:r>
              <a:rPr lang="en-US" sz="1950" kern="0" spc="117" dirty="0">
                <a:solidFill>
                  <a:srgbClr val="97928A"/>
                </a:solidFill>
                <a:latin typeface="Courier New" pitchFamily="34" charset="0"/>
                <a:ea typeface="Courier New" pitchFamily="34" charset="-122"/>
                <a:cs typeface="Courier New" pitchFamily="34" charset="-120"/>
              </a:rPr>
              <a:t>02 / 27</a:t>
            </a:r>
            <a:endParaRPr lang="en-US" sz="1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2"/>
        </a:solidFill>
        <a:effectLst/>
      </p:bgPr>
    </p:bg>
    <p:spTree>
      <p:nvGrpSpPr>
        <p:cNvPr id="1" name=""/>
        <p:cNvGrpSpPr/>
        <p:nvPr/>
      </p:nvGrpSpPr>
      <p:grpSpPr>
        <a:xfrm>
          <a:off x="0" y="0"/>
          <a:ext cx="0" cy="0"/>
          <a:chOff x="0" y="0"/>
          <a:chExt cx="0" cy="0"/>
        </a:xfrm>
      </p:grpSpPr>
      <p:sp>
        <p:nvSpPr>
          <p:cNvPr id="2" name="Shape 0"/>
          <p:cNvSpPr/>
          <p:nvPr/>
        </p:nvSpPr>
        <p:spPr>
          <a:xfrm>
            <a:off x="1028700" y="801688"/>
            <a:ext cx="304800" cy="28575"/>
          </a:xfrm>
          <a:prstGeom prst="rect">
            <a:avLst/>
          </a:prstGeom>
          <a:solidFill>
            <a:srgbClr val="9A4A38"/>
          </a:solidFill>
          <a:ln/>
        </p:spPr>
      </p:sp>
      <p:sp>
        <p:nvSpPr>
          <p:cNvPr id="3" name="Text 1"/>
          <p:cNvSpPr/>
          <p:nvPr/>
        </p:nvSpPr>
        <p:spPr>
          <a:xfrm>
            <a:off x="1466850" y="628650"/>
            <a:ext cx="642045" cy="412750"/>
          </a:xfrm>
          <a:prstGeom prst="rect">
            <a:avLst/>
          </a:prstGeom>
          <a:noFill/>
          <a:ln/>
        </p:spPr>
        <p:txBody>
          <a:bodyPr wrap="square" lIns="25400" tIns="25400" rIns="25400" bIns="25400" rtlCol="0" anchor="t">
            <a:normAutofit/>
          </a:bodyPr>
          <a:lstStyle/>
          <a:p>
            <a:pPr marL="0" indent="0" algn="l">
              <a:buNone/>
            </a:pPr>
            <a:r>
              <a:rPr lang="en-US" sz="2025" kern="0" spc="203" dirty="0">
                <a:solidFill>
                  <a:srgbClr val="5A6470"/>
                </a:solidFill>
                <a:latin typeface="Arial" pitchFamily="34" charset="0"/>
                <a:ea typeface="Arial" pitchFamily="34" charset="-122"/>
                <a:cs typeface="Arial" pitchFamily="34" charset="-120"/>
              </a:rPr>
              <a:t>序論</a:t>
            </a:r>
            <a:endParaRPr lang="en-US" sz="2025" dirty="0"/>
          </a:p>
        </p:txBody>
      </p:sp>
      <p:sp>
        <p:nvSpPr>
          <p:cNvPr id="4" name="Text 2"/>
          <p:cNvSpPr/>
          <p:nvPr/>
        </p:nvSpPr>
        <p:spPr>
          <a:xfrm>
            <a:off x="1028700" y="1174750"/>
            <a:ext cx="17853660" cy="624384"/>
          </a:xfrm>
          <a:prstGeom prst="rect">
            <a:avLst/>
          </a:prstGeom>
          <a:noFill/>
          <a:ln/>
        </p:spPr>
        <p:txBody>
          <a:bodyPr wrap="square" lIns="25400" tIns="25400" rIns="25400" bIns="25400" rtlCol="0" anchor="t">
            <a:normAutofit/>
          </a:bodyPr>
          <a:lstStyle/>
          <a:p>
            <a:pPr marL="0" indent="0" algn="l">
              <a:lnSpc>
                <a:spcPct val="114000"/>
              </a:lnSpc>
              <a:buNone/>
            </a:pPr>
            <a:r>
              <a:rPr lang="en-US" sz="4050" b="1" dirty="0">
                <a:solidFill>
                  <a:srgbClr val="1F2730"/>
                </a:solidFill>
                <a:latin typeface="Arial" pitchFamily="34" charset="0"/>
                <a:ea typeface="Arial" pitchFamily="34" charset="-122"/>
                <a:cs typeface="Arial" pitchFamily="34" charset="-120"/>
              </a:rPr>
              <a:t>問題意識と本報告の構造</a:t>
            </a:r>
            <a:endParaRPr lang="en-US" sz="4050" dirty="0"/>
          </a:p>
        </p:txBody>
      </p:sp>
      <p:sp>
        <p:nvSpPr>
          <p:cNvPr id="5" name="Text 3"/>
          <p:cNvSpPr/>
          <p:nvPr/>
        </p:nvSpPr>
        <p:spPr>
          <a:xfrm>
            <a:off x="1028700" y="1894384"/>
            <a:ext cx="16344900" cy="493812"/>
          </a:xfrm>
          <a:prstGeom prst="rect">
            <a:avLst/>
          </a:prstGeom>
          <a:noFill/>
          <a:ln/>
        </p:spPr>
        <p:txBody>
          <a:bodyPr wrap="square" lIns="25400" tIns="25400" rIns="25400" bIns="25400" rtlCol="0" anchor="t">
            <a:normAutofit/>
          </a:bodyPr>
          <a:lstStyle/>
          <a:p>
            <a:pPr marL="0" indent="0" algn="l">
              <a:lnSpc>
                <a:spcPct val="145000"/>
              </a:lnSpc>
              <a:buNone/>
            </a:pPr>
            <a:r>
              <a:rPr lang="en-US" sz="2475" dirty="0">
                <a:solidFill>
                  <a:srgbClr val="4A5560"/>
                </a:solidFill>
                <a:latin typeface="Arial" pitchFamily="34" charset="0"/>
                <a:ea typeface="Arial" pitchFamily="34" charset="-122"/>
                <a:cs typeface="Arial" pitchFamily="34" charset="-120"/>
              </a:rPr>
              <a:t>公正取引委員会が条件付きで承認した本件を素材に、二つの作業を行う。</a:t>
            </a:r>
            <a:endParaRPr lang="en-US" sz="2475" dirty="0"/>
          </a:p>
        </p:txBody>
      </p:sp>
      <p:sp>
        <p:nvSpPr>
          <p:cNvPr id="6" name="Shape 4"/>
          <p:cNvSpPr/>
          <p:nvPr/>
        </p:nvSpPr>
        <p:spPr>
          <a:xfrm>
            <a:off x="1028700" y="3434854"/>
            <a:ext cx="7981950" cy="2662238"/>
          </a:xfrm>
          <a:prstGeom prst="roundRect">
            <a:avLst>
              <a:gd name="adj" fmla="val 2862"/>
            </a:avLst>
          </a:prstGeom>
          <a:solidFill>
            <a:srgbClr val="FFFFFF"/>
          </a:solidFill>
          <a:ln w="6350">
            <a:solidFill>
              <a:srgbClr val="E0DCD2"/>
            </a:solidFill>
            <a:prstDash val="solid"/>
          </a:ln>
        </p:spPr>
      </p:sp>
      <p:sp>
        <p:nvSpPr>
          <p:cNvPr id="7" name="Text 5"/>
          <p:cNvSpPr/>
          <p:nvPr/>
        </p:nvSpPr>
        <p:spPr>
          <a:xfrm>
            <a:off x="1397000" y="3828554"/>
            <a:ext cx="1051620" cy="431800"/>
          </a:xfrm>
          <a:prstGeom prst="rect">
            <a:avLst/>
          </a:prstGeom>
          <a:noFill/>
          <a:ln/>
        </p:spPr>
        <p:txBody>
          <a:bodyPr wrap="square" lIns="25400" tIns="25400" rIns="25400" bIns="25400" rtlCol="0" anchor="t">
            <a:normAutofit/>
          </a:bodyPr>
          <a:lstStyle/>
          <a:p>
            <a:pPr marL="0" indent="0" algn="l">
              <a:buNone/>
            </a:pPr>
            <a:r>
              <a:rPr lang="en-US" sz="2400" dirty="0">
                <a:solidFill>
                  <a:srgbClr val="9A4A38"/>
                </a:solidFill>
                <a:latin typeface="Courier New" pitchFamily="34" charset="0"/>
                <a:ea typeface="Courier New" pitchFamily="34" charset="-122"/>
                <a:cs typeface="Courier New" pitchFamily="34" charset="-120"/>
              </a:rPr>
              <a:t>作業 I</a:t>
            </a:r>
            <a:endParaRPr lang="en-US" sz="2400" dirty="0"/>
          </a:p>
        </p:txBody>
      </p:sp>
      <p:sp>
        <p:nvSpPr>
          <p:cNvPr id="8" name="Text 6"/>
          <p:cNvSpPr/>
          <p:nvPr/>
        </p:nvSpPr>
        <p:spPr>
          <a:xfrm>
            <a:off x="2524820" y="3765054"/>
            <a:ext cx="723900" cy="508000"/>
          </a:xfrm>
          <a:prstGeom prst="rect">
            <a:avLst/>
          </a:prstGeom>
          <a:noFill/>
          <a:ln/>
        </p:spPr>
        <p:txBody>
          <a:bodyPr wrap="square" lIns="25400" tIns="25400" rIns="25400" bIns="25400" rtlCol="0" anchor="t">
            <a:normAutofit/>
          </a:bodyPr>
          <a:lstStyle/>
          <a:p>
            <a:pPr marL="0" indent="0" algn="l">
              <a:buNone/>
            </a:pPr>
            <a:r>
              <a:rPr lang="en-US" sz="2550" b="1" dirty="0">
                <a:solidFill>
                  <a:srgbClr val="1F2730"/>
                </a:solidFill>
                <a:latin typeface="Arial" pitchFamily="34" charset="0"/>
                <a:ea typeface="Arial" pitchFamily="34" charset="-122"/>
                <a:cs typeface="Arial" pitchFamily="34" charset="-120"/>
              </a:rPr>
              <a:t>再現</a:t>
            </a:r>
            <a:endParaRPr lang="en-US" sz="2550" dirty="0"/>
          </a:p>
        </p:txBody>
      </p:sp>
      <p:sp>
        <p:nvSpPr>
          <p:cNvPr id="9" name="Text 7"/>
          <p:cNvSpPr/>
          <p:nvPr/>
        </p:nvSpPr>
        <p:spPr>
          <a:xfrm>
            <a:off x="1397000" y="4387354"/>
            <a:ext cx="7462711" cy="1417638"/>
          </a:xfrm>
          <a:prstGeom prst="rect">
            <a:avLst/>
          </a:prstGeom>
          <a:noFill/>
          <a:ln/>
        </p:spPr>
        <p:txBody>
          <a:bodyPr wrap="square" lIns="25400" tIns="25400" rIns="25400" bIns="25400" rtlCol="0" anchor="t">
            <a:normAutofit/>
          </a:bodyPr>
          <a:lstStyle/>
          <a:p>
            <a:pPr marL="0" indent="0" algn="l">
              <a:lnSpc>
                <a:spcPct val="155000"/>
              </a:lnSpc>
              <a:buNone/>
            </a:pPr>
            <a:r>
              <a:rPr lang="en-US" sz="2250" dirty="0">
                <a:solidFill>
                  <a:srgbClr val="2C333C"/>
                </a:solidFill>
                <a:latin typeface="Arial" pitchFamily="34" charset="0"/>
                <a:ea typeface="Arial" pitchFamily="34" charset="-122"/>
                <a:cs typeface="Arial" pitchFamily="34" charset="-120"/>
              </a:rPr>
              <a:t>地理的市場画定（各店舗の</a:t>
            </a:r>
            <a:r>
              <a:rPr lang="en-US" sz="2250" b="1" dirty="0">
                <a:solidFill>
                  <a:srgbClr val="2C333C"/>
                </a:solidFill>
                <a:latin typeface="Arial" pitchFamily="34" charset="0"/>
                <a:ea typeface="Arial" pitchFamily="34" charset="-122"/>
                <a:cs typeface="Arial" pitchFamily="34" charset="-120"/>
              </a:rPr>
              <a:t>半径2km商圏 </a:t>
            </a:r>
            <a:r>
              <a:rPr lang="en-US" sz="2250" dirty="0">
                <a:solidFill>
                  <a:srgbClr val="2C333C"/>
                </a:solidFill>
                <a:latin typeface="Arial" pitchFamily="34" charset="0"/>
                <a:ea typeface="Arial" pitchFamily="34" charset="-122"/>
                <a:cs typeface="Arial" pitchFamily="34" charset="-120"/>
              </a:rPr>
              <a:t>）と経済分析（店舗 </a:t>
            </a:r>
            <a:r>
              <a:rPr lang="en-US" sz="2250" b="1" dirty="0">
                <a:solidFill>
                  <a:srgbClr val="2C333C"/>
                </a:solidFill>
                <a:latin typeface="Arial" pitchFamily="34" charset="0"/>
                <a:ea typeface="Arial" pitchFamily="34" charset="-122"/>
                <a:cs typeface="Arial" pitchFamily="34" charset="-120"/>
              </a:rPr>
              <a:t>固定効果パネル回帰 </a:t>
            </a:r>
            <a:r>
              <a:rPr lang="en-US" sz="2250" dirty="0">
                <a:solidFill>
                  <a:srgbClr val="2C333C"/>
                </a:solidFill>
                <a:latin typeface="Arial" pitchFamily="34" charset="0"/>
                <a:ea typeface="Arial" pitchFamily="34" charset="-122"/>
                <a:cs typeface="Arial" pitchFamily="34" charset="-120"/>
              </a:rPr>
              <a:t>）をRで再現し、審査の手法を内側から理解する。</a:t>
            </a:r>
            <a:endParaRPr lang="en-US" sz="2250" dirty="0"/>
          </a:p>
        </p:txBody>
      </p:sp>
      <p:sp>
        <p:nvSpPr>
          <p:cNvPr id="10" name="Shape 8"/>
          <p:cNvSpPr/>
          <p:nvPr/>
        </p:nvSpPr>
        <p:spPr>
          <a:xfrm>
            <a:off x="9277350" y="3434854"/>
            <a:ext cx="7981950" cy="2662238"/>
          </a:xfrm>
          <a:prstGeom prst="roundRect">
            <a:avLst>
              <a:gd name="adj" fmla="val 2862"/>
            </a:avLst>
          </a:prstGeom>
          <a:solidFill>
            <a:srgbClr val="FFFFFF"/>
          </a:solidFill>
          <a:ln w="6350">
            <a:solidFill>
              <a:srgbClr val="E0DCD2"/>
            </a:solidFill>
            <a:prstDash val="solid"/>
          </a:ln>
        </p:spPr>
      </p:sp>
      <p:sp>
        <p:nvSpPr>
          <p:cNvPr id="11" name="Text 9"/>
          <p:cNvSpPr/>
          <p:nvPr/>
        </p:nvSpPr>
        <p:spPr>
          <a:xfrm>
            <a:off x="9645650" y="3828554"/>
            <a:ext cx="1234480" cy="431800"/>
          </a:xfrm>
          <a:prstGeom prst="rect">
            <a:avLst/>
          </a:prstGeom>
          <a:noFill/>
          <a:ln/>
        </p:spPr>
        <p:txBody>
          <a:bodyPr wrap="square" lIns="25400" tIns="25400" rIns="25400" bIns="25400" rtlCol="0" anchor="t">
            <a:normAutofit/>
          </a:bodyPr>
          <a:lstStyle/>
          <a:p>
            <a:pPr marL="0" indent="0" algn="l">
              <a:buNone/>
            </a:pPr>
            <a:r>
              <a:rPr lang="en-US" sz="2400" dirty="0">
                <a:solidFill>
                  <a:srgbClr val="9A4A38"/>
                </a:solidFill>
                <a:latin typeface="Courier New" pitchFamily="34" charset="0"/>
                <a:ea typeface="Courier New" pitchFamily="34" charset="-122"/>
                <a:cs typeface="Courier New" pitchFamily="34" charset="-120"/>
              </a:rPr>
              <a:t>作業 II</a:t>
            </a:r>
            <a:endParaRPr lang="en-US" sz="2400" dirty="0"/>
          </a:p>
        </p:txBody>
      </p:sp>
      <p:sp>
        <p:nvSpPr>
          <p:cNvPr id="12" name="Text 10"/>
          <p:cNvSpPr/>
          <p:nvPr/>
        </p:nvSpPr>
        <p:spPr>
          <a:xfrm>
            <a:off x="10956330" y="3765054"/>
            <a:ext cx="1047750" cy="508000"/>
          </a:xfrm>
          <a:prstGeom prst="rect">
            <a:avLst/>
          </a:prstGeom>
          <a:noFill/>
          <a:ln/>
        </p:spPr>
        <p:txBody>
          <a:bodyPr wrap="square" lIns="25400" tIns="25400" rIns="25400" bIns="25400" rtlCol="0" anchor="t">
            <a:normAutofit/>
          </a:bodyPr>
          <a:lstStyle/>
          <a:p>
            <a:pPr marL="0" indent="0" algn="l">
              <a:buNone/>
            </a:pPr>
            <a:r>
              <a:rPr lang="en-US" sz="2550" b="1" dirty="0">
                <a:solidFill>
                  <a:srgbClr val="1F2730"/>
                </a:solidFill>
                <a:latin typeface="Arial" pitchFamily="34" charset="0"/>
                <a:ea typeface="Arial" pitchFamily="34" charset="-122"/>
                <a:cs typeface="Arial" pitchFamily="34" charset="-120"/>
              </a:rPr>
              <a:t>再検討</a:t>
            </a:r>
            <a:endParaRPr lang="en-US" sz="2550" dirty="0"/>
          </a:p>
        </p:txBody>
      </p:sp>
      <p:sp>
        <p:nvSpPr>
          <p:cNvPr id="13" name="Text 11"/>
          <p:cNvSpPr/>
          <p:nvPr/>
        </p:nvSpPr>
        <p:spPr>
          <a:xfrm>
            <a:off x="9645650" y="4387354"/>
            <a:ext cx="7462711" cy="1417638"/>
          </a:xfrm>
          <a:prstGeom prst="rect">
            <a:avLst/>
          </a:prstGeom>
          <a:noFill/>
          <a:ln/>
        </p:spPr>
        <p:txBody>
          <a:bodyPr wrap="square" lIns="25400" tIns="25400" rIns="25400" bIns="25400" rtlCol="0" anchor="t">
            <a:normAutofit/>
          </a:bodyPr>
          <a:lstStyle/>
          <a:p>
            <a:pPr marL="0" indent="0" algn="l">
              <a:lnSpc>
                <a:spcPct val="155000"/>
              </a:lnSpc>
              <a:buNone/>
            </a:pPr>
            <a:r>
              <a:rPr lang="en-US" sz="2250" dirty="0">
                <a:solidFill>
                  <a:srgbClr val="2C333C"/>
                </a:solidFill>
                <a:latin typeface="Arial" pitchFamily="34" charset="0"/>
                <a:ea typeface="Arial" pitchFamily="34" charset="-122"/>
                <a:cs typeface="Arial" pitchFamily="34" charset="-120"/>
              </a:rPr>
              <a:t>その土台である「一定の取引分野＝</a:t>
            </a:r>
            <a:r>
              <a:rPr lang="en-US" sz="2250" b="1" dirty="0">
                <a:solidFill>
                  <a:srgbClr val="2C333C"/>
                </a:solidFill>
                <a:latin typeface="Arial" pitchFamily="34" charset="0"/>
                <a:ea typeface="Arial" pitchFamily="34" charset="-122"/>
                <a:cs typeface="Arial" pitchFamily="34" charset="-120"/>
              </a:rPr>
              <a:t>ドラッグストア業 </a:t>
            </a:r>
            <a:r>
              <a:rPr lang="en-US" sz="2250" dirty="0">
                <a:solidFill>
                  <a:srgbClr val="2C333C"/>
                </a:solidFill>
                <a:latin typeface="Arial" pitchFamily="34" charset="0"/>
                <a:ea typeface="Arial" pitchFamily="34" charset="-122"/>
                <a:cs typeface="Arial" pitchFamily="34" charset="-120"/>
              </a:rPr>
              <a:t>」という市場画定を、 </a:t>
            </a:r>
            <a:r>
              <a:rPr lang="en-US" sz="2250" b="1" dirty="0">
                <a:solidFill>
                  <a:srgbClr val="2C333C"/>
                </a:solidFill>
                <a:latin typeface="Arial" pitchFamily="34" charset="0"/>
                <a:ea typeface="Arial" pitchFamily="34" charset="-122"/>
                <a:cs typeface="Arial" pitchFamily="34" charset="-120"/>
              </a:rPr>
              <a:t>食品小売市場 </a:t>
            </a:r>
            <a:r>
              <a:rPr lang="en-US" sz="2250" dirty="0">
                <a:solidFill>
                  <a:srgbClr val="2C333C"/>
                </a:solidFill>
                <a:latin typeface="Arial" pitchFamily="34" charset="0"/>
                <a:ea typeface="Arial" pitchFamily="34" charset="-122"/>
                <a:cs typeface="Arial" pitchFamily="34" charset="-120"/>
              </a:rPr>
              <a:t>の観点から批判的に問い直す。</a:t>
            </a:r>
            <a:endParaRPr lang="en-US" sz="2250" dirty="0"/>
          </a:p>
        </p:txBody>
      </p:sp>
      <p:sp>
        <p:nvSpPr>
          <p:cNvPr id="14" name="Shape 12"/>
          <p:cNvSpPr/>
          <p:nvPr/>
        </p:nvSpPr>
        <p:spPr>
          <a:xfrm>
            <a:off x="1028700" y="6344742"/>
            <a:ext cx="16230600" cy="1828800"/>
          </a:xfrm>
          <a:prstGeom prst="rect">
            <a:avLst/>
          </a:prstGeom>
          <a:solidFill>
            <a:srgbClr val="F1E7E3"/>
          </a:solidFill>
          <a:ln/>
        </p:spPr>
      </p:sp>
      <p:sp>
        <p:nvSpPr>
          <p:cNvPr id="15" name="Shape 13"/>
          <p:cNvSpPr/>
          <p:nvPr/>
        </p:nvSpPr>
        <p:spPr>
          <a:xfrm>
            <a:off x="1028700" y="6344742"/>
            <a:ext cx="44450" cy="1828800"/>
          </a:xfrm>
          <a:prstGeom prst="rect">
            <a:avLst/>
          </a:prstGeom>
          <a:solidFill>
            <a:srgbClr val="9A4A38"/>
          </a:solidFill>
          <a:ln/>
        </p:spPr>
      </p:sp>
      <p:sp>
        <p:nvSpPr>
          <p:cNvPr id="16" name="Text 14"/>
          <p:cNvSpPr/>
          <p:nvPr/>
        </p:nvSpPr>
        <p:spPr>
          <a:xfrm>
            <a:off x="1397000" y="6592392"/>
            <a:ext cx="17092295" cy="412750"/>
          </a:xfrm>
          <a:prstGeom prst="rect">
            <a:avLst/>
          </a:prstGeom>
          <a:noFill/>
          <a:ln/>
        </p:spPr>
        <p:txBody>
          <a:bodyPr wrap="square" lIns="25400" tIns="25400" rIns="25400" bIns="25400" rtlCol="0" anchor="t">
            <a:normAutofit/>
          </a:bodyPr>
          <a:lstStyle/>
          <a:p>
            <a:pPr marL="0" indent="0" algn="l">
              <a:buNone/>
            </a:pPr>
            <a:r>
              <a:rPr lang="en-US" sz="2025" kern="0" spc="162" dirty="0">
                <a:solidFill>
                  <a:srgbClr val="9A4A38"/>
                </a:solidFill>
                <a:latin typeface="Arial" pitchFamily="34" charset="0"/>
                <a:ea typeface="Arial" pitchFamily="34" charset="-122"/>
                <a:cs typeface="Arial" pitchFamily="34" charset="-120"/>
              </a:rPr>
              <a:t>結論の先取り</a:t>
            </a:r>
            <a:endParaRPr lang="en-US" sz="2025" dirty="0"/>
          </a:p>
        </p:txBody>
      </p:sp>
      <p:sp>
        <p:nvSpPr>
          <p:cNvPr id="17" name="Text 15"/>
          <p:cNvSpPr/>
          <p:nvPr/>
        </p:nvSpPr>
        <p:spPr>
          <a:xfrm>
            <a:off x="1397000" y="7100392"/>
            <a:ext cx="7766844" cy="863600"/>
          </a:xfrm>
          <a:prstGeom prst="rect">
            <a:avLst/>
          </a:prstGeom>
          <a:noFill/>
          <a:ln/>
        </p:spPr>
        <p:txBody>
          <a:bodyPr wrap="square" lIns="25400" tIns="25400" rIns="25400" bIns="25400" rtlCol="0" anchor="t">
            <a:normAutofit/>
          </a:bodyPr>
          <a:lstStyle/>
          <a:p>
            <a:pPr marL="0" indent="0" algn="l">
              <a:buNone/>
            </a:pPr>
            <a:r>
              <a:rPr lang="en-US" sz="2250" dirty="0">
                <a:solidFill>
                  <a:srgbClr val="3A2F2B"/>
                </a:solidFill>
                <a:latin typeface="Arial" pitchFamily="34" charset="0"/>
                <a:ea typeface="Arial" pitchFamily="34" charset="-122"/>
                <a:cs typeface="Arial" pitchFamily="34" charset="-120"/>
              </a:rPr>
              <a:t>① 機械的スクリーニングには限界があり、 </a:t>
            </a:r>
            <a:r>
              <a:rPr lang="en-US" sz="2250" b="1" dirty="0">
                <a:solidFill>
                  <a:srgbClr val="3A2F2B"/>
                </a:solidFill>
                <a:latin typeface="Arial" pitchFamily="34" charset="0"/>
                <a:ea typeface="Arial" pitchFamily="34" charset="-122"/>
                <a:cs typeface="Arial" pitchFamily="34" charset="-120"/>
              </a:rPr>
              <a:t>個別審査を代替しない </a:t>
            </a:r>
            <a:r>
              <a:rPr lang="en-US" sz="2250" dirty="0">
                <a:solidFill>
                  <a:srgbClr val="3A2F2B"/>
                </a:solidFill>
                <a:latin typeface="Arial" pitchFamily="34" charset="0"/>
                <a:ea typeface="Arial" pitchFamily="34" charset="-122"/>
                <a:cs typeface="Arial" pitchFamily="34" charset="-120"/>
              </a:rPr>
              <a:t>。</a:t>
            </a:r>
            <a:endParaRPr lang="en-US" sz="2250" dirty="0"/>
          </a:p>
        </p:txBody>
      </p:sp>
      <p:sp>
        <p:nvSpPr>
          <p:cNvPr id="18" name="Text 16"/>
          <p:cNvSpPr/>
          <p:nvPr/>
        </p:nvSpPr>
        <p:spPr>
          <a:xfrm>
            <a:off x="9394825" y="7100392"/>
            <a:ext cx="7766844" cy="863600"/>
          </a:xfrm>
          <a:prstGeom prst="rect">
            <a:avLst/>
          </a:prstGeom>
          <a:noFill/>
          <a:ln/>
        </p:spPr>
        <p:txBody>
          <a:bodyPr wrap="square" lIns="25400" tIns="25400" rIns="25400" bIns="25400" rtlCol="0" anchor="t">
            <a:normAutofit/>
          </a:bodyPr>
          <a:lstStyle/>
          <a:p>
            <a:pPr marL="0" indent="0" algn="l">
              <a:buNone/>
            </a:pPr>
            <a:r>
              <a:rPr lang="en-US" sz="2250" dirty="0">
                <a:solidFill>
                  <a:srgbClr val="3A2F2B"/>
                </a:solidFill>
                <a:latin typeface="Arial" pitchFamily="34" charset="0"/>
                <a:ea typeface="Arial" pitchFamily="34" charset="-122"/>
                <a:cs typeface="Arial" pitchFamily="34" charset="-120"/>
              </a:rPr>
              <a:t>② 食品市場からの批判は</a:t>
            </a:r>
            <a:r>
              <a:rPr lang="en-US" sz="2250" b="1" dirty="0">
                <a:solidFill>
                  <a:srgbClr val="3A2F2B"/>
                </a:solidFill>
                <a:latin typeface="Arial" pitchFamily="34" charset="0"/>
                <a:ea typeface="Arial" pitchFamily="34" charset="-122"/>
                <a:cs typeface="Arial" pitchFamily="34" charset="-120"/>
              </a:rPr>
              <a:t>反証 </a:t>
            </a:r>
            <a:r>
              <a:rPr lang="en-US" sz="2250" dirty="0">
                <a:solidFill>
                  <a:srgbClr val="3A2F2B"/>
                </a:solidFill>
                <a:latin typeface="Arial" pitchFamily="34" charset="0"/>
                <a:ea typeface="Arial" pitchFamily="34" charset="-122"/>
                <a:cs typeface="Arial" pitchFamily="34" charset="-120"/>
              </a:rPr>
              <a:t>され、かえって公取委の画定を裏づける。</a:t>
            </a:r>
            <a:endParaRPr lang="en-US" sz="2250" dirty="0"/>
          </a:p>
        </p:txBody>
      </p:sp>
      <p:sp>
        <p:nvSpPr>
          <p:cNvPr id="19" name="Shape 17"/>
          <p:cNvSpPr/>
          <p:nvPr/>
        </p:nvSpPr>
        <p:spPr>
          <a:xfrm>
            <a:off x="1028700" y="9296400"/>
            <a:ext cx="16230600" cy="9525"/>
          </a:xfrm>
          <a:prstGeom prst="rect">
            <a:avLst/>
          </a:prstGeom>
          <a:solidFill>
            <a:srgbClr val="E4E0D7"/>
          </a:solidFill>
          <a:ln/>
        </p:spPr>
      </p:sp>
      <p:sp>
        <p:nvSpPr>
          <p:cNvPr id="20" name="Text 18"/>
          <p:cNvSpPr/>
          <p:nvPr/>
        </p:nvSpPr>
        <p:spPr>
          <a:xfrm>
            <a:off x="1028700" y="9455150"/>
            <a:ext cx="6976378" cy="393700"/>
          </a:xfrm>
          <a:prstGeom prst="rect">
            <a:avLst/>
          </a:prstGeom>
          <a:noFill/>
          <a:ln/>
        </p:spPr>
        <p:txBody>
          <a:bodyPr wrap="square" lIns="25400" tIns="25400" rIns="25400" bIns="25400" rtlCol="0" anchor="t">
            <a:normAutofit/>
          </a:bodyPr>
          <a:lstStyle/>
          <a:p>
            <a:pPr marL="0" indent="0" algn="l">
              <a:buNone/>
            </a:pPr>
            <a:r>
              <a:rPr lang="en-US" sz="1950" dirty="0">
                <a:solidFill>
                  <a:srgbClr val="97928A"/>
                </a:solidFill>
                <a:latin typeface="Arial" pitchFamily="34" charset="0"/>
                <a:ea typeface="Arial" pitchFamily="34" charset="-122"/>
                <a:cs typeface="Arial" pitchFamily="34" charset="-120"/>
              </a:rPr>
              <a:t>永田 稔人 ｜ 中里ゼミ（経済法） ｜ 2026年6月30日</a:t>
            </a:r>
            <a:endParaRPr lang="en-US" sz="1950" dirty="0"/>
          </a:p>
        </p:txBody>
      </p:sp>
      <p:sp>
        <p:nvSpPr>
          <p:cNvPr id="21" name="Text 19"/>
          <p:cNvSpPr/>
          <p:nvPr/>
        </p:nvSpPr>
        <p:spPr>
          <a:xfrm>
            <a:off x="16115109" y="9471025"/>
            <a:ext cx="1220391" cy="361950"/>
          </a:xfrm>
          <a:prstGeom prst="rect">
            <a:avLst/>
          </a:prstGeom>
          <a:noFill/>
          <a:ln/>
        </p:spPr>
        <p:txBody>
          <a:bodyPr wrap="square" lIns="25400" tIns="25400" rIns="25400" bIns="25400" rtlCol="0" anchor="t">
            <a:normAutofit/>
          </a:bodyPr>
          <a:lstStyle/>
          <a:p>
            <a:pPr marL="0" indent="0" algn="l">
              <a:buNone/>
            </a:pPr>
            <a:r>
              <a:rPr lang="en-US" sz="1950" kern="0" spc="117" dirty="0">
                <a:solidFill>
                  <a:srgbClr val="97928A"/>
                </a:solidFill>
                <a:latin typeface="Courier New" pitchFamily="34" charset="0"/>
                <a:ea typeface="Courier New" pitchFamily="34" charset="-122"/>
                <a:cs typeface="Courier New" pitchFamily="34" charset="-120"/>
              </a:rPr>
              <a:t>03 / 27</a:t>
            </a:r>
            <a:endParaRPr lang="en-US" sz="1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2303A"/>
        </a:solidFill>
        <a:effectLst/>
      </p:bgPr>
    </p:bg>
    <p:spTree>
      <p:nvGrpSpPr>
        <p:cNvPr id="1" name=""/>
        <p:cNvGrpSpPr/>
        <p:nvPr/>
      </p:nvGrpSpPr>
      <p:grpSpPr>
        <a:xfrm>
          <a:off x="0" y="0"/>
          <a:ext cx="0" cy="0"/>
          <a:chOff x="0" y="0"/>
          <a:chExt cx="0" cy="0"/>
        </a:xfrm>
      </p:grpSpPr>
      <p:sp>
        <p:nvSpPr>
          <p:cNvPr id="2" name="Text 0"/>
          <p:cNvSpPr/>
          <p:nvPr/>
        </p:nvSpPr>
        <p:spPr>
          <a:xfrm>
            <a:off x="1257300" y="3234333"/>
            <a:ext cx="17350740" cy="431800"/>
          </a:xfrm>
          <a:prstGeom prst="rect">
            <a:avLst/>
          </a:prstGeom>
          <a:noFill/>
          <a:ln/>
        </p:spPr>
        <p:txBody>
          <a:bodyPr wrap="square" lIns="25400" tIns="25400" rIns="25400" bIns="25400" rtlCol="0" anchor="t">
            <a:normAutofit/>
          </a:bodyPr>
          <a:lstStyle/>
          <a:p>
            <a:pPr marL="0" indent="0" algn="l">
              <a:buNone/>
            </a:pPr>
            <a:r>
              <a:rPr lang="en-US" sz="2400" kern="0" spc="384" dirty="0">
                <a:solidFill>
                  <a:srgbClr val="CC7159"/>
                </a:solidFill>
                <a:latin typeface="Courier New" pitchFamily="34" charset="0"/>
                <a:ea typeface="Courier New" pitchFamily="34" charset="-122"/>
                <a:cs typeface="Courier New" pitchFamily="34" charset="-120"/>
              </a:rPr>
              <a:t>PART 1</a:t>
            </a:r>
            <a:endParaRPr lang="en-US" sz="2400" dirty="0"/>
          </a:p>
        </p:txBody>
      </p:sp>
      <p:sp>
        <p:nvSpPr>
          <p:cNvPr id="3" name="Text 1"/>
          <p:cNvSpPr/>
          <p:nvPr/>
        </p:nvSpPr>
        <p:spPr>
          <a:xfrm>
            <a:off x="1257300" y="3875683"/>
            <a:ext cx="17350740" cy="802382"/>
          </a:xfrm>
          <a:prstGeom prst="rect">
            <a:avLst/>
          </a:prstGeom>
          <a:noFill/>
          <a:ln/>
        </p:spPr>
        <p:txBody>
          <a:bodyPr wrap="square" lIns="25400" tIns="25400" rIns="25400" bIns="25400" rtlCol="0" anchor="t">
            <a:normAutofit/>
          </a:bodyPr>
          <a:lstStyle/>
          <a:p>
            <a:pPr marL="0" indent="0" algn="l">
              <a:lnSpc>
                <a:spcPct val="118000"/>
              </a:lnSpc>
              <a:buNone/>
            </a:pPr>
            <a:r>
              <a:rPr lang="en-US" sz="5100" b="1" dirty="0">
                <a:solidFill>
                  <a:srgbClr val="F4F1EA"/>
                </a:solidFill>
                <a:latin typeface="Arial" pitchFamily="34" charset="0"/>
                <a:ea typeface="Arial" pitchFamily="34" charset="-122"/>
                <a:cs typeface="Arial" pitchFamily="34" charset="-120"/>
              </a:rPr>
              <a:t>規範と事案</a:t>
            </a:r>
            <a:endParaRPr lang="en-US" sz="5100" dirty="0"/>
          </a:p>
        </p:txBody>
      </p:sp>
      <p:sp>
        <p:nvSpPr>
          <p:cNvPr id="4" name="Shape 2"/>
          <p:cNvSpPr/>
          <p:nvPr/>
        </p:nvSpPr>
        <p:spPr>
          <a:xfrm>
            <a:off x="1257300" y="4963815"/>
            <a:ext cx="876300" cy="47625"/>
          </a:xfrm>
          <a:prstGeom prst="rect">
            <a:avLst/>
          </a:prstGeom>
          <a:solidFill>
            <a:srgbClr val="B0573F"/>
          </a:solidFill>
          <a:ln/>
        </p:spPr>
      </p:sp>
      <p:sp>
        <p:nvSpPr>
          <p:cNvPr id="5" name="Text 3"/>
          <p:cNvSpPr/>
          <p:nvPr/>
        </p:nvSpPr>
        <p:spPr>
          <a:xfrm>
            <a:off x="1257300" y="5297190"/>
            <a:ext cx="11969115" cy="1012428"/>
          </a:xfrm>
          <a:prstGeom prst="rect">
            <a:avLst/>
          </a:prstGeom>
          <a:noFill/>
          <a:ln/>
        </p:spPr>
        <p:txBody>
          <a:bodyPr wrap="square" lIns="25400" tIns="25400" rIns="25400" bIns="25400" rtlCol="0" anchor="t">
            <a:normAutofit/>
          </a:bodyPr>
          <a:lstStyle/>
          <a:p>
            <a:pPr marL="0" indent="0" algn="l">
              <a:lnSpc>
                <a:spcPct val="155000"/>
              </a:lnSpc>
              <a:buNone/>
            </a:pPr>
            <a:r>
              <a:rPr lang="en-US" sz="2475" dirty="0">
                <a:solidFill>
                  <a:srgbClr val="B9C0C5"/>
                </a:solidFill>
                <a:latin typeface="Arial" pitchFamily="34" charset="0"/>
                <a:ea typeface="Arial" pitchFamily="34" charset="-122"/>
                <a:cs typeface="Arial" pitchFamily="34" charset="-120"/>
              </a:rPr>
              <a:t>企業結合規制の枠組み、独占禁止法第10条の規範と当てはめ、本件の取引スキーム、そして審査のファネルを概観する。</a:t>
            </a:r>
            <a:endParaRPr lang="en-US" sz="2475" dirty="0"/>
          </a:p>
        </p:txBody>
      </p:sp>
      <p:sp>
        <p:nvSpPr>
          <p:cNvPr id="6" name="Text 4"/>
          <p:cNvSpPr/>
          <p:nvPr/>
        </p:nvSpPr>
        <p:spPr>
          <a:xfrm>
            <a:off x="1257300" y="6728718"/>
            <a:ext cx="1852444" cy="361950"/>
          </a:xfrm>
          <a:prstGeom prst="rect">
            <a:avLst/>
          </a:prstGeom>
          <a:noFill/>
          <a:ln/>
        </p:spPr>
        <p:txBody>
          <a:bodyPr wrap="square" lIns="25400" tIns="25400" rIns="25400" bIns="25400" rtlCol="0" anchor="t">
            <a:normAutofit/>
          </a:bodyPr>
          <a:lstStyle/>
          <a:p>
            <a:pPr marL="0" indent="0" algn="l">
              <a:buNone/>
            </a:pPr>
            <a:r>
              <a:rPr lang="en-US" sz="1950" dirty="0">
                <a:solidFill>
                  <a:srgbClr val="8B949A"/>
                </a:solidFill>
                <a:latin typeface="Courier New" pitchFamily="34" charset="0"/>
                <a:ea typeface="Courier New" pitchFamily="34" charset="-122"/>
                <a:cs typeface="Courier New" pitchFamily="34" charset="-120"/>
              </a:rPr>
              <a:t>05 規制の性質</a:t>
            </a:r>
            <a:endParaRPr lang="en-US" sz="1950" dirty="0"/>
          </a:p>
        </p:txBody>
      </p:sp>
      <p:sp>
        <p:nvSpPr>
          <p:cNvPr id="7" name="Text 5"/>
          <p:cNvSpPr/>
          <p:nvPr/>
        </p:nvSpPr>
        <p:spPr>
          <a:xfrm>
            <a:off x="3093740" y="6728718"/>
            <a:ext cx="224830" cy="361950"/>
          </a:xfrm>
          <a:prstGeom prst="rect">
            <a:avLst/>
          </a:prstGeom>
          <a:noFill/>
          <a:ln/>
        </p:spPr>
        <p:txBody>
          <a:bodyPr wrap="square" lIns="25400" tIns="25400" rIns="25400" bIns="25400" rtlCol="0" anchor="t">
            <a:normAutofit/>
          </a:bodyPr>
          <a:lstStyle/>
          <a:p>
            <a:pPr marL="0" indent="0" algn="l">
              <a:buNone/>
            </a:pPr>
            <a:r>
              <a:rPr lang="en-US" sz="1950" dirty="0">
                <a:solidFill>
                  <a:srgbClr val="8B949A">
                    <a:alpha val="40000"/>
                  </a:srgbClr>
                </a:solidFill>
                <a:latin typeface="Courier New" pitchFamily="34" charset="0"/>
                <a:ea typeface="Courier New" pitchFamily="34" charset="-122"/>
                <a:cs typeface="Courier New" pitchFamily="34" charset="-120"/>
              </a:rPr>
              <a:t>/</a:t>
            </a:r>
            <a:endParaRPr lang="en-US" sz="1950" dirty="0"/>
          </a:p>
        </p:txBody>
      </p:sp>
      <p:sp>
        <p:nvSpPr>
          <p:cNvPr id="8" name="Text 6"/>
          <p:cNvSpPr/>
          <p:nvPr/>
        </p:nvSpPr>
        <p:spPr>
          <a:xfrm>
            <a:off x="3394770" y="6728718"/>
            <a:ext cx="2124859" cy="361950"/>
          </a:xfrm>
          <a:prstGeom prst="rect">
            <a:avLst/>
          </a:prstGeom>
          <a:noFill/>
          <a:ln/>
        </p:spPr>
        <p:txBody>
          <a:bodyPr wrap="square" lIns="25400" tIns="25400" rIns="25400" bIns="25400" rtlCol="0" anchor="t">
            <a:normAutofit/>
          </a:bodyPr>
          <a:lstStyle/>
          <a:p>
            <a:pPr marL="0" indent="0" algn="l">
              <a:buNone/>
            </a:pPr>
            <a:r>
              <a:rPr lang="en-US" sz="1950" dirty="0">
                <a:solidFill>
                  <a:srgbClr val="8B949A"/>
                </a:solidFill>
                <a:latin typeface="Courier New" pitchFamily="34" charset="0"/>
                <a:ea typeface="Courier New" pitchFamily="34" charset="-122"/>
                <a:cs typeface="Courier New" pitchFamily="34" charset="-120"/>
              </a:rPr>
              <a:t>06 三段階の審査</a:t>
            </a:r>
            <a:endParaRPr lang="en-US" sz="1950" dirty="0"/>
          </a:p>
        </p:txBody>
      </p:sp>
      <p:sp>
        <p:nvSpPr>
          <p:cNvPr id="9" name="Text 7"/>
          <p:cNvSpPr/>
          <p:nvPr/>
        </p:nvSpPr>
        <p:spPr>
          <a:xfrm>
            <a:off x="5478860" y="6728718"/>
            <a:ext cx="224830" cy="361950"/>
          </a:xfrm>
          <a:prstGeom prst="rect">
            <a:avLst/>
          </a:prstGeom>
          <a:noFill/>
          <a:ln/>
        </p:spPr>
        <p:txBody>
          <a:bodyPr wrap="square" lIns="25400" tIns="25400" rIns="25400" bIns="25400" rtlCol="0" anchor="t">
            <a:normAutofit/>
          </a:bodyPr>
          <a:lstStyle/>
          <a:p>
            <a:pPr marL="0" indent="0" algn="l">
              <a:buNone/>
            </a:pPr>
            <a:r>
              <a:rPr lang="en-US" sz="1950" dirty="0">
                <a:solidFill>
                  <a:srgbClr val="8B949A">
                    <a:alpha val="40000"/>
                  </a:srgbClr>
                </a:solidFill>
                <a:latin typeface="Courier New" pitchFamily="34" charset="0"/>
                <a:ea typeface="Courier New" pitchFamily="34" charset="-122"/>
                <a:cs typeface="Courier New" pitchFamily="34" charset="-120"/>
              </a:rPr>
              <a:t>/</a:t>
            </a:r>
            <a:endParaRPr lang="en-US" sz="1950" dirty="0"/>
          </a:p>
        </p:txBody>
      </p:sp>
      <p:sp>
        <p:nvSpPr>
          <p:cNvPr id="10" name="Text 8"/>
          <p:cNvSpPr/>
          <p:nvPr/>
        </p:nvSpPr>
        <p:spPr>
          <a:xfrm>
            <a:off x="5779889" y="6728718"/>
            <a:ext cx="2397274" cy="361950"/>
          </a:xfrm>
          <a:prstGeom prst="rect">
            <a:avLst/>
          </a:prstGeom>
          <a:noFill/>
          <a:ln/>
        </p:spPr>
        <p:txBody>
          <a:bodyPr wrap="square" lIns="25400" tIns="25400" rIns="25400" bIns="25400" rtlCol="0" anchor="t">
            <a:normAutofit/>
          </a:bodyPr>
          <a:lstStyle/>
          <a:p>
            <a:pPr marL="0" indent="0" algn="l">
              <a:buNone/>
            </a:pPr>
            <a:r>
              <a:rPr lang="en-US" sz="1950" dirty="0">
                <a:solidFill>
                  <a:srgbClr val="8B949A"/>
                </a:solidFill>
                <a:latin typeface="Courier New" pitchFamily="34" charset="0"/>
                <a:ea typeface="Courier New" pitchFamily="34" charset="-122"/>
                <a:cs typeface="Courier New" pitchFamily="34" charset="-120"/>
              </a:rPr>
              <a:t>07 規範と当てはめ</a:t>
            </a:r>
            <a:endParaRPr lang="en-US" sz="1950" dirty="0"/>
          </a:p>
        </p:txBody>
      </p:sp>
      <p:sp>
        <p:nvSpPr>
          <p:cNvPr id="11" name="Text 9"/>
          <p:cNvSpPr/>
          <p:nvPr/>
        </p:nvSpPr>
        <p:spPr>
          <a:xfrm>
            <a:off x="8111629" y="6728718"/>
            <a:ext cx="224830" cy="361950"/>
          </a:xfrm>
          <a:prstGeom prst="rect">
            <a:avLst/>
          </a:prstGeom>
          <a:noFill/>
          <a:ln/>
        </p:spPr>
        <p:txBody>
          <a:bodyPr wrap="square" lIns="25400" tIns="25400" rIns="25400" bIns="25400" rtlCol="0" anchor="t">
            <a:normAutofit/>
          </a:bodyPr>
          <a:lstStyle/>
          <a:p>
            <a:pPr marL="0" indent="0" algn="l">
              <a:buNone/>
            </a:pPr>
            <a:r>
              <a:rPr lang="en-US" sz="1950" dirty="0">
                <a:solidFill>
                  <a:srgbClr val="8B949A">
                    <a:alpha val="40000"/>
                  </a:srgbClr>
                </a:solidFill>
                <a:latin typeface="Courier New" pitchFamily="34" charset="0"/>
                <a:ea typeface="Courier New" pitchFamily="34" charset="-122"/>
                <a:cs typeface="Courier New" pitchFamily="34" charset="-120"/>
              </a:rPr>
              <a:t>/</a:t>
            </a:r>
            <a:endParaRPr lang="en-US" sz="1950" dirty="0"/>
          </a:p>
        </p:txBody>
      </p:sp>
      <p:sp>
        <p:nvSpPr>
          <p:cNvPr id="12" name="Text 10"/>
          <p:cNvSpPr/>
          <p:nvPr/>
        </p:nvSpPr>
        <p:spPr>
          <a:xfrm>
            <a:off x="8412659" y="6728718"/>
            <a:ext cx="2124859" cy="361950"/>
          </a:xfrm>
          <a:prstGeom prst="rect">
            <a:avLst/>
          </a:prstGeom>
          <a:noFill/>
          <a:ln/>
        </p:spPr>
        <p:txBody>
          <a:bodyPr wrap="square" lIns="25400" tIns="25400" rIns="25400" bIns="25400" rtlCol="0" anchor="t">
            <a:normAutofit/>
          </a:bodyPr>
          <a:lstStyle/>
          <a:p>
            <a:pPr marL="0" indent="0" algn="l">
              <a:buNone/>
            </a:pPr>
            <a:r>
              <a:rPr lang="en-US" sz="1950" dirty="0">
                <a:solidFill>
                  <a:srgbClr val="8B949A"/>
                </a:solidFill>
                <a:latin typeface="Courier New" pitchFamily="34" charset="0"/>
                <a:ea typeface="Courier New" pitchFamily="34" charset="-122"/>
                <a:cs typeface="Courier New" pitchFamily="34" charset="-120"/>
              </a:rPr>
              <a:t>08 取引スキーム</a:t>
            </a:r>
            <a:endParaRPr lang="en-US" sz="1950" dirty="0"/>
          </a:p>
        </p:txBody>
      </p:sp>
      <p:sp>
        <p:nvSpPr>
          <p:cNvPr id="13" name="Text 11"/>
          <p:cNvSpPr/>
          <p:nvPr/>
        </p:nvSpPr>
        <p:spPr>
          <a:xfrm>
            <a:off x="10496749" y="6728718"/>
            <a:ext cx="224830" cy="361950"/>
          </a:xfrm>
          <a:prstGeom prst="rect">
            <a:avLst/>
          </a:prstGeom>
          <a:noFill/>
          <a:ln/>
        </p:spPr>
        <p:txBody>
          <a:bodyPr wrap="square" lIns="25400" tIns="25400" rIns="25400" bIns="25400" rtlCol="0" anchor="t">
            <a:normAutofit/>
          </a:bodyPr>
          <a:lstStyle/>
          <a:p>
            <a:pPr marL="0" indent="0" algn="l">
              <a:buNone/>
            </a:pPr>
            <a:r>
              <a:rPr lang="en-US" sz="1950" dirty="0">
                <a:solidFill>
                  <a:srgbClr val="8B949A">
                    <a:alpha val="40000"/>
                  </a:srgbClr>
                </a:solidFill>
                <a:latin typeface="Courier New" pitchFamily="34" charset="0"/>
                <a:ea typeface="Courier New" pitchFamily="34" charset="-122"/>
                <a:cs typeface="Courier New" pitchFamily="34" charset="-120"/>
              </a:rPr>
              <a:t>/</a:t>
            </a:r>
            <a:endParaRPr lang="en-US" sz="1950" dirty="0"/>
          </a:p>
        </p:txBody>
      </p:sp>
      <p:sp>
        <p:nvSpPr>
          <p:cNvPr id="14" name="Text 12"/>
          <p:cNvSpPr/>
          <p:nvPr/>
        </p:nvSpPr>
        <p:spPr>
          <a:xfrm>
            <a:off x="10797778" y="6728718"/>
            <a:ext cx="2397274" cy="361950"/>
          </a:xfrm>
          <a:prstGeom prst="rect">
            <a:avLst/>
          </a:prstGeom>
          <a:noFill/>
          <a:ln/>
        </p:spPr>
        <p:txBody>
          <a:bodyPr wrap="square" lIns="25400" tIns="25400" rIns="25400" bIns="25400" rtlCol="0" anchor="t">
            <a:normAutofit/>
          </a:bodyPr>
          <a:lstStyle/>
          <a:p>
            <a:pPr marL="0" indent="0" algn="l">
              <a:buNone/>
            </a:pPr>
            <a:r>
              <a:rPr lang="en-US" sz="1950" dirty="0">
                <a:solidFill>
                  <a:srgbClr val="8B949A"/>
                </a:solidFill>
                <a:latin typeface="Courier New" pitchFamily="34" charset="0"/>
                <a:ea typeface="Courier New" pitchFamily="34" charset="-122"/>
                <a:cs typeface="Courier New" pitchFamily="34" charset="-120"/>
              </a:rPr>
              <a:t>09 審査のファネル</a:t>
            </a:r>
            <a:endParaRPr lang="en-US" sz="1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2"/>
        </a:solidFill>
        <a:effectLst/>
      </p:bgPr>
    </p:bg>
    <p:spTree>
      <p:nvGrpSpPr>
        <p:cNvPr id="1" name=""/>
        <p:cNvGrpSpPr/>
        <p:nvPr/>
      </p:nvGrpSpPr>
      <p:grpSpPr>
        <a:xfrm>
          <a:off x="0" y="0"/>
          <a:ext cx="0" cy="0"/>
          <a:chOff x="0" y="0"/>
          <a:chExt cx="0" cy="0"/>
        </a:xfrm>
      </p:grpSpPr>
      <p:sp>
        <p:nvSpPr>
          <p:cNvPr id="2" name="Shape 0"/>
          <p:cNvSpPr/>
          <p:nvPr/>
        </p:nvSpPr>
        <p:spPr>
          <a:xfrm>
            <a:off x="1028700" y="801688"/>
            <a:ext cx="304800" cy="28575"/>
          </a:xfrm>
          <a:prstGeom prst="rect">
            <a:avLst/>
          </a:prstGeom>
          <a:solidFill>
            <a:srgbClr val="9A4A38"/>
          </a:solidFill>
          <a:ln/>
        </p:spPr>
      </p:sp>
      <p:sp>
        <p:nvSpPr>
          <p:cNvPr id="3" name="Text 1"/>
          <p:cNvSpPr/>
          <p:nvPr/>
        </p:nvSpPr>
        <p:spPr>
          <a:xfrm>
            <a:off x="1466850" y="628650"/>
            <a:ext cx="2679075" cy="412750"/>
          </a:xfrm>
          <a:prstGeom prst="rect">
            <a:avLst/>
          </a:prstGeom>
          <a:noFill/>
          <a:ln/>
        </p:spPr>
        <p:txBody>
          <a:bodyPr wrap="square" lIns="25400" tIns="25400" rIns="25400" bIns="25400" rtlCol="0" anchor="t">
            <a:normAutofit/>
          </a:bodyPr>
          <a:lstStyle/>
          <a:p>
            <a:pPr marL="0" indent="0" algn="l">
              <a:buNone/>
            </a:pPr>
            <a:r>
              <a:rPr lang="en-US" sz="2025" kern="0" spc="203" dirty="0">
                <a:solidFill>
                  <a:srgbClr val="5A6470"/>
                </a:solidFill>
                <a:latin typeface="Arial" pitchFamily="34" charset="0"/>
                <a:ea typeface="Arial" pitchFamily="34" charset="-122"/>
                <a:cs typeface="Arial" pitchFamily="34" charset="-120"/>
              </a:rPr>
              <a:t>第1部 規範と事案</a:t>
            </a:r>
            <a:endParaRPr lang="en-US" sz="2025" dirty="0"/>
          </a:p>
        </p:txBody>
      </p:sp>
      <p:sp>
        <p:nvSpPr>
          <p:cNvPr id="4" name="Text 2"/>
          <p:cNvSpPr/>
          <p:nvPr/>
        </p:nvSpPr>
        <p:spPr>
          <a:xfrm>
            <a:off x="1028700" y="1174750"/>
            <a:ext cx="17853660" cy="624384"/>
          </a:xfrm>
          <a:prstGeom prst="rect">
            <a:avLst/>
          </a:prstGeom>
          <a:noFill/>
          <a:ln/>
        </p:spPr>
        <p:txBody>
          <a:bodyPr wrap="square" lIns="25400" tIns="25400" rIns="25400" bIns="25400" rtlCol="0" anchor="t">
            <a:normAutofit/>
          </a:bodyPr>
          <a:lstStyle/>
          <a:p>
            <a:pPr marL="0" indent="0" algn="l">
              <a:lnSpc>
                <a:spcPct val="114000"/>
              </a:lnSpc>
              <a:buNone/>
            </a:pPr>
            <a:r>
              <a:rPr lang="en-US" sz="4050" b="1" dirty="0">
                <a:solidFill>
                  <a:srgbClr val="1F2730"/>
                </a:solidFill>
                <a:latin typeface="Arial" pitchFamily="34" charset="0"/>
                <a:ea typeface="Arial" pitchFamily="34" charset="-122"/>
                <a:cs typeface="Arial" pitchFamily="34" charset="-120"/>
              </a:rPr>
              <a:t>規制の性質：行為 ではなく 構造</a:t>
            </a:r>
            <a:endParaRPr lang="en-US" sz="4050" dirty="0"/>
          </a:p>
        </p:txBody>
      </p:sp>
      <p:sp>
        <p:nvSpPr>
          <p:cNvPr id="5" name="Text 3"/>
          <p:cNvSpPr/>
          <p:nvPr/>
        </p:nvSpPr>
        <p:spPr>
          <a:xfrm>
            <a:off x="1028700" y="1894384"/>
            <a:ext cx="16344900" cy="519212"/>
          </a:xfrm>
          <a:prstGeom prst="rect">
            <a:avLst/>
          </a:prstGeom>
          <a:noFill/>
          <a:ln/>
        </p:spPr>
        <p:txBody>
          <a:bodyPr wrap="square" lIns="25400" tIns="25400" rIns="25400" bIns="25400" rtlCol="0" anchor="t">
            <a:normAutofit/>
          </a:bodyPr>
          <a:lstStyle/>
          <a:p>
            <a:pPr marL="0" indent="0" algn="l">
              <a:lnSpc>
                <a:spcPct val="145000"/>
              </a:lnSpc>
              <a:buNone/>
            </a:pPr>
            <a:r>
              <a:rPr lang="en-US" sz="2475" dirty="0">
                <a:solidFill>
                  <a:srgbClr val="4A5560"/>
                </a:solidFill>
                <a:latin typeface="Arial" pitchFamily="34" charset="0"/>
                <a:ea typeface="Arial" pitchFamily="34" charset="-122"/>
                <a:cs typeface="Arial" pitchFamily="34" charset="-120"/>
              </a:rPr>
              <a:t>企業結合規制は、企業が一体化する「構造」そのものを</a:t>
            </a:r>
            <a:r>
              <a:rPr lang="en-US" sz="2475" b="1" dirty="0">
                <a:solidFill>
                  <a:srgbClr val="4A5560"/>
                </a:solidFill>
                <a:latin typeface="Arial" pitchFamily="34" charset="0"/>
                <a:ea typeface="Arial" pitchFamily="34" charset="-122"/>
                <a:cs typeface="Arial" pitchFamily="34" charset="-120"/>
              </a:rPr>
              <a:t>事前に</a:t>
            </a:r>
            <a:r>
              <a:rPr lang="en-US" sz="2475" dirty="0">
                <a:solidFill>
                  <a:srgbClr val="4A5560"/>
                </a:solidFill>
                <a:latin typeface="Arial" pitchFamily="34" charset="0"/>
                <a:ea typeface="Arial" pitchFamily="34" charset="-122"/>
                <a:cs typeface="Arial" pitchFamily="34" charset="-120"/>
              </a:rPr>
              <a:t>審査する。本件はここに属する。</a:t>
            </a:r>
            <a:endParaRPr lang="en-US" sz="2475" dirty="0"/>
          </a:p>
        </p:txBody>
      </p:sp>
      <p:sp>
        <p:nvSpPr>
          <p:cNvPr id="6" name="Shape 4"/>
          <p:cNvSpPr/>
          <p:nvPr/>
        </p:nvSpPr>
        <p:spPr>
          <a:xfrm>
            <a:off x="632322" y="2951972"/>
            <a:ext cx="7618512" cy="6463705"/>
          </a:xfrm>
          <a:prstGeom prst="roundRect">
            <a:avLst>
              <a:gd name="adj" fmla="val 1474"/>
            </a:avLst>
          </a:prstGeom>
          <a:solidFill>
            <a:srgbClr val="FFFFFF"/>
          </a:solidFill>
          <a:ln w="6350">
            <a:solidFill>
              <a:srgbClr val="E0DCD2"/>
            </a:solidFill>
            <a:prstDash val="solid"/>
          </a:ln>
        </p:spPr>
      </p:sp>
      <p:sp>
        <p:nvSpPr>
          <p:cNvPr id="7" name="Text 5"/>
          <p:cNvSpPr/>
          <p:nvPr/>
        </p:nvSpPr>
        <p:spPr>
          <a:xfrm>
            <a:off x="1416050" y="4799013"/>
            <a:ext cx="7528193" cy="425450"/>
          </a:xfrm>
          <a:prstGeom prst="rect">
            <a:avLst/>
          </a:prstGeom>
          <a:noFill/>
          <a:ln/>
        </p:spPr>
        <p:txBody>
          <a:bodyPr wrap="square" lIns="25400" tIns="25400" rIns="25400" bIns="25400" rtlCol="0" anchor="t">
            <a:normAutofit/>
          </a:bodyPr>
          <a:lstStyle/>
          <a:p>
            <a:pPr marL="0" indent="0" algn="l">
              <a:buNone/>
            </a:pPr>
            <a:r>
              <a:rPr lang="en-US" sz="2100" kern="0" spc="84" dirty="0">
                <a:solidFill>
                  <a:srgbClr val="5A6470"/>
                </a:solidFill>
                <a:latin typeface="Arial" pitchFamily="34" charset="0"/>
                <a:ea typeface="Arial" pitchFamily="34" charset="-122"/>
                <a:cs typeface="Arial" pitchFamily="34" charset="-120"/>
              </a:rPr>
              <a:t>行為規制（事後）</a:t>
            </a:r>
            <a:endParaRPr lang="en-US" sz="2100" dirty="0"/>
          </a:p>
        </p:txBody>
      </p:sp>
      <p:sp>
        <p:nvSpPr>
          <p:cNvPr id="8" name="Text 6"/>
          <p:cNvSpPr/>
          <p:nvPr/>
        </p:nvSpPr>
        <p:spPr>
          <a:xfrm>
            <a:off x="1416050" y="5357813"/>
            <a:ext cx="7528193" cy="481012"/>
          </a:xfrm>
          <a:prstGeom prst="rect">
            <a:avLst/>
          </a:prstGeom>
          <a:noFill/>
          <a:ln/>
        </p:spPr>
        <p:txBody>
          <a:bodyPr wrap="square" lIns="25400" tIns="25400" rIns="25400" bIns="25400" rtlCol="0" anchor="t">
            <a:normAutofit/>
          </a:bodyPr>
          <a:lstStyle/>
          <a:p>
            <a:pPr marL="0" indent="0" algn="l">
              <a:lnSpc>
                <a:spcPct val="150000"/>
              </a:lnSpc>
              <a:buNone/>
            </a:pPr>
            <a:r>
              <a:rPr lang="en-US" sz="2325" b="1" dirty="0">
                <a:solidFill>
                  <a:srgbClr val="1F2730"/>
                </a:solidFill>
                <a:latin typeface="Arial" pitchFamily="34" charset="0"/>
                <a:ea typeface="Arial" pitchFamily="34" charset="-122"/>
                <a:cs typeface="Arial" pitchFamily="34" charset="-120"/>
              </a:rPr>
              <a:t>私的独占／不当な取引制限／不公正な取引方法</a:t>
            </a:r>
            <a:endParaRPr lang="en-US" sz="2325" dirty="0"/>
          </a:p>
        </p:txBody>
      </p:sp>
      <p:sp>
        <p:nvSpPr>
          <p:cNvPr id="9" name="Text 7"/>
          <p:cNvSpPr/>
          <p:nvPr/>
        </p:nvSpPr>
        <p:spPr>
          <a:xfrm>
            <a:off x="1416050" y="5991225"/>
            <a:ext cx="7049126" cy="919758"/>
          </a:xfrm>
          <a:prstGeom prst="rect">
            <a:avLst/>
          </a:prstGeom>
          <a:noFill/>
          <a:ln/>
        </p:spPr>
        <p:txBody>
          <a:bodyPr wrap="square" lIns="25400" tIns="25400" rIns="25400" bIns="25400" rtlCol="0" anchor="t">
            <a:normAutofit/>
          </a:bodyPr>
          <a:lstStyle/>
          <a:p>
            <a:pPr marL="0" indent="0" algn="l">
              <a:lnSpc>
                <a:spcPct val="155000"/>
              </a:lnSpc>
              <a:buNone/>
            </a:pPr>
            <a:r>
              <a:rPr lang="en-US" sz="2175" dirty="0" err="1">
                <a:solidFill>
                  <a:srgbClr val="5A6470"/>
                </a:solidFill>
                <a:latin typeface="Arial" pitchFamily="34" charset="0"/>
                <a:ea typeface="Arial" pitchFamily="34" charset="-122"/>
                <a:cs typeface="Arial" pitchFamily="34" charset="-120"/>
              </a:rPr>
              <a:t>市場での「行為」を事後に規制する</a:t>
            </a:r>
            <a:r>
              <a:rPr lang="en-US" sz="2175" dirty="0">
                <a:solidFill>
                  <a:srgbClr val="5A6470"/>
                </a:solidFill>
                <a:latin typeface="Arial" pitchFamily="34" charset="0"/>
                <a:ea typeface="Arial" pitchFamily="34" charset="-122"/>
                <a:cs typeface="Arial" pitchFamily="34" charset="-120"/>
              </a:rPr>
              <a:t>。</a:t>
            </a:r>
            <a:endParaRPr lang="en-US" sz="2175" dirty="0"/>
          </a:p>
        </p:txBody>
      </p:sp>
      <p:sp>
        <p:nvSpPr>
          <p:cNvPr id="10" name="Text 8"/>
          <p:cNvSpPr/>
          <p:nvPr/>
        </p:nvSpPr>
        <p:spPr>
          <a:xfrm>
            <a:off x="8990112" y="2604095"/>
            <a:ext cx="396577" cy="6501805"/>
          </a:xfrm>
          <a:prstGeom prst="rect">
            <a:avLst/>
          </a:prstGeom>
          <a:noFill/>
          <a:ln/>
        </p:spPr>
        <p:txBody>
          <a:bodyPr wrap="square" lIns="25400" tIns="25400" rIns="25400" bIns="25400" rtlCol="0" anchor="ctr">
            <a:normAutofit/>
          </a:bodyPr>
          <a:lstStyle/>
          <a:p>
            <a:pPr marL="0" indent="0" algn="l">
              <a:buNone/>
            </a:pPr>
            <a:r>
              <a:rPr lang="en-US" sz="2550" dirty="0">
                <a:solidFill>
                  <a:srgbClr val="B6AFA2"/>
                </a:solidFill>
                <a:latin typeface="Arial" pitchFamily="34" charset="0"/>
                <a:ea typeface="Arial" pitchFamily="34" charset="-122"/>
                <a:cs typeface="Arial" pitchFamily="34" charset="-120"/>
              </a:rPr>
              <a:t>vs</a:t>
            </a:r>
            <a:endParaRPr lang="en-US" sz="2550" dirty="0"/>
          </a:p>
        </p:txBody>
      </p:sp>
      <p:sp>
        <p:nvSpPr>
          <p:cNvPr id="11" name="Shape 9"/>
          <p:cNvSpPr/>
          <p:nvPr/>
        </p:nvSpPr>
        <p:spPr>
          <a:xfrm>
            <a:off x="9653389" y="2604095"/>
            <a:ext cx="7605911" cy="6463705"/>
          </a:xfrm>
          <a:prstGeom prst="roundRect">
            <a:avLst>
              <a:gd name="adj" fmla="val 1474"/>
            </a:avLst>
          </a:prstGeom>
          <a:solidFill>
            <a:srgbClr val="2E3B45"/>
          </a:solidFill>
          <a:ln/>
        </p:spPr>
      </p:sp>
      <p:sp>
        <p:nvSpPr>
          <p:cNvPr id="12" name="Text 10"/>
          <p:cNvSpPr/>
          <p:nvPr/>
        </p:nvSpPr>
        <p:spPr>
          <a:xfrm>
            <a:off x="10034390" y="4799013"/>
            <a:ext cx="2440930" cy="425450"/>
          </a:xfrm>
          <a:prstGeom prst="rect">
            <a:avLst/>
          </a:prstGeom>
          <a:noFill/>
          <a:ln/>
        </p:spPr>
        <p:txBody>
          <a:bodyPr wrap="square" lIns="25400" tIns="25400" rIns="25400" bIns="25400" rtlCol="0" anchor="t">
            <a:normAutofit/>
          </a:bodyPr>
          <a:lstStyle/>
          <a:p>
            <a:pPr marL="0" indent="0" algn="l">
              <a:buNone/>
            </a:pPr>
            <a:r>
              <a:rPr lang="en-US" sz="2100" kern="0" spc="84" dirty="0">
                <a:solidFill>
                  <a:srgbClr val="E2B4A4"/>
                </a:solidFill>
                <a:latin typeface="Arial" pitchFamily="34" charset="0"/>
                <a:ea typeface="Arial" pitchFamily="34" charset="-122"/>
                <a:cs typeface="Arial" pitchFamily="34" charset="-120"/>
              </a:rPr>
              <a:t>構造規制（事前）</a:t>
            </a:r>
            <a:endParaRPr lang="en-US" sz="2100" dirty="0"/>
          </a:p>
        </p:txBody>
      </p:sp>
      <p:sp>
        <p:nvSpPr>
          <p:cNvPr id="13" name="Shape 11"/>
          <p:cNvSpPr/>
          <p:nvPr/>
        </p:nvSpPr>
        <p:spPr>
          <a:xfrm>
            <a:off x="12386767" y="4783138"/>
            <a:ext cx="736600" cy="419100"/>
          </a:xfrm>
          <a:prstGeom prst="roundRect">
            <a:avLst>
              <a:gd name="adj" fmla="val 36364"/>
            </a:avLst>
          </a:prstGeom>
          <a:solidFill>
            <a:srgbClr val="CC7159">
              <a:alpha val="20000"/>
            </a:srgbClr>
          </a:solidFill>
          <a:ln w="6350">
            <a:solidFill>
              <a:srgbClr val="CC7159">
                <a:alpha val="55000"/>
              </a:srgbClr>
            </a:solidFill>
            <a:prstDash val="solid"/>
          </a:ln>
        </p:spPr>
      </p:sp>
      <p:sp>
        <p:nvSpPr>
          <p:cNvPr id="14" name="Text 12"/>
          <p:cNvSpPr/>
          <p:nvPr/>
        </p:nvSpPr>
        <p:spPr>
          <a:xfrm>
            <a:off x="12526467" y="4827588"/>
            <a:ext cx="533400" cy="368300"/>
          </a:xfrm>
          <a:prstGeom prst="rect">
            <a:avLst/>
          </a:prstGeom>
          <a:noFill/>
          <a:ln/>
        </p:spPr>
        <p:txBody>
          <a:bodyPr wrap="square" lIns="25400" tIns="25400" rIns="25400" bIns="25400" rtlCol="0" anchor="t">
            <a:normAutofit/>
          </a:bodyPr>
          <a:lstStyle/>
          <a:p>
            <a:pPr marL="0" indent="0" algn="l">
              <a:buNone/>
            </a:pPr>
            <a:r>
              <a:rPr lang="en-US" sz="1800" dirty="0">
                <a:solidFill>
                  <a:srgbClr val="E9C7BD"/>
                </a:solidFill>
                <a:latin typeface="Arial" pitchFamily="34" charset="0"/>
                <a:ea typeface="Arial" pitchFamily="34" charset="-122"/>
                <a:cs typeface="Arial" pitchFamily="34" charset="-120"/>
              </a:rPr>
              <a:t>本件</a:t>
            </a:r>
            <a:endParaRPr lang="en-US" sz="1800" dirty="0"/>
          </a:p>
        </p:txBody>
      </p:sp>
      <p:sp>
        <p:nvSpPr>
          <p:cNvPr id="15" name="Text 13"/>
          <p:cNvSpPr/>
          <p:nvPr/>
        </p:nvSpPr>
        <p:spPr>
          <a:xfrm>
            <a:off x="10034390" y="5373688"/>
            <a:ext cx="7528302" cy="481012"/>
          </a:xfrm>
          <a:prstGeom prst="rect">
            <a:avLst/>
          </a:prstGeom>
          <a:noFill/>
          <a:ln/>
        </p:spPr>
        <p:txBody>
          <a:bodyPr wrap="square" lIns="25400" tIns="25400" rIns="25400" bIns="25400" rtlCol="0" anchor="t">
            <a:normAutofit/>
          </a:bodyPr>
          <a:lstStyle/>
          <a:p>
            <a:pPr marL="0" indent="0" algn="l">
              <a:lnSpc>
                <a:spcPct val="150000"/>
              </a:lnSpc>
              <a:buNone/>
            </a:pPr>
            <a:r>
              <a:rPr lang="en-US" sz="2325" b="1" dirty="0">
                <a:solidFill>
                  <a:srgbClr val="FFFFFF"/>
                </a:solidFill>
                <a:latin typeface="Arial" pitchFamily="34" charset="0"/>
                <a:ea typeface="Arial" pitchFamily="34" charset="-122"/>
                <a:cs typeface="Arial" pitchFamily="34" charset="-120"/>
              </a:rPr>
              <a:t>企業結合（株式取得・合併・分割 等）</a:t>
            </a:r>
            <a:endParaRPr lang="en-US" sz="2325" dirty="0"/>
          </a:p>
        </p:txBody>
      </p:sp>
      <p:sp>
        <p:nvSpPr>
          <p:cNvPr id="16" name="Text 14"/>
          <p:cNvSpPr/>
          <p:nvPr/>
        </p:nvSpPr>
        <p:spPr>
          <a:xfrm>
            <a:off x="10034390" y="6007100"/>
            <a:ext cx="7049229" cy="919758"/>
          </a:xfrm>
          <a:prstGeom prst="rect">
            <a:avLst/>
          </a:prstGeom>
          <a:noFill/>
          <a:ln/>
        </p:spPr>
        <p:txBody>
          <a:bodyPr wrap="square" lIns="25400" tIns="25400" rIns="25400" bIns="25400" rtlCol="0" anchor="t">
            <a:normAutofit/>
          </a:bodyPr>
          <a:lstStyle/>
          <a:p>
            <a:pPr marL="0" indent="0" algn="l">
              <a:lnSpc>
                <a:spcPct val="155000"/>
              </a:lnSpc>
              <a:buNone/>
            </a:pPr>
            <a:r>
              <a:rPr lang="en-US" sz="2175" dirty="0">
                <a:solidFill>
                  <a:srgbClr val="C6CCD0"/>
                </a:solidFill>
                <a:latin typeface="Arial" pitchFamily="34" charset="0"/>
                <a:ea typeface="Arial" pitchFamily="34" charset="-122"/>
                <a:cs typeface="Arial" pitchFamily="34" charset="-120"/>
              </a:rPr>
              <a:t>一体化という「構造」を事前に審査する。 争点は結合がもたらす </a:t>
            </a:r>
            <a:r>
              <a:rPr lang="en-US" sz="2175" b="1" dirty="0">
                <a:solidFill>
                  <a:srgbClr val="E2B4A4"/>
                </a:solidFill>
                <a:latin typeface="Arial" pitchFamily="34" charset="0"/>
                <a:ea typeface="Arial" pitchFamily="34" charset="-122"/>
                <a:cs typeface="Arial" pitchFamily="34" charset="-120"/>
              </a:rPr>
              <a:t>競争への効果</a:t>
            </a:r>
            <a:r>
              <a:rPr lang="en-US" sz="2175" dirty="0">
                <a:solidFill>
                  <a:srgbClr val="C6CCD0"/>
                </a:solidFill>
                <a:latin typeface="Arial" pitchFamily="34" charset="0"/>
                <a:ea typeface="Arial" pitchFamily="34" charset="-122"/>
                <a:cs typeface="Arial" pitchFamily="34" charset="-120"/>
              </a:rPr>
              <a:t>。</a:t>
            </a:r>
            <a:endParaRPr lang="en-US" sz="2175" dirty="0"/>
          </a:p>
        </p:txBody>
      </p:sp>
      <p:sp>
        <p:nvSpPr>
          <p:cNvPr id="17" name="Shape 15"/>
          <p:cNvSpPr/>
          <p:nvPr/>
        </p:nvSpPr>
        <p:spPr>
          <a:xfrm>
            <a:off x="1028700" y="9296400"/>
            <a:ext cx="16230600" cy="9525"/>
          </a:xfrm>
          <a:prstGeom prst="rect">
            <a:avLst/>
          </a:prstGeom>
          <a:solidFill>
            <a:srgbClr val="E4E0D7"/>
          </a:solidFill>
          <a:ln/>
        </p:spPr>
      </p:sp>
      <p:sp>
        <p:nvSpPr>
          <p:cNvPr id="18" name="Text 16"/>
          <p:cNvSpPr/>
          <p:nvPr/>
        </p:nvSpPr>
        <p:spPr>
          <a:xfrm>
            <a:off x="1028700" y="9455150"/>
            <a:ext cx="6976378" cy="393700"/>
          </a:xfrm>
          <a:prstGeom prst="rect">
            <a:avLst/>
          </a:prstGeom>
          <a:noFill/>
          <a:ln/>
        </p:spPr>
        <p:txBody>
          <a:bodyPr wrap="square" lIns="25400" tIns="25400" rIns="25400" bIns="25400" rtlCol="0" anchor="t">
            <a:normAutofit/>
          </a:bodyPr>
          <a:lstStyle/>
          <a:p>
            <a:pPr marL="0" indent="0" algn="l">
              <a:buNone/>
            </a:pPr>
            <a:r>
              <a:rPr lang="en-US" sz="1950" dirty="0">
                <a:solidFill>
                  <a:srgbClr val="97928A"/>
                </a:solidFill>
                <a:latin typeface="Arial" pitchFamily="34" charset="0"/>
                <a:ea typeface="Arial" pitchFamily="34" charset="-122"/>
                <a:cs typeface="Arial" pitchFamily="34" charset="-120"/>
              </a:rPr>
              <a:t>永田 稔人 ｜ 中里ゼミ（経済法） ｜ 2026年6月30日</a:t>
            </a:r>
            <a:endParaRPr lang="en-US" sz="1950" dirty="0"/>
          </a:p>
        </p:txBody>
      </p:sp>
      <p:sp>
        <p:nvSpPr>
          <p:cNvPr id="19" name="Text 17"/>
          <p:cNvSpPr/>
          <p:nvPr/>
        </p:nvSpPr>
        <p:spPr>
          <a:xfrm>
            <a:off x="16115109" y="9471025"/>
            <a:ext cx="1220391" cy="361950"/>
          </a:xfrm>
          <a:prstGeom prst="rect">
            <a:avLst/>
          </a:prstGeom>
          <a:noFill/>
          <a:ln/>
        </p:spPr>
        <p:txBody>
          <a:bodyPr wrap="square" lIns="25400" tIns="25400" rIns="25400" bIns="25400" rtlCol="0" anchor="t">
            <a:normAutofit/>
          </a:bodyPr>
          <a:lstStyle/>
          <a:p>
            <a:pPr marL="0" indent="0" algn="l">
              <a:buNone/>
            </a:pPr>
            <a:r>
              <a:rPr lang="en-US" sz="1950" kern="0" spc="117" dirty="0">
                <a:solidFill>
                  <a:srgbClr val="97928A"/>
                </a:solidFill>
                <a:latin typeface="Courier New" pitchFamily="34" charset="0"/>
                <a:ea typeface="Courier New" pitchFamily="34" charset="-122"/>
                <a:cs typeface="Courier New" pitchFamily="34" charset="-120"/>
              </a:rPr>
              <a:t>05 / 27</a:t>
            </a:r>
            <a:endParaRPr lang="en-US" sz="1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2"/>
        </a:solidFill>
        <a:effectLst/>
      </p:bgPr>
    </p:bg>
    <p:spTree>
      <p:nvGrpSpPr>
        <p:cNvPr id="1" name=""/>
        <p:cNvGrpSpPr/>
        <p:nvPr/>
      </p:nvGrpSpPr>
      <p:grpSpPr>
        <a:xfrm>
          <a:off x="0" y="0"/>
          <a:ext cx="0" cy="0"/>
          <a:chOff x="0" y="0"/>
          <a:chExt cx="0" cy="0"/>
        </a:xfrm>
      </p:grpSpPr>
      <p:sp>
        <p:nvSpPr>
          <p:cNvPr id="2" name="Shape 0"/>
          <p:cNvSpPr/>
          <p:nvPr/>
        </p:nvSpPr>
        <p:spPr>
          <a:xfrm>
            <a:off x="1028700" y="801688"/>
            <a:ext cx="304800" cy="28575"/>
          </a:xfrm>
          <a:prstGeom prst="rect">
            <a:avLst/>
          </a:prstGeom>
          <a:solidFill>
            <a:srgbClr val="9A4A38"/>
          </a:solidFill>
          <a:ln/>
        </p:spPr>
      </p:sp>
      <p:sp>
        <p:nvSpPr>
          <p:cNvPr id="3" name="Text 1"/>
          <p:cNvSpPr/>
          <p:nvPr/>
        </p:nvSpPr>
        <p:spPr>
          <a:xfrm>
            <a:off x="1466850" y="628650"/>
            <a:ext cx="2679075" cy="412750"/>
          </a:xfrm>
          <a:prstGeom prst="rect">
            <a:avLst/>
          </a:prstGeom>
          <a:noFill/>
          <a:ln/>
        </p:spPr>
        <p:txBody>
          <a:bodyPr wrap="square" lIns="25400" tIns="25400" rIns="25400" bIns="25400" rtlCol="0" anchor="t">
            <a:normAutofit/>
          </a:bodyPr>
          <a:lstStyle/>
          <a:p>
            <a:pPr marL="0" indent="0" algn="l">
              <a:buNone/>
            </a:pPr>
            <a:r>
              <a:rPr lang="en-US" sz="2025" kern="0" spc="203" dirty="0">
                <a:solidFill>
                  <a:srgbClr val="5A6470"/>
                </a:solidFill>
                <a:latin typeface="Arial" pitchFamily="34" charset="0"/>
                <a:ea typeface="Arial" pitchFamily="34" charset="-122"/>
                <a:cs typeface="Arial" pitchFamily="34" charset="-120"/>
              </a:rPr>
              <a:t>第1部 規範と事案</a:t>
            </a:r>
            <a:endParaRPr lang="en-US" sz="2025" dirty="0"/>
          </a:p>
        </p:txBody>
      </p:sp>
      <p:sp>
        <p:nvSpPr>
          <p:cNvPr id="4" name="Text 2"/>
          <p:cNvSpPr/>
          <p:nvPr/>
        </p:nvSpPr>
        <p:spPr>
          <a:xfrm>
            <a:off x="1028700" y="1174750"/>
            <a:ext cx="17853660" cy="624384"/>
          </a:xfrm>
          <a:prstGeom prst="rect">
            <a:avLst/>
          </a:prstGeom>
          <a:noFill/>
          <a:ln/>
        </p:spPr>
        <p:txBody>
          <a:bodyPr wrap="square" lIns="25400" tIns="25400" rIns="25400" bIns="25400" rtlCol="0" anchor="t">
            <a:normAutofit/>
          </a:bodyPr>
          <a:lstStyle/>
          <a:p>
            <a:pPr marL="0" indent="0" algn="l">
              <a:lnSpc>
                <a:spcPct val="114000"/>
              </a:lnSpc>
              <a:buNone/>
            </a:pPr>
            <a:r>
              <a:rPr lang="en-US" sz="4050" b="1" dirty="0">
                <a:solidFill>
                  <a:srgbClr val="1F2730"/>
                </a:solidFill>
                <a:latin typeface="Arial" pitchFamily="34" charset="0"/>
                <a:ea typeface="Arial" pitchFamily="34" charset="-122"/>
                <a:cs typeface="Arial" pitchFamily="34" charset="-120"/>
              </a:rPr>
              <a:t>三段階の審査とセーフハーバー</a:t>
            </a:r>
            <a:endParaRPr lang="en-US" sz="4050" dirty="0"/>
          </a:p>
        </p:txBody>
      </p:sp>
      <p:sp>
        <p:nvSpPr>
          <p:cNvPr id="5" name="Text 3"/>
          <p:cNvSpPr/>
          <p:nvPr/>
        </p:nvSpPr>
        <p:spPr>
          <a:xfrm>
            <a:off x="1028700" y="1894384"/>
            <a:ext cx="16344900" cy="493812"/>
          </a:xfrm>
          <a:prstGeom prst="rect">
            <a:avLst/>
          </a:prstGeom>
          <a:noFill/>
          <a:ln/>
        </p:spPr>
        <p:txBody>
          <a:bodyPr wrap="square" lIns="25400" tIns="25400" rIns="25400" bIns="25400" rtlCol="0" anchor="t">
            <a:normAutofit/>
          </a:bodyPr>
          <a:lstStyle/>
          <a:p>
            <a:pPr marL="0" indent="0" algn="l">
              <a:lnSpc>
                <a:spcPct val="145000"/>
              </a:lnSpc>
              <a:buNone/>
            </a:pPr>
            <a:r>
              <a:rPr lang="en-US" sz="2475" dirty="0">
                <a:solidFill>
                  <a:srgbClr val="4A5560"/>
                </a:solidFill>
                <a:latin typeface="Arial" pitchFamily="34" charset="0"/>
                <a:ea typeface="Arial" pitchFamily="34" charset="-122"/>
                <a:cs typeface="Arial" pitchFamily="34" charset="-120"/>
              </a:rPr>
              <a:t>市場画定 → 競争評価 → 問題解消措置。本件もこの順に審査された。</a:t>
            </a:r>
            <a:endParaRPr lang="en-US" sz="2475" dirty="0"/>
          </a:p>
        </p:txBody>
      </p:sp>
      <p:sp>
        <p:nvSpPr>
          <p:cNvPr id="6" name="Shape 4"/>
          <p:cNvSpPr/>
          <p:nvPr/>
        </p:nvSpPr>
        <p:spPr>
          <a:xfrm>
            <a:off x="1028700" y="4000798"/>
            <a:ext cx="4927600" cy="2832100"/>
          </a:xfrm>
          <a:prstGeom prst="roundRect">
            <a:avLst>
              <a:gd name="adj" fmla="val 3363"/>
            </a:avLst>
          </a:prstGeom>
          <a:solidFill>
            <a:srgbClr val="FFFFFF"/>
          </a:solidFill>
          <a:ln w="6350">
            <a:solidFill>
              <a:srgbClr val="E0DCD2"/>
            </a:solidFill>
            <a:prstDash val="solid"/>
          </a:ln>
        </p:spPr>
      </p:sp>
      <p:sp>
        <p:nvSpPr>
          <p:cNvPr id="7" name="Text 5"/>
          <p:cNvSpPr/>
          <p:nvPr/>
        </p:nvSpPr>
        <p:spPr>
          <a:xfrm>
            <a:off x="1339850" y="4292898"/>
            <a:ext cx="4735830" cy="387350"/>
          </a:xfrm>
          <a:prstGeom prst="rect">
            <a:avLst/>
          </a:prstGeom>
          <a:noFill/>
          <a:ln/>
        </p:spPr>
        <p:txBody>
          <a:bodyPr wrap="square" lIns="25400" tIns="25400" rIns="25400" bIns="25400" rtlCol="0" anchor="t">
            <a:normAutofit/>
          </a:bodyPr>
          <a:lstStyle/>
          <a:p>
            <a:pPr marL="0" indent="0" algn="l">
              <a:buNone/>
            </a:pPr>
            <a:r>
              <a:rPr lang="en-US" sz="2100" dirty="0">
                <a:solidFill>
                  <a:srgbClr val="9A4A38"/>
                </a:solidFill>
                <a:latin typeface="Courier New" pitchFamily="34" charset="0"/>
                <a:ea typeface="Courier New" pitchFamily="34" charset="-122"/>
                <a:cs typeface="Courier New" pitchFamily="34" charset="-120"/>
              </a:rPr>
              <a:t>STEP 1</a:t>
            </a:r>
            <a:endParaRPr lang="en-US" sz="2100" dirty="0"/>
          </a:p>
        </p:txBody>
      </p:sp>
      <p:sp>
        <p:nvSpPr>
          <p:cNvPr id="8" name="Text 6"/>
          <p:cNvSpPr/>
          <p:nvPr/>
        </p:nvSpPr>
        <p:spPr>
          <a:xfrm>
            <a:off x="1339850" y="4756448"/>
            <a:ext cx="4735830" cy="482600"/>
          </a:xfrm>
          <a:prstGeom prst="rect">
            <a:avLst/>
          </a:prstGeom>
          <a:noFill/>
          <a:ln/>
        </p:spPr>
        <p:txBody>
          <a:bodyPr wrap="square" lIns="25400" tIns="25400" rIns="25400" bIns="25400" rtlCol="0" anchor="t">
            <a:normAutofit/>
          </a:bodyPr>
          <a:lstStyle/>
          <a:p>
            <a:pPr marL="0" indent="0" algn="l">
              <a:buNone/>
            </a:pPr>
            <a:r>
              <a:rPr lang="en-US" sz="2400" b="1" dirty="0">
                <a:solidFill>
                  <a:srgbClr val="1F2730"/>
                </a:solidFill>
                <a:latin typeface="Arial" pitchFamily="34" charset="0"/>
                <a:ea typeface="Arial" pitchFamily="34" charset="-122"/>
                <a:cs typeface="Arial" pitchFamily="34" charset="-120"/>
              </a:rPr>
              <a:t>一定の取引分野の画定</a:t>
            </a:r>
            <a:endParaRPr lang="en-US" sz="2400" dirty="0"/>
          </a:p>
        </p:txBody>
      </p:sp>
      <p:sp>
        <p:nvSpPr>
          <p:cNvPr id="9" name="Text 7"/>
          <p:cNvSpPr/>
          <p:nvPr/>
        </p:nvSpPr>
        <p:spPr>
          <a:xfrm>
            <a:off x="1339850" y="5315248"/>
            <a:ext cx="4434459" cy="1263650"/>
          </a:xfrm>
          <a:prstGeom prst="rect">
            <a:avLst/>
          </a:prstGeom>
          <a:noFill/>
          <a:ln/>
        </p:spPr>
        <p:txBody>
          <a:bodyPr wrap="square" lIns="25400" tIns="25400" rIns="25400" bIns="25400" rtlCol="0" anchor="t">
            <a:normAutofit/>
          </a:bodyPr>
          <a:lstStyle/>
          <a:p>
            <a:pPr marL="0" indent="0" algn="l">
              <a:lnSpc>
                <a:spcPct val="150000"/>
              </a:lnSpc>
              <a:buNone/>
            </a:pPr>
            <a:r>
              <a:rPr lang="en-US" sz="2100" dirty="0">
                <a:solidFill>
                  <a:srgbClr val="5A6470"/>
                </a:solidFill>
                <a:latin typeface="Arial" pitchFamily="34" charset="0"/>
                <a:ea typeface="Arial" pitchFamily="34" charset="-122"/>
                <a:cs typeface="Arial" pitchFamily="34" charset="-120"/>
              </a:rPr>
              <a:t>需要の代替性を基準に市場を画定。道具は </a:t>
            </a:r>
            <a:r>
              <a:rPr lang="en-US" sz="2100" b="1" dirty="0">
                <a:solidFill>
                  <a:srgbClr val="9A4A38"/>
                </a:solidFill>
                <a:latin typeface="Arial" pitchFamily="34" charset="0"/>
                <a:ea typeface="Arial" pitchFamily="34" charset="-122"/>
                <a:cs typeface="Arial" pitchFamily="34" charset="-120"/>
              </a:rPr>
              <a:t>SSNIP </a:t>
            </a:r>
            <a:r>
              <a:rPr lang="en-US" sz="2100" dirty="0">
                <a:solidFill>
                  <a:srgbClr val="5A6470"/>
                </a:solidFill>
                <a:latin typeface="Arial" pitchFamily="34" charset="0"/>
                <a:ea typeface="Arial" pitchFamily="34" charset="-122"/>
                <a:cs typeface="Arial" pitchFamily="34" charset="-120"/>
              </a:rPr>
              <a:t>（小幅だが有意な値上げが利益になるか）。</a:t>
            </a:r>
            <a:endParaRPr lang="en-US" sz="2100" dirty="0"/>
          </a:p>
        </p:txBody>
      </p:sp>
      <p:sp>
        <p:nvSpPr>
          <p:cNvPr id="10" name="Text 8"/>
          <p:cNvSpPr/>
          <p:nvPr/>
        </p:nvSpPr>
        <p:spPr>
          <a:xfrm>
            <a:off x="6146800" y="4000798"/>
            <a:ext cx="419100" cy="2870200"/>
          </a:xfrm>
          <a:prstGeom prst="rect">
            <a:avLst/>
          </a:prstGeom>
          <a:noFill/>
          <a:ln/>
        </p:spPr>
        <p:txBody>
          <a:bodyPr wrap="square" lIns="25400" tIns="25400" rIns="25400" bIns="25400" rtlCol="0" anchor="ctr">
            <a:normAutofit/>
          </a:bodyPr>
          <a:lstStyle/>
          <a:p>
            <a:pPr marL="0" indent="0" algn="l">
              <a:buNone/>
            </a:pPr>
            <a:r>
              <a:rPr lang="en-US" sz="2700" dirty="0">
                <a:solidFill>
                  <a:srgbClr val="B6AFA2"/>
                </a:solidFill>
                <a:latin typeface="Arial" pitchFamily="34" charset="0"/>
                <a:ea typeface="Arial" pitchFamily="34" charset="-122"/>
                <a:cs typeface="Arial" pitchFamily="34" charset="-120"/>
              </a:rPr>
              <a:t>→</a:t>
            </a:r>
            <a:endParaRPr lang="en-US" sz="2700" dirty="0"/>
          </a:p>
        </p:txBody>
      </p:sp>
      <p:sp>
        <p:nvSpPr>
          <p:cNvPr id="11" name="Shape 9"/>
          <p:cNvSpPr/>
          <p:nvPr/>
        </p:nvSpPr>
        <p:spPr>
          <a:xfrm>
            <a:off x="6680200" y="4000798"/>
            <a:ext cx="4927600" cy="2832100"/>
          </a:xfrm>
          <a:prstGeom prst="roundRect">
            <a:avLst>
              <a:gd name="adj" fmla="val 3363"/>
            </a:avLst>
          </a:prstGeom>
          <a:solidFill>
            <a:srgbClr val="FFFFFF"/>
          </a:solidFill>
          <a:ln w="6350">
            <a:solidFill>
              <a:srgbClr val="E0DCD2"/>
            </a:solidFill>
            <a:prstDash val="solid"/>
          </a:ln>
        </p:spPr>
      </p:sp>
      <p:sp>
        <p:nvSpPr>
          <p:cNvPr id="12" name="Text 10"/>
          <p:cNvSpPr/>
          <p:nvPr/>
        </p:nvSpPr>
        <p:spPr>
          <a:xfrm>
            <a:off x="6991350" y="4292898"/>
            <a:ext cx="4735830" cy="387350"/>
          </a:xfrm>
          <a:prstGeom prst="rect">
            <a:avLst/>
          </a:prstGeom>
          <a:noFill/>
          <a:ln/>
        </p:spPr>
        <p:txBody>
          <a:bodyPr wrap="square" lIns="25400" tIns="25400" rIns="25400" bIns="25400" rtlCol="0" anchor="t">
            <a:normAutofit/>
          </a:bodyPr>
          <a:lstStyle/>
          <a:p>
            <a:pPr marL="0" indent="0" algn="l">
              <a:buNone/>
            </a:pPr>
            <a:r>
              <a:rPr lang="en-US" sz="2100" dirty="0">
                <a:solidFill>
                  <a:srgbClr val="9A4A38"/>
                </a:solidFill>
                <a:latin typeface="Courier New" pitchFamily="34" charset="0"/>
                <a:ea typeface="Courier New" pitchFamily="34" charset="-122"/>
                <a:cs typeface="Courier New" pitchFamily="34" charset="-120"/>
              </a:rPr>
              <a:t>STEP 2</a:t>
            </a:r>
            <a:endParaRPr lang="en-US" sz="2100" dirty="0"/>
          </a:p>
        </p:txBody>
      </p:sp>
      <p:sp>
        <p:nvSpPr>
          <p:cNvPr id="13" name="Text 11"/>
          <p:cNvSpPr/>
          <p:nvPr/>
        </p:nvSpPr>
        <p:spPr>
          <a:xfrm>
            <a:off x="6991350" y="4756448"/>
            <a:ext cx="4735830" cy="482600"/>
          </a:xfrm>
          <a:prstGeom prst="rect">
            <a:avLst/>
          </a:prstGeom>
          <a:noFill/>
          <a:ln/>
        </p:spPr>
        <p:txBody>
          <a:bodyPr wrap="square" lIns="25400" tIns="25400" rIns="25400" bIns="25400" rtlCol="0" anchor="t">
            <a:normAutofit/>
          </a:bodyPr>
          <a:lstStyle/>
          <a:p>
            <a:pPr marL="0" indent="0" algn="l">
              <a:buNone/>
            </a:pPr>
            <a:r>
              <a:rPr lang="en-US" sz="2400" b="1" dirty="0">
                <a:solidFill>
                  <a:srgbClr val="1F2730"/>
                </a:solidFill>
                <a:latin typeface="Arial" pitchFamily="34" charset="0"/>
                <a:ea typeface="Arial" pitchFamily="34" charset="-122"/>
                <a:cs typeface="Arial" pitchFamily="34" charset="-120"/>
              </a:rPr>
              <a:t>競争の実質的制限の判断</a:t>
            </a:r>
            <a:endParaRPr lang="en-US" sz="2400" dirty="0"/>
          </a:p>
        </p:txBody>
      </p:sp>
      <p:sp>
        <p:nvSpPr>
          <p:cNvPr id="14" name="Text 12"/>
          <p:cNvSpPr/>
          <p:nvPr/>
        </p:nvSpPr>
        <p:spPr>
          <a:xfrm>
            <a:off x="6991350" y="5315248"/>
            <a:ext cx="4434459" cy="1263650"/>
          </a:xfrm>
          <a:prstGeom prst="rect">
            <a:avLst/>
          </a:prstGeom>
          <a:noFill/>
          <a:ln/>
        </p:spPr>
        <p:txBody>
          <a:bodyPr wrap="square" lIns="25400" tIns="25400" rIns="25400" bIns="25400" rtlCol="0" anchor="t">
            <a:normAutofit/>
          </a:bodyPr>
          <a:lstStyle/>
          <a:p>
            <a:pPr marL="0" indent="0" algn="l">
              <a:lnSpc>
                <a:spcPct val="150000"/>
              </a:lnSpc>
              <a:buNone/>
            </a:pPr>
            <a:r>
              <a:rPr lang="en-US" sz="2100" dirty="0">
                <a:solidFill>
                  <a:srgbClr val="5A6470"/>
                </a:solidFill>
                <a:latin typeface="Arial" pitchFamily="34" charset="0"/>
                <a:ea typeface="Arial" pitchFamily="34" charset="-122"/>
                <a:cs typeface="Arial" pitchFamily="34" charset="-120"/>
              </a:rPr>
              <a:t>単独行動・協調的行動の両面から。市場集中度（ </a:t>
            </a:r>
            <a:r>
              <a:rPr lang="en-US" sz="2100" b="1" dirty="0">
                <a:solidFill>
                  <a:srgbClr val="9A4A38"/>
                </a:solidFill>
                <a:latin typeface="Arial" pitchFamily="34" charset="0"/>
                <a:ea typeface="Arial" pitchFamily="34" charset="-122"/>
                <a:cs typeface="Arial" pitchFamily="34" charset="-120"/>
              </a:rPr>
              <a:t>HHI </a:t>
            </a:r>
            <a:r>
              <a:rPr lang="en-US" sz="2100" dirty="0">
                <a:solidFill>
                  <a:srgbClr val="5A6470"/>
                </a:solidFill>
                <a:latin typeface="Arial" pitchFamily="34" charset="0"/>
                <a:ea typeface="Arial" pitchFamily="34" charset="-122"/>
                <a:cs typeface="Arial" pitchFamily="34" charset="-120"/>
              </a:rPr>
              <a:t>）とセーフハーバー。</a:t>
            </a:r>
            <a:endParaRPr lang="en-US" sz="2100" dirty="0"/>
          </a:p>
        </p:txBody>
      </p:sp>
      <p:sp>
        <p:nvSpPr>
          <p:cNvPr id="15" name="Text 13"/>
          <p:cNvSpPr/>
          <p:nvPr/>
        </p:nvSpPr>
        <p:spPr>
          <a:xfrm>
            <a:off x="11798301" y="4000798"/>
            <a:ext cx="419100" cy="2870200"/>
          </a:xfrm>
          <a:prstGeom prst="rect">
            <a:avLst/>
          </a:prstGeom>
          <a:noFill/>
          <a:ln/>
        </p:spPr>
        <p:txBody>
          <a:bodyPr wrap="square" lIns="25400" tIns="25400" rIns="25400" bIns="25400" rtlCol="0" anchor="ctr">
            <a:normAutofit/>
          </a:bodyPr>
          <a:lstStyle/>
          <a:p>
            <a:pPr marL="0" indent="0" algn="l">
              <a:buNone/>
            </a:pPr>
            <a:r>
              <a:rPr lang="en-US" sz="2700" dirty="0">
                <a:solidFill>
                  <a:srgbClr val="B6AFA2"/>
                </a:solidFill>
                <a:latin typeface="Arial" pitchFamily="34" charset="0"/>
                <a:ea typeface="Arial" pitchFamily="34" charset="-122"/>
                <a:cs typeface="Arial" pitchFamily="34" charset="-120"/>
              </a:rPr>
              <a:t>→</a:t>
            </a:r>
            <a:endParaRPr lang="en-US" sz="2700" dirty="0"/>
          </a:p>
        </p:txBody>
      </p:sp>
      <p:sp>
        <p:nvSpPr>
          <p:cNvPr id="16" name="Shape 14"/>
          <p:cNvSpPr/>
          <p:nvPr/>
        </p:nvSpPr>
        <p:spPr>
          <a:xfrm>
            <a:off x="12331701" y="4000798"/>
            <a:ext cx="4927600" cy="2832100"/>
          </a:xfrm>
          <a:prstGeom prst="roundRect">
            <a:avLst>
              <a:gd name="adj" fmla="val 3363"/>
            </a:avLst>
          </a:prstGeom>
          <a:solidFill>
            <a:srgbClr val="FFFFFF"/>
          </a:solidFill>
          <a:ln w="6350">
            <a:solidFill>
              <a:srgbClr val="E0DCD2"/>
            </a:solidFill>
            <a:prstDash val="solid"/>
          </a:ln>
        </p:spPr>
      </p:sp>
      <p:sp>
        <p:nvSpPr>
          <p:cNvPr id="17" name="Text 15"/>
          <p:cNvSpPr/>
          <p:nvPr/>
        </p:nvSpPr>
        <p:spPr>
          <a:xfrm>
            <a:off x="12642850" y="4292898"/>
            <a:ext cx="4735830" cy="387350"/>
          </a:xfrm>
          <a:prstGeom prst="rect">
            <a:avLst/>
          </a:prstGeom>
          <a:noFill/>
          <a:ln/>
        </p:spPr>
        <p:txBody>
          <a:bodyPr wrap="square" lIns="25400" tIns="25400" rIns="25400" bIns="25400" rtlCol="0" anchor="t">
            <a:normAutofit/>
          </a:bodyPr>
          <a:lstStyle/>
          <a:p>
            <a:pPr marL="0" indent="0" algn="l">
              <a:buNone/>
            </a:pPr>
            <a:r>
              <a:rPr lang="en-US" sz="2100" dirty="0">
                <a:solidFill>
                  <a:srgbClr val="9A4A38"/>
                </a:solidFill>
                <a:latin typeface="Courier New" pitchFamily="34" charset="0"/>
                <a:ea typeface="Courier New" pitchFamily="34" charset="-122"/>
                <a:cs typeface="Courier New" pitchFamily="34" charset="-120"/>
              </a:rPr>
              <a:t>STEP 3</a:t>
            </a:r>
            <a:endParaRPr lang="en-US" sz="2100" dirty="0"/>
          </a:p>
        </p:txBody>
      </p:sp>
      <p:sp>
        <p:nvSpPr>
          <p:cNvPr id="18" name="Text 16"/>
          <p:cNvSpPr/>
          <p:nvPr/>
        </p:nvSpPr>
        <p:spPr>
          <a:xfrm>
            <a:off x="12642850" y="4756448"/>
            <a:ext cx="4735830" cy="482600"/>
          </a:xfrm>
          <a:prstGeom prst="rect">
            <a:avLst/>
          </a:prstGeom>
          <a:noFill/>
          <a:ln/>
        </p:spPr>
        <p:txBody>
          <a:bodyPr wrap="square" lIns="25400" tIns="25400" rIns="25400" bIns="25400" rtlCol="0" anchor="t">
            <a:normAutofit/>
          </a:bodyPr>
          <a:lstStyle/>
          <a:p>
            <a:pPr marL="0" indent="0" algn="l">
              <a:buNone/>
            </a:pPr>
            <a:r>
              <a:rPr lang="en-US" sz="2400" b="1" dirty="0">
                <a:solidFill>
                  <a:srgbClr val="1F2730"/>
                </a:solidFill>
                <a:latin typeface="Arial" pitchFamily="34" charset="0"/>
                <a:ea typeface="Arial" pitchFamily="34" charset="-122"/>
                <a:cs typeface="Arial" pitchFamily="34" charset="-120"/>
              </a:rPr>
              <a:t>問題解消措置</a:t>
            </a:r>
            <a:endParaRPr lang="en-US" sz="2400" dirty="0"/>
          </a:p>
        </p:txBody>
      </p:sp>
      <p:sp>
        <p:nvSpPr>
          <p:cNvPr id="19" name="Text 17"/>
          <p:cNvSpPr/>
          <p:nvPr/>
        </p:nvSpPr>
        <p:spPr>
          <a:xfrm>
            <a:off x="12642850" y="5315248"/>
            <a:ext cx="4434459" cy="838200"/>
          </a:xfrm>
          <a:prstGeom prst="rect">
            <a:avLst/>
          </a:prstGeom>
          <a:noFill/>
          <a:ln/>
        </p:spPr>
        <p:txBody>
          <a:bodyPr wrap="square" lIns="25400" tIns="25400" rIns="25400" bIns="25400" rtlCol="0" anchor="t">
            <a:normAutofit/>
          </a:bodyPr>
          <a:lstStyle/>
          <a:p>
            <a:pPr marL="0" indent="0" algn="l">
              <a:lnSpc>
                <a:spcPct val="150000"/>
              </a:lnSpc>
              <a:buNone/>
            </a:pPr>
            <a:r>
              <a:rPr lang="en-US" sz="2100" dirty="0">
                <a:solidFill>
                  <a:srgbClr val="5A6470"/>
                </a:solidFill>
                <a:latin typeface="Arial" pitchFamily="34" charset="0"/>
                <a:ea typeface="Arial" pitchFamily="34" charset="-122"/>
                <a:cs typeface="Arial" pitchFamily="34" charset="-120"/>
              </a:rPr>
              <a:t>懸念があっても、事業譲渡等の措置を前提に承認されることがある。</a:t>
            </a:r>
            <a:endParaRPr lang="en-US" sz="2100" dirty="0"/>
          </a:p>
        </p:txBody>
      </p:sp>
      <p:sp>
        <p:nvSpPr>
          <p:cNvPr id="20" name="Text 18"/>
          <p:cNvSpPr/>
          <p:nvPr/>
        </p:nvSpPr>
        <p:spPr>
          <a:xfrm>
            <a:off x="1028700" y="7150398"/>
            <a:ext cx="3206552" cy="425450"/>
          </a:xfrm>
          <a:prstGeom prst="rect">
            <a:avLst/>
          </a:prstGeom>
          <a:noFill/>
          <a:ln/>
        </p:spPr>
        <p:txBody>
          <a:bodyPr wrap="square" lIns="25400" tIns="25400" rIns="25400" bIns="25400" rtlCol="0" anchor="t">
            <a:normAutofit/>
          </a:bodyPr>
          <a:lstStyle/>
          <a:p>
            <a:pPr marL="0" indent="0" algn="l">
              <a:buNone/>
            </a:pPr>
            <a:r>
              <a:rPr lang="en-US" sz="2100" dirty="0">
                <a:solidFill>
                  <a:srgbClr val="2C333C"/>
                </a:solidFill>
                <a:latin typeface="Arial" pitchFamily="34" charset="0"/>
                <a:ea typeface="Arial" pitchFamily="34" charset="-122"/>
                <a:cs typeface="Arial" pitchFamily="34" charset="-120"/>
              </a:rPr>
              <a:t>水平型のセーフハーバー</a:t>
            </a:r>
            <a:endParaRPr lang="en-US" sz="2100" dirty="0"/>
          </a:p>
        </p:txBody>
      </p:sp>
      <p:sp>
        <p:nvSpPr>
          <p:cNvPr id="21" name="Shape 19"/>
          <p:cNvSpPr/>
          <p:nvPr/>
        </p:nvSpPr>
        <p:spPr>
          <a:xfrm>
            <a:off x="4115197" y="7080548"/>
            <a:ext cx="2181225" cy="527050"/>
          </a:xfrm>
          <a:prstGeom prst="roundRect">
            <a:avLst>
              <a:gd name="adj" fmla="val 39759"/>
            </a:avLst>
          </a:prstGeom>
          <a:solidFill>
            <a:srgbClr val="EDEAE2"/>
          </a:solidFill>
          <a:ln/>
        </p:spPr>
      </p:sp>
      <p:sp>
        <p:nvSpPr>
          <p:cNvPr id="22" name="Text 20"/>
          <p:cNvSpPr/>
          <p:nvPr/>
        </p:nvSpPr>
        <p:spPr>
          <a:xfrm>
            <a:off x="4305697" y="7156748"/>
            <a:ext cx="1876425" cy="412750"/>
          </a:xfrm>
          <a:prstGeom prst="rect">
            <a:avLst/>
          </a:prstGeom>
          <a:noFill/>
          <a:ln/>
        </p:spPr>
        <p:txBody>
          <a:bodyPr wrap="square" lIns="25400" tIns="25400" rIns="25400" bIns="25400" rtlCol="0" anchor="t">
            <a:normAutofit/>
          </a:bodyPr>
          <a:lstStyle/>
          <a:p>
            <a:pPr marL="0" indent="0" algn="l">
              <a:buNone/>
            </a:pPr>
            <a:r>
              <a:rPr lang="en-US" sz="2025" dirty="0">
                <a:solidFill>
                  <a:srgbClr val="5A6470"/>
                </a:solidFill>
                <a:latin typeface="Courier New" pitchFamily="34" charset="0"/>
                <a:ea typeface="Courier New" pitchFamily="34" charset="-122"/>
                <a:cs typeface="Courier New" pitchFamily="34" charset="-120"/>
              </a:rPr>
              <a:t>HHI ≤ 1,500</a:t>
            </a:r>
            <a:endParaRPr lang="en-US" sz="2025" dirty="0"/>
          </a:p>
        </p:txBody>
      </p:sp>
      <p:sp>
        <p:nvSpPr>
          <p:cNvPr id="23" name="Shape 21"/>
          <p:cNvSpPr/>
          <p:nvPr/>
        </p:nvSpPr>
        <p:spPr>
          <a:xfrm>
            <a:off x="6467872" y="7080548"/>
            <a:ext cx="4393009" cy="527050"/>
          </a:xfrm>
          <a:prstGeom prst="roundRect">
            <a:avLst>
              <a:gd name="adj" fmla="val 39759"/>
            </a:avLst>
          </a:prstGeom>
          <a:solidFill>
            <a:srgbClr val="EDEAE2"/>
          </a:solidFill>
          <a:ln/>
        </p:spPr>
      </p:sp>
      <p:sp>
        <p:nvSpPr>
          <p:cNvPr id="24" name="Text 22"/>
          <p:cNvSpPr/>
          <p:nvPr/>
        </p:nvSpPr>
        <p:spPr>
          <a:xfrm>
            <a:off x="6658372" y="7156748"/>
            <a:ext cx="4143800" cy="412750"/>
          </a:xfrm>
          <a:prstGeom prst="rect">
            <a:avLst/>
          </a:prstGeom>
          <a:noFill/>
          <a:ln/>
        </p:spPr>
        <p:txBody>
          <a:bodyPr wrap="square" lIns="25400" tIns="25400" rIns="25400" bIns="25400" rtlCol="0" anchor="t">
            <a:normAutofit/>
          </a:bodyPr>
          <a:lstStyle/>
          <a:p>
            <a:pPr marL="0" indent="0" algn="l">
              <a:buNone/>
            </a:pPr>
            <a:r>
              <a:rPr lang="en-US" sz="2025" dirty="0">
                <a:solidFill>
                  <a:srgbClr val="5A6470"/>
                </a:solidFill>
                <a:latin typeface="Courier New" pitchFamily="34" charset="0"/>
                <a:ea typeface="Courier New" pitchFamily="34" charset="-122"/>
                <a:cs typeface="Courier New" pitchFamily="34" charset="-120"/>
              </a:rPr>
              <a:t>1,500–2,500 ＆ ΔHHI ≤ 250</a:t>
            </a:r>
            <a:endParaRPr lang="en-US" sz="2025" dirty="0"/>
          </a:p>
        </p:txBody>
      </p:sp>
      <p:sp>
        <p:nvSpPr>
          <p:cNvPr id="25" name="Shape 23"/>
          <p:cNvSpPr/>
          <p:nvPr/>
        </p:nvSpPr>
        <p:spPr>
          <a:xfrm>
            <a:off x="11032331" y="7080548"/>
            <a:ext cx="3775770" cy="527050"/>
          </a:xfrm>
          <a:prstGeom prst="roundRect">
            <a:avLst>
              <a:gd name="adj" fmla="val 39759"/>
            </a:avLst>
          </a:prstGeom>
          <a:solidFill>
            <a:srgbClr val="EDEAE2"/>
          </a:solidFill>
          <a:ln/>
        </p:spPr>
      </p:sp>
      <p:sp>
        <p:nvSpPr>
          <p:cNvPr id="26" name="Text 24"/>
          <p:cNvSpPr/>
          <p:nvPr/>
        </p:nvSpPr>
        <p:spPr>
          <a:xfrm>
            <a:off x="11222831" y="7156748"/>
            <a:ext cx="3508043" cy="412750"/>
          </a:xfrm>
          <a:prstGeom prst="rect">
            <a:avLst/>
          </a:prstGeom>
          <a:noFill/>
          <a:ln/>
        </p:spPr>
        <p:txBody>
          <a:bodyPr wrap="square" lIns="25400" tIns="25400" rIns="25400" bIns="25400" rtlCol="0" anchor="t">
            <a:normAutofit/>
          </a:bodyPr>
          <a:lstStyle/>
          <a:p>
            <a:pPr marL="0" indent="0" algn="l">
              <a:buNone/>
            </a:pPr>
            <a:r>
              <a:rPr lang="en-US" sz="2025" dirty="0">
                <a:solidFill>
                  <a:srgbClr val="5A6470"/>
                </a:solidFill>
                <a:latin typeface="Courier New" pitchFamily="34" charset="0"/>
                <a:ea typeface="Courier New" pitchFamily="34" charset="-122"/>
                <a:cs typeface="Courier New" pitchFamily="34" charset="-120"/>
              </a:rPr>
              <a:t>&gt; 2,500 ＆ ΔHHI ≤ 150</a:t>
            </a:r>
            <a:endParaRPr lang="en-US" sz="2025" dirty="0"/>
          </a:p>
        </p:txBody>
      </p:sp>
      <p:sp>
        <p:nvSpPr>
          <p:cNvPr id="27" name="Shape 25"/>
          <p:cNvSpPr/>
          <p:nvPr/>
        </p:nvSpPr>
        <p:spPr>
          <a:xfrm>
            <a:off x="1028700" y="9296400"/>
            <a:ext cx="16230600" cy="9525"/>
          </a:xfrm>
          <a:prstGeom prst="rect">
            <a:avLst/>
          </a:prstGeom>
          <a:solidFill>
            <a:srgbClr val="E4E0D7"/>
          </a:solidFill>
          <a:ln/>
        </p:spPr>
      </p:sp>
      <p:sp>
        <p:nvSpPr>
          <p:cNvPr id="28" name="Text 26"/>
          <p:cNvSpPr/>
          <p:nvPr/>
        </p:nvSpPr>
        <p:spPr>
          <a:xfrm>
            <a:off x="1028700" y="9455150"/>
            <a:ext cx="6976378" cy="393700"/>
          </a:xfrm>
          <a:prstGeom prst="rect">
            <a:avLst/>
          </a:prstGeom>
          <a:noFill/>
          <a:ln/>
        </p:spPr>
        <p:txBody>
          <a:bodyPr wrap="square" lIns="25400" tIns="25400" rIns="25400" bIns="25400" rtlCol="0" anchor="t">
            <a:normAutofit/>
          </a:bodyPr>
          <a:lstStyle/>
          <a:p>
            <a:pPr marL="0" indent="0" algn="l">
              <a:buNone/>
            </a:pPr>
            <a:r>
              <a:rPr lang="en-US" sz="1950" dirty="0">
                <a:solidFill>
                  <a:srgbClr val="97928A"/>
                </a:solidFill>
                <a:latin typeface="Arial" pitchFamily="34" charset="0"/>
                <a:ea typeface="Arial" pitchFamily="34" charset="-122"/>
                <a:cs typeface="Arial" pitchFamily="34" charset="-120"/>
              </a:rPr>
              <a:t>永田 稔人 ｜ 中里ゼミ（経済法） ｜ 2026年6月30日</a:t>
            </a:r>
            <a:endParaRPr lang="en-US" sz="1950" dirty="0"/>
          </a:p>
        </p:txBody>
      </p:sp>
      <p:sp>
        <p:nvSpPr>
          <p:cNvPr id="29" name="Text 27"/>
          <p:cNvSpPr/>
          <p:nvPr/>
        </p:nvSpPr>
        <p:spPr>
          <a:xfrm>
            <a:off x="16115109" y="9471025"/>
            <a:ext cx="1220391" cy="361950"/>
          </a:xfrm>
          <a:prstGeom prst="rect">
            <a:avLst/>
          </a:prstGeom>
          <a:noFill/>
          <a:ln/>
        </p:spPr>
        <p:txBody>
          <a:bodyPr wrap="square" lIns="25400" tIns="25400" rIns="25400" bIns="25400" rtlCol="0" anchor="t">
            <a:normAutofit/>
          </a:bodyPr>
          <a:lstStyle/>
          <a:p>
            <a:pPr marL="0" indent="0" algn="l">
              <a:buNone/>
            </a:pPr>
            <a:r>
              <a:rPr lang="en-US" sz="1950" kern="0" spc="117" dirty="0">
                <a:solidFill>
                  <a:srgbClr val="97928A"/>
                </a:solidFill>
                <a:latin typeface="Courier New" pitchFamily="34" charset="0"/>
                <a:ea typeface="Courier New" pitchFamily="34" charset="-122"/>
                <a:cs typeface="Courier New" pitchFamily="34" charset="-120"/>
              </a:rPr>
              <a:t>06 / 27</a:t>
            </a:r>
            <a:endParaRPr lang="en-US" sz="1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2"/>
        </a:solidFill>
        <a:effectLst/>
      </p:bgPr>
    </p:bg>
    <p:spTree>
      <p:nvGrpSpPr>
        <p:cNvPr id="1" name=""/>
        <p:cNvGrpSpPr/>
        <p:nvPr/>
      </p:nvGrpSpPr>
      <p:grpSpPr>
        <a:xfrm>
          <a:off x="0" y="0"/>
          <a:ext cx="0" cy="0"/>
          <a:chOff x="0" y="0"/>
          <a:chExt cx="0" cy="0"/>
        </a:xfrm>
      </p:grpSpPr>
      <p:sp>
        <p:nvSpPr>
          <p:cNvPr id="2" name="Shape 0"/>
          <p:cNvSpPr/>
          <p:nvPr/>
        </p:nvSpPr>
        <p:spPr>
          <a:xfrm>
            <a:off x="1028700" y="801688"/>
            <a:ext cx="304800" cy="28575"/>
          </a:xfrm>
          <a:prstGeom prst="rect">
            <a:avLst/>
          </a:prstGeom>
          <a:solidFill>
            <a:srgbClr val="9A4A38"/>
          </a:solidFill>
          <a:ln/>
        </p:spPr>
      </p:sp>
      <p:sp>
        <p:nvSpPr>
          <p:cNvPr id="3" name="Text 1"/>
          <p:cNvSpPr/>
          <p:nvPr/>
        </p:nvSpPr>
        <p:spPr>
          <a:xfrm>
            <a:off x="1466850" y="628650"/>
            <a:ext cx="2679075" cy="412750"/>
          </a:xfrm>
          <a:prstGeom prst="rect">
            <a:avLst/>
          </a:prstGeom>
          <a:noFill/>
          <a:ln/>
        </p:spPr>
        <p:txBody>
          <a:bodyPr wrap="square" lIns="25400" tIns="25400" rIns="25400" bIns="25400" rtlCol="0" anchor="t">
            <a:normAutofit/>
          </a:bodyPr>
          <a:lstStyle/>
          <a:p>
            <a:pPr marL="0" indent="0" algn="l">
              <a:buNone/>
            </a:pPr>
            <a:r>
              <a:rPr lang="en-US" sz="2025" kern="0" spc="203" dirty="0">
                <a:solidFill>
                  <a:srgbClr val="5A6470"/>
                </a:solidFill>
                <a:latin typeface="Arial" pitchFamily="34" charset="0"/>
                <a:ea typeface="Arial" pitchFamily="34" charset="-122"/>
                <a:cs typeface="Arial" pitchFamily="34" charset="-120"/>
              </a:rPr>
              <a:t>第1部 規範と事案</a:t>
            </a:r>
            <a:endParaRPr lang="en-US" sz="2025" dirty="0"/>
          </a:p>
        </p:txBody>
      </p:sp>
      <p:sp>
        <p:nvSpPr>
          <p:cNvPr id="4" name="Text 2"/>
          <p:cNvSpPr/>
          <p:nvPr/>
        </p:nvSpPr>
        <p:spPr>
          <a:xfrm>
            <a:off x="1028700" y="1174750"/>
            <a:ext cx="17853660" cy="624384"/>
          </a:xfrm>
          <a:prstGeom prst="rect">
            <a:avLst/>
          </a:prstGeom>
          <a:noFill/>
          <a:ln/>
        </p:spPr>
        <p:txBody>
          <a:bodyPr wrap="square" lIns="25400" tIns="25400" rIns="25400" bIns="25400" rtlCol="0" anchor="t">
            <a:normAutofit/>
          </a:bodyPr>
          <a:lstStyle/>
          <a:p>
            <a:pPr marL="0" indent="0" algn="l">
              <a:lnSpc>
                <a:spcPct val="114000"/>
              </a:lnSpc>
              <a:buNone/>
            </a:pPr>
            <a:r>
              <a:rPr lang="en-US" sz="4050" b="1" dirty="0">
                <a:solidFill>
                  <a:srgbClr val="1F2730"/>
                </a:solidFill>
                <a:latin typeface="Arial" pitchFamily="34" charset="0"/>
                <a:ea typeface="Arial" pitchFamily="34" charset="-122"/>
                <a:cs typeface="Arial" pitchFamily="34" charset="-120"/>
              </a:rPr>
              <a:t>規範と当てはめ</a:t>
            </a:r>
            <a:endParaRPr lang="en-US" sz="4050" dirty="0"/>
          </a:p>
        </p:txBody>
      </p:sp>
      <p:sp>
        <p:nvSpPr>
          <p:cNvPr id="5" name="Text 3"/>
          <p:cNvSpPr/>
          <p:nvPr/>
        </p:nvSpPr>
        <p:spPr>
          <a:xfrm>
            <a:off x="1028700" y="1894384"/>
            <a:ext cx="16344900" cy="493812"/>
          </a:xfrm>
          <a:prstGeom prst="rect">
            <a:avLst/>
          </a:prstGeom>
          <a:noFill/>
          <a:ln/>
        </p:spPr>
        <p:txBody>
          <a:bodyPr wrap="square" lIns="25400" tIns="25400" rIns="25400" bIns="25400" rtlCol="0" anchor="t">
            <a:normAutofit/>
          </a:bodyPr>
          <a:lstStyle/>
          <a:p>
            <a:pPr marL="0" indent="0" algn="l">
              <a:lnSpc>
                <a:spcPct val="145000"/>
              </a:lnSpc>
              <a:buNone/>
            </a:pPr>
            <a:r>
              <a:rPr lang="en-US" sz="2475" dirty="0">
                <a:solidFill>
                  <a:srgbClr val="4A5560"/>
                </a:solidFill>
                <a:latin typeface="Arial" pitchFamily="34" charset="0"/>
                <a:ea typeface="Arial" pitchFamily="34" charset="-122"/>
                <a:cs typeface="Arial" pitchFamily="34" charset="-120"/>
              </a:rPr>
              <a:t>第10条第1項は、本件の適否を三つの問いに帰着させる。</a:t>
            </a:r>
            <a:endParaRPr lang="en-US" sz="2475" dirty="0"/>
          </a:p>
        </p:txBody>
      </p:sp>
      <p:sp>
        <p:nvSpPr>
          <p:cNvPr id="6" name="Shape 4"/>
          <p:cNvSpPr/>
          <p:nvPr/>
        </p:nvSpPr>
        <p:spPr>
          <a:xfrm>
            <a:off x="1028700" y="2559646"/>
            <a:ext cx="7612856" cy="6076355"/>
          </a:xfrm>
          <a:prstGeom prst="roundRect">
            <a:avLst>
              <a:gd name="adj" fmla="val 1568"/>
            </a:avLst>
          </a:prstGeom>
          <a:solidFill>
            <a:srgbClr val="2E3B45"/>
          </a:solidFill>
          <a:ln/>
        </p:spPr>
      </p:sp>
      <p:sp>
        <p:nvSpPr>
          <p:cNvPr id="7" name="Text 5"/>
          <p:cNvSpPr/>
          <p:nvPr/>
        </p:nvSpPr>
        <p:spPr>
          <a:xfrm>
            <a:off x="1390650" y="4252615"/>
            <a:ext cx="7577852" cy="412750"/>
          </a:xfrm>
          <a:prstGeom prst="rect">
            <a:avLst/>
          </a:prstGeom>
          <a:noFill/>
          <a:ln/>
        </p:spPr>
        <p:txBody>
          <a:bodyPr wrap="square" lIns="25400" tIns="25400" rIns="25400" bIns="25400" rtlCol="0" anchor="t">
            <a:normAutofit/>
          </a:bodyPr>
          <a:lstStyle/>
          <a:p>
            <a:pPr marL="0" indent="0" algn="l">
              <a:buNone/>
            </a:pPr>
            <a:r>
              <a:rPr lang="en-US" sz="2025" kern="0" spc="122" dirty="0">
                <a:solidFill>
                  <a:srgbClr val="CC7159"/>
                </a:solidFill>
                <a:latin typeface="Arial" pitchFamily="34" charset="0"/>
                <a:ea typeface="Arial" pitchFamily="34" charset="-122"/>
                <a:cs typeface="Arial" pitchFamily="34" charset="-120"/>
              </a:rPr>
              <a:t>規範｜独占禁止法 第10条第1項</a:t>
            </a:r>
            <a:endParaRPr lang="en-US" sz="2025" dirty="0"/>
          </a:p>
        </p:txBody>
      </p:sp>
      <p:sp>
        <p:nvSpPr>
          <p:cNvPr id="8" name="Text 6"/>
          <p:cNvSpPr/>
          <p:nvPr/>
        </p:nvSpPr>
        <p:spPr>
          <a:xfrm>
            <a:off x="1390650" y="4817765"/>
            <a:ext cx="7095625" cy="2163366"/>
          </a:xfrm>
          <a:prstGeom prst="rect">
            <a:avLst/>
          </a:prstGeom>
          <a:noFill/>
          <a:ln/>
        </p:spPr>
        <p:txBody>
          <a:bodyPr wrap="square" lIns="25400" tIns="25400" rIns="25400" bIns="25400" rtlCol="0" anchor="t">
            <a:normAutofit/>
          </a:bodyPr>
          <a:lstStyle/>
          <a:p>
            <a:pPr marL="0" indent="0" algn="l">
              <a:lnSpc>
                <a:spcPct val="165000"/>
              </a:lnSpc>
              <a:buNone/>
            </a:pPr>
            <a:r>
              <a:rPr lang="en-US" sz="2475" dirty="0">
                <a:solidFill>
                  <a:srgbClr val="EDEAE2"/>
                </a:solidFill>
                <a:latin typeface="Arial" pitchFamily="34" charset="0"/>
                <a:ea typeface="Arial" pitchFamily="34" charset="-122"/>
                <a:cs typeface="Arial" pitchFamily="34" charset="-120"/>
              </a:rPr>
              <a:t>会社は、他の会社の株式を取得することにより </a:t>
            </a:r>
            <a:r>
              <a:rPr lang="en-US" sz="2475" b="1" dirty="0">
                <a:solidFill>
                  <a:srgbClr val="FFFFFF"/>
                </a:solidFill>
                <a:latin typeface="Arial" pitchFamily="34" charset="0"/>
                <a:ea typeface="Arial" pitchFamily="34" charset="-122"/>
                <a:cs typeface="Arial" pitchFamily="34" charset="-120"/>
              </a:rPr>
              <a:t>一定の取引分野における競争を実質的に制限することとなる </a:t>
            </a:r>
            <a:r>
              <a:rPr lang="en-US" sz="2475" dirty="0">
                <a:solidFill>
                  <a:srgbClr val="EDEAE2"/>
                </a:solidFill>
                <a:latin typeface="Arial" pitchFamily="34" charset="0"/>
                <a:ea typeface="Arial" pitchFamily="34" charset="-122"/>
                <a:cs typeface="Arial" pitchFamily="34" charset="-120"/>
              </a:rPr>
              <a:t>場合には、当該株式を取得してはならない。</a:t>
            </a:r>
            <a:endParaRPr lang="en-US" sz="2475" dirty="0"/>
          </a:p>
        </p:txBody>
      </p:sp>
      <p:sp>
        <p:nvSpPr>
          <p:cNvPr id="9" name="Text 7"/>
          <p:cNvSpPr/>
          <p:nvPr/>
        </p:nvSpPr>
        <p:spPr>
          <a:xfrm>
            <a:off x="9022556" y="2559646"/>
            <a:ext cx="442020" cy="403820"/>
          </a:xfrm>
          <a:prstGeom prst="rect">
            <a:avLst/>
          </a:prstGeom>
          <a:noFill/>
          <a:ln/>
        </p:spPr>
        <p:txBody>
          <a:bodyPr wrap="square" lIns="25400" tIns="25400" rIns="25400" bIns="25400" rtlCol="0" anchor="t">
            <a:normAutofit/>
          </a:bodyPr>
          <a:lstStyle/>
          <a:p>
            <a:pPr marL="0" indent="0" algn="l">
              <a:lnSpc>
                <a:spcPct val="120000"/>
              </a:lnSpc>
              <a:buNone/>
            </a:pPr>
            <a:r>
              <a:rPr lang="en-US" sz="2400" dirty="0">
                <a:solidFill>
                  <a:srgbClr val="9A4A38"/>
                </a:solidFill>
                <a:latin typeface="Courier New" pitchFamily="34" charset="0"/>
                <a:ea typeface="Courier New" pitchFamily="34" charset="-122"/>
                <a:cs typeface="Courier New" pitchFamily="34" charset="-120"/>
              </a:rPr>
              <a:t>Q1</a:t>
            </a:r>
            <a:endParaRPr lang="en-US" sz="2400" dirty="0"/>
          </a:p>
        </p:txBody>
      </p:sp>
      <p:sp>
        <p:nvSpPr>
          <p:cNvPr id="10" name="Text 8"/>
          <p:cNvSpPr/>
          <p:nvPr/>
        </p:nvSpPr>
        <p:spPr>
          <a:xfrm>
            <a:off x="9578876" y="2559646"/>
            <a:ext cx="6391384" cy="463550"/>
          </a:xfrm>
          <a:prstGeom prst="rect">
            <a:avLst/>
          </a:prstGeom>
          <a:noFill/>
          <a:ln/>
        </p:spPr>
        <p:txBody>
          <a:bodyPr wrap="square" lIns="25400" tIns="25400" rIns="25400" bIns="25400" rtlCol="0" anchor="t">
            <a:normAutofit/>
          </a:bodyPr>
          <a:lstStyle/>
          <a:p>
            <a:pPr marL="0" indent="0" algn="l">
              <a:buNone/>
            </a:pPr>
            <a:r>
              <a:rPr lang="en-US" sz="2325" b="1" dirty="0">
                <a:solidFill>
                  <a:srgbClr val="1F2730"/>
                </a:solidFill>
                <a:latin typeface="Arial" pitchFamily="34" charset="0"/>
                <a:ea typeface="Arial" pitchFamily="34" charset="-122"/>
                <a:cs typeface="Arial" pitchFamily="34" charset="-120"/>
              </a:rPr>
              <a:t>一定の取引分野は何か</a:t>
            </a:r>
            <a:endParaRPr lang="en-US" sz="2325" dirty="0"/>
          </a:p>
        </p:txBody>
      </p:sp>
      <p:sp>
        <p:nvSpPr>
          <p:cNvPr id="11" name="Text 9"/>
          <p:cNvSpPr/>
          <p:nvPr/>
        </p:nvSpPr>
        <p:spPr>
          <a:xfrm>
            <a:off x="9578876" y="3042245"/>
            <a:ext cx="6391384" cy="450155"/>
          </a:xfrm>
          <a:prstGeom prst="rect">
            <a:avLst/>
          </a:prstGeom>
          <a:noFill/>
          <a:ln/>
        </p:spPr>
        <p:txBody>
          <a:bodyPr wrap="square" lIns="25400" tIns="25400" rIns="25400" bIns="25400" rtlCol="0" anchor="t">
            <a:normAutofit/>
          </a:bodyPr>
          <a:lstStyle/>
          <a:p>
            <a:pPr marL="0" indent="0" algn="l">
              <a:lnSpc>
                <a:spcPct val="145000"/>
              </a:lnSpc>
              <a:buNone/>
            </a:pPr>
            <a:r>
              <a:rPr lang="en-US" sz="2100" dirty="0">
                <a:solidFill>
                  <a:srgbClr val="5A6470"/>
                </a:solidFill>
                <a:latin typeface="Arial" pitchFamily="34" charset="0"/>
                <a:ea typeface="Arial" pitchFamily="34" charset="-122"/>
                <a:cs typeface="Arial" pitchFamily="34" charset="-120"/>
              </a:rPr>
              <a:t>本件 → ドラッグストア業／各店舗 </a:t>
            </a:r>
            <a:r>
              <a:rPr lang="en-US" sz="2100" b="1" dirty="0">
                <a:solidFill>
                  <a:srgbClr val="9A4A38"/>
                </a:solidFill>
                <a:latin typeface="Arial" pitchFamily="34" charset="0"/>
                <a:ea typeface="Arial" pitchFamily="34" charset="-122"/>
                <a:cs typeface="Arial" pitchFamily="34" charset="-120"/>
              </a:rPr>
              <a:t>半径2km </a:t>
            </a:r>
            <a:r>
              <a:rPr lang="en-US" sz="2100" dirty="0">
                <a:solidFill>
                  <a:srgbClr val="5A6470"/>
                </a:solidFill>
                <a:latin typeface="Arial" pitchFamily="34" charset="0"/>
                <a:ea typeface="Arial" pitchFamily="34" charset="-122"/>
                <a:cs typeface="Arial" pitchFamily="34" charset="-120"/>
              </a:rPr>
              <a:t>商圏</a:t>
            </a:r>
            <a:endParaRPr lang="en-US" sz="2100" dirty="0"/>
          </a:p>
        </p:txBody>
      </p:sp>
      <p:sp>
        <p:nvSpPr>
          <p:cNvPr id="12" name="Shape 10"/>
          <p:cNvSpPr/>
          <p:nvPr/>
        </p:nvSpPr>
        <p:spPr>
          <a:xfrm>
            <a:off x="9022556" y="4304010"/>
            <a:ext cx="8236744" cy="9525"/>
          </a:xfrm>
          <a:prstGeom prst="rect">
            <a:avLst/>
          </a:prstGeom>
          <a:solidFill>
            <a:srgbClr val="E4E0D7"/>
          </a:solidFill>
          <a:ln/>
        </p:spPr>
      </p:sp>
      <p:sp>
        <p:nvSpPr>
          <p:cNvPr id="13" name="Text 11"/>
          <p:cNvSpPr/>
          <p:nvPr/>
        </p:nvSpPr>
        <p:spPr>
          <a:xfrm>
            <a:off x="9022556" y="5163245"/>
            <a:ext cx="442020" cy="403820"/>
          </a:xfrm>
          <a:prstGeom prst="rect">
            <a:avLst/>
          </a:prstGeom>
          <a:noFill/>
          <a:ln/>
        </p:spPr>
        <p:txBody>
          <a:bodyPr wrap="square" lIns="25400" tIns="25400" rIns="25400" bIns="25400" rtlCol="0" anchor="t">
            <a:normAutofit/>
          </a:bodyPr>
          <a:lstStyle/>
          <a:p>
            <a:pPr marL="0" indent="0" algn="l">
              <a:lnSpc>
                <a:spcPct val="120000"/>
              </a:lnSpc>
              <a:buNone/>
            </a:pPr>
            <a:r>
              <a:rPr lang="en-US" sz="2400" dirty="0">
                <a:solidFill>
                  <a:srgbClr val="9A4A38"/>
                </a:solidFill>
                <a:latin typeface="Courier New" pitchFamily="34" charset="0"/>
                <a:ea typeface="Courier New" pitchFamily="34" charset="-122"/>
                <a:cs typeface="Courier New" pitchFamily="34" charset="-120"/>
              </a:rPr>
              <a:t>Q2</a:t>
            </a:r>
            <a:endParaRPr lang="en-US" sz="2400" dirty="0"/>
          </a:p>
        </p:txBody>
      </p:sp>
      <p:sp>
        <p:nvSpPr>
          <p:cNvPr id="14" name="Text 12"/>
          <p:cNvSpPr/>
          <p:nvPr/>
        </p:nvSpPr>
        <p:spPr>
          <a:xfrm>
            <a:off x="9578876" y="5163245"/>
            <a:ext cx="5511929" cy="463550"/>
          </a:xfrm>
          <a:prstGeom prst="rect">
            <a:avLst/>
          </a:prstGeom>
          <a:noFill/>
          <a:ln/>
        </p:spPr>
        <p:txBody>
          <a:bodyPr wrap="square" lIns="25400" tIns="25400" rIns="25400" bIns="25400" rtlCol="0" anchor="t">
            <a:normAutofit/>
          </a:bodyPr>
          <a:lstStyle/>
          <a:p>
            <a:pPr marL="0" indent="0" algn="l">
              <a:buNone/>
            </a:pPr>
            <a:r>
              <a:rPr lang="en-US" sz="2325" b="1" dirty="0">
                <a:solidFill>
                  <a:srgbClr val="1F2730"/>
                </a:solidFill>
                <a:latin typeface="Arial" pitchFamily="34" charset="0"/>
                <a:ea typeface="Arial" pitchFamily="34" charset="-122"/>
                <a:cs typeface="Arial" pitchFamily="34" charset="-120"/>
              </a:rPr>
              <a:t>競争を実質的に制限することとなるか</a:t>
            </a:r>
            <a:endParaRPr lang="en-US" sz="2325" dirty="0"/>
          </a:p>
        </p:txBody>
      </p:sp>
      <p:sp>
        <p:nvSpPr>
          <p:cNvPr id="15" name="Text 13"/>
          <p:cNvSpPr/>
          <p:nvPr/>
        </p:nvSpPr>
        <p:spPr>
          <a:xfrm>
            <a:off x="9578876" y="5645845"/>
            <a:ext cx="5511929" cy="450155"/>
          </a:xfrm>
          <a:prstGeom prst="rect">
            <a:avLst/>
          </a:prstGeom>
          <a:noFill/>
          <a:ln/>
        </p:spPr>
        <p:txBody>
          <a:bodyPr wrap="square" lIns="25400" tIns="25400" rIns="25400" bIns="25400" rtlCol="0" anchor="t">
            <a:normAutofit/>
          </a:bodyPr>
          <a:lstStyle/>
          <a:p>
            <a:pPr marL="0" indent="0" algn="l">
              <a:lnSpc>
                <a:spcPct val="145000"/>
              </a:lnSpc>
              <a:buNone/>
            </a:pPr>
            <a:r>
              <a:rPr lang="en-US" sz="2100" dirty="0">
                <a:solidFill>
                  <a:srgbClr val="5A6470"/>
                </a:solidFill>
                <a:latin typeface="Arial" pitchFamily="34" charset="0"/>
                <a:ea typeface="Arial" pitchFamily="34" charset="-122"/>
                <a:cs typeface="Arial" pitchFamily="34" charset="-120"/>
              </a:rPr>
              <a:t>単独行動を中心に </a:t>
            </a:r>
            <a:r>
              <a:rPr lang="en-US" sz="2100" b="1" dirty="0">
                <a:solidFill>
                  <a:srgbClr val="9A4A38"/>
                </a:solidFill>
                <a:latin typeface="Arial" pitchFamily="34" charset="0"/>
                <a:ea typeface="Arial" pitchFamily="34" charset="-122"/>
                <a:cs typeface="Arial" pitchFamily="34" charset="-120"/>
              </a:rPr>
              <a:t>10商圏 </a:t>
            </a:r>
            <a:r>
              <a:rPr lang="en-US" sz="2100" dirty="0">
                <a:solidFill>
                  <a:srgbClr val="5A6470"/>
                </a:solidFill>
                <a:latin typeface="Arial" pitchFamily="34" charset="0"/>
                <a:ea typeface="Arial" pitchFamily="34" charset="-122"/>
                <a:cs typeface="Arial" pitchFamily="34" charset="-120"/>
              </a:rPr>
              <a:t>で懸念を認定</a:t>
            </a:r>
            <a:endParaRPr lang="en-US" sz="2100" dirty="0"/>
          </a:p>
        </p:txBody>
      </p:sp>
      <p:sp>
        <p:nvSpPr>
          <p:cNvPr id="16" name="Shape 14"/>
          <p:cNvSpPr/>
          <p:nvPr/>
        </p:nvSpPr>
        <p:spPr>
          <a:xfrm>
            <a:off x="9022556" y="6907510"/>
            <a:ext cx="8236744" cy="9525"/>
          </a:xfrm>
          <a:prstGeom prst="rect">
            <a:avLst/>
          </a:prstGeom>
          <a:solidFill>
            <a:srgbClr val="E4E0D7"/>
          </a:solidFill>
          <a:ln/>
        </p:spPr>
      </p:sp>
      <p:sp>
        <p:nvSpPr>
          <p:cNvPr id="17" name="Text 15"/>
          <p:cNvSpPr/>
          <p:nvPr/>
        </p:nvSpPr>
        <p:spPr>
          <a:xfrm>
            <a:off x="9022556" y="7766745"/>
            <a:ext cx="442020" cy="403820"/>
          </a:xfrm>
          <a:prstGeom prst="rect">
            <a:avLst/>
          </a:prstGeom>
          <a:noFill/>
          <a:ln/>
        </p:spPr>
        <p:txBody>
          <a:bodyPr wrap="square" lIns="25400" tIns="25400" rIns="25400" bIns="25400" rtlCol="0" anchor="t">
            <a:normAutofit/>
          </a:bodyPr>
          <a:lstStyle/>
          <a:p>
            <a:pPr marL="0" indent="0" algn="l">
              <a:lnSpc>
                <a:spcPct val="120000"/>
              </a:lnSpc>
              <a:buNone/>
            </a:pPr>
            <a:r>
              <a:rPr lang="en-US" sz="2400" dirty="0">
                <a:solidFill>
                  <a:srgbClr val="9A4A38"/>
                </a:solidFill>
                <a:latin typeface="Courier New" pitchFamily="34" charset="0"/>
                <a:ea typeface="Courier New" pitchFamily="34" charset="-122"/>
                <a:cs typeface="Courier New" pitchFamily="34" charset="-120"/>
              </a:rPr>
              <a:t>Q3</a:t>
            </a:r>
            <a:endParaRPr lang="en-US" sz="2400" dirty="0"/>
          </a:p>
        </p:txBody>
      </p:sp>
      <p:sp>
        <p:nvSpPr>
          <p:cNvPr id="18" name="Text 16"/>
          <p:cNvSpPr/>
          <p:nvPr/>
        </p:nvSpPr>
        <p:spPr>
          <a:xfrm>
            <a:off x="9578876" y="7766745"/>
            <a:ext cx="6455122" cy="463550"/>
          </a:xfrm>
          <a:prstGeom prst="rect">
            <a:avLst/>
          </a:prstGeom>
          <a:noFill/>
          <a:ln/>
        </p:spPr>
        <p:txBody>
          <a:bodyPr wrap="square" lIns="25400" tIns="25400" rIns="25400" bIns="25400" rtlCol="0" anchor="t">
            <a:normAutofit/>
          </a:bodyPr>
          <a:lstStyle/>
          <a:p>
            <a:pPr marL="0" indent="0" algn="l">
              <a:buNone/>
            </a:pPr>
            <a:r>
              <a:rPr lang="en-US" sz="2325" b="1" dirty="0">
                <a:solidFill>
                  <a:srgbClr val="1F2730"/>
                </a:solidFill>
                <a:latin typeface="Arial" pitchFamily="34" charset="0"/>
                <a:ea typeface="Arial" pitchFamily="34" charset="-122"/>
                <a:cs typeface="Arial" pitchFamily="34" charset="-120"/>
              </a:rPr>
              <a:t>措置で懸念は解消されるか</a:t>
            </a:r>
            <a:endParaRPr lang="en-US" sz="2325" dirty="0"/>
          </a:p>
        </p:txBody>
      </p:sp>
      <p:sp>
        <p:nvSpPr>
          <p:cNvPr id="19" name="Text 17"/>
          <p:cNvSpPr/>
          <p:nvPr/>
        </p:nvSpPr>
        <p:spPr>
          <a:xfrm>
            <a:off x="9578876" y="8249345"/>
            <a:ext cx="6455122" cy="424755"/>
          </a:xfrm>
          <a:prstGeom prst="rect">
            <a:avLst/>
          </a:prstGeom>
          <a:noFill/>
          <a:ln/>
        </p:spPr>
        <p:txBody>
          <a:bodyPr wrap="square" lIns="25400" tIns="25400" rIns="25400" bIns="25400" rtlCol="0" anchor="t">
            <a:normAutofit/>
          </a:bodyPr>
          <a:lstStyle/>
          <a:p>
            <a:pPr marL="0" indent="0" algn="l">
              <a:lnSpc>
                <a:spcPct val="145000"/>
              </a:lnSpc>
              <a:buNone/>
            </a:pPr>
            <a:r>
              <a:rPr lang="en-US" sz="2100" dirty="0">
                <a:solidFill>
                  <a:srgbClr val="5A6470"/>
                </a:solidFill>
                <a:latin typeface="Arial" pitchFamily="34" charset="0"/>
                <a:ea typeface="Arial" pitchFamily="34" charset="-122"/>
                <a:cs typeface="Arial" pitchFamily="34" charset="-120"/>
              </a:rPr>
              <a:t>各商圏で1店舗を第三者へ譲渡 ＋ 独立監視受託者</a:t>
            </a:r>
            <a:endParaRPr lang="en-US" sz="2100" dirty="0"/>
          </a:p>
        </p:txBody>
      </p:sp>
      <p:sp>
        <p:nvSpPr>
          <p:cNvPr id="20" name="Text 18"/>
          <p:cNvSpPr/>
          <p:nvPr/>
        </p:nvSpPr>
        <p:spPr>
          <a:xfrm>
            <a:off x="1028700" y="8788400"/>
            <a:ext cx="17853660" cy="393700"/>
          </a:xfrm>
          <a:prstGeom prst="rect">
            <a:avLst/>
          </a:prstGeom>
          <a:noFill/>
          <a:ln/>
        </p:spPr>
        <p:txBody>
          <a:bodyPr wrap="square" lIns="25400" tIns="25400" rIns="25400" bIns="25400" rtlCol="0" anchor="t">
            <a:normAutofit/>
          </a:bodyPr>
          <a:lstStyle/>
          <a:p>
            <a:pPr marL="0" indent="0" algn="l">
              <a:buNone/>
            </a:pPr>
            <a:r>
              <a:rPr lang="en-US" sz="1950" dirty="0">
                <a:solidFill>
                  <a:srgbClr val="97928A"/>
                </a:solidFill>
                <a:latin typeface="Arial" pitchFamily="34" charset="0"/>
                <a:ea typeface="Arial" pitchFamily="34" charset="-122"/>
                <a:cs typeface="Arial" pitchFamily="34" charset="-120"/>
              </a:rPr>
              <a:t>※ 市場画定は終始「一般用医薬品」を軸に。食料品が主力商品でも画定の基準には用いられていない（→ 第4部の伏線）。</a:t>
            </a:r>
            <a:endParaRPr lang="en-US" sz="1950" dirty="0"/>
          </a:p>
        </p:txBody>
      </p:sp>
      <p:sp>
        <p:nvSpPr>
          <p:cNvPr id="21" name="Shape 19"/>
          <p:cNvSpPr/>
          <p:nvPr/>
        </p:nvSpPr>
        <p:spPr>
          <a:xfrm>
            <a:off x="1028700" y="9296400"/>
            <a:ext cx="16230600" cy="9525"/>
          </a:xfrm>
          <a:prstGeom prst="rect">
            <a:avLst/>
          </a:prstGeom>
          <a:solidFill>
            <a:srgbClr val="E4E0D7"/>
          </a:solidFill>
          <a:ln/>
        </p:spPr>
      </p:sp>
      <p:sp>
        <p:nvSpPr>
          <p:cNvPr id="22" name="Text 20"/>
          <p:cNvSpPr/>
          <p:nvPr/>
        </p:nvSpPr>
        <p:spPr>
          <a:xfrm>
            <a:off x="1028700" y="9455150"/>
            <a:ext cx="6976378" cy="393700"/>
          </a:xfrm>
          <a:prstGeom prst="rect">
            <a:avLst/>
          </a:prstGeom>
          <a:noFill/>
          <a:ln/>
        </p:spPr>
        <p:txBody>
          <a:bodyPr wrap="square" lIns="25400" tIns="25400" rIns="25400" bIns="25400" rtlCol="0" anchor="t">
            <a:normAutofit/>
          </a:bodyPr>
          <a:lstStyle/>
          <a:p>
            <a:pPr marL="0" indent="0" algn="l">
              <a:buNone/>
            </a:pPr>
            <a:r>
              <a:rPr lang="en-US" sz="1950" dirty="0">
                <a:solidFill>
                  <a:srgbClr val="97928A"/>
                </a:solidFill>
                <a:latin typeface="Arial" pitchFamily="34" charset="0"/>
                <a:ea typeface="Arial" pitchFamily="34" charset="-122"/>
                <a:cs typeface="Arial" pitchFamily="34" charset="-120"/>
              </a:rPr>
              <a:t>永田 稔人 ｜ 中里ゼミ（経済法） ｜ 2026年6月30日</a:t>
            </a:r>
            <a:endParaRPr lang="en-US" sz="1950" dirty="0"/>
          </a:p>
        </p:txBody>
      </p:sp>
      <p:sp>
        <p:nvSpPr>
          <p:cNvPr id="23" name="Text 21"/>
          <p:cNvSpPr/>
          <p:nvPr/>
        </p:nvSpPr>
        <p:spPr>
          <a:xfrm>
            <a:off x="16115109" y="9471025"/>
            <a:ext cx="1220391" cy="361950"/>
          </a:xfrm>
          <a:prstGeom prst="rect">
            <a:avLst/>
          </a:prstGeom>
          <a:noFill/>
          <a:ln/>
        </p:spPr>
        <p:txBody>
          <a:bodyPr wrap="square" lIns="25400" tIns="25400" rIns="25400" bIns="25400" rtlCol="0" anchor="t">
            <a:normAutofit/>
          </a:bodyPr>
          <a:lstStyle/>
          <a:p>
            <a:pPr marL="0" indent="0" algn="l">
              <a:buNone/>
            </a:pPr>
            <a:r>
              <a:rPr lang="en-US" sz="1950" kern="0" spc="117" dirty="0">
                <a:solidFill>
                  <a:srgbClr val="97928A"/>
                </a:solidFill>
                <a:latin typeface="Courier New" pitchFamily="34" charset="0"/>
                <a:ea typeface="Courier New" pitchFamily="34" charset="-122"/>
                <a:cs typeface="Courier New" pitchFamily="34" charset="-120"/>
              </a:rPr>
              <a:t>07 / 27</a:t>
            </a:r>
            <a:endParaRPr lang="en-US" sz="1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2"/>
        </a:solidFill>
        <a:effectLst/>
      </p:bgPr>
    </p:bg>
    <p:spTree>
      <p:nvGrpSpPr>
        <p:cNvPr id="1" name=""/>
        <p:cNvGrpSpPr/>
        <p:nvPr/>
      </p:nvGrpSpPr>
      <p:grpSpPr>
        <a:xfrm>
          <a:off x="0" y="0"/>
          <a:ext cx="0" cy="0"/>
          <a:chOff x="0" y="0"/>
          <a:chExt cx="0" cy="0"/>
        </a:xfrm>
      </p:grpSpPr>
      <p:sp>
        <p:nvSpPr>
          <p:cNvPr id="2" name="Shape 0"/>
          <p:cNvSpPr/>
          <p:nvPr/>
        </p:nvSpPr>
        <p:spPr>
          <a:xfrm>
            <a:off x="1028700" y="801688"/>
            <a:ext cx="304800" cy="28575"/>
          </a:xfrm>
          <a:prstGeom prst="rect">
            <a:avLst/>
          </a:prstGeom>
          <a:solidFill>
            <a:srgbClr val="9A4A38"/>
          </a:solidFill>
          <a:ln/>
        </p:spPr>
      </p:sp>
      <p:sp>
        <p:nvSpPr>
          <p:cNvPr id="3" name="Text 1"/>
          <p:cNvSpPr/>
          <p:nvPr/>
        </p:nvSpPr>
        <p:spPr>
          <a:xfrm>
            <a:off x="1466850" y="628650"/>
            <a:ext cx="2679075" cy="412750"/>
          </a:xfrm>
          <a:prstGeom prst="rect">
            <a:avLst/>
          </a:prstGeom>
          <a:noFill/>
          <a:ln/>
        </p:spPr>
        <p:txBody>
          <a:bodyPr wrap="square" lIns="25400" tIns="25400" rIns="25400" bIns="25400" rtlCol="0" anchor="t">
            <a:normAutofit/>
          </a:bodyPr>
          <a:lstStyle/>
          <a:p>
            <a:pPr marL="0" indent="0" algn="l">
              <a:buNone/>
            </a:pPr>
            <a:r>
              <a:rPr lang="en-US" sz="2025" kern="0" spc="203" dirty="0">
                <a:solidFill>
                  <a:srgbClr val="5A6470"/>
                </a:solidFill>
                <a:latin typeface="Arial" pitchFamily="34" charset="0"/>
                <a:ea typeface="Arial" pitchFamily="34" charset="-122"/>
                <a:cs typeface="Arial" pitchFamily="34" charset="-120"/>
              </a:rPr>
              <a:t>第1部 規範と事案</a:t>
            </a:r>
            <a:endParaRPr lang="en-US" sz="2025" dirty="0"/>
          </a:p>
        </p:txBody>
      </p:sp>
      <p:sp>
        <p:nvSpPr>
          <p:cNvPr id="4" name="Text 2"/>
          <p:cNvSpPr/>
          <p:nvPr/>
        </p:nvSpPr>
        <p:spPr>
          <a:xfrm>
            <a:off x="1028700" y="1174750"/>
            <a:ext cx="17853660" cy="624384"/>
          </a:xfrm>
          <a:prstGeom prst="rect">
            <a:avLst/>
          </a:prstGeom>
          <a:noFill/>
          <a:ln/>
        </p:spPr>
        <p:txBody>
          <a:bodyPr wrap="square" lIns="25400" tIns="25400" rIns="25400" bIns="25400" rtlCol="0" anchor="t">
            <a:normAutofit/>
          </a:bodyPr>
          <a:lstStyle/>
          <a:p>
            <a:pPr marL="0" indent="0" algn="l">
              <a:lnSpc>
                <a:spcPct val="114000"/>
              </a:lnSpc>
              <a:buNone/>
            </a:pPr>
            <a:r>
              <a:rPr lang="en-US" sz="4050" b="1" dirty="0">
                <a:solidFill>
                  <a:srgbClr val="1F2730"/>
                </a:solidFill>
                <a:latin typeface="Arial" pitchFamily="34" charset="0"/>
                <a:ea typeface="Arial" pitchFamily="34" charset="-122"/>
                <a:cs typeface="Arial" pitchFamily="34" charset="-120"/>
              </a:rPr>
              <a:t>事案と取引スキーム</a:t>
            </a:r>
            <a:endParaRPr lang="en-US" sz="4050" dirty="0"/>
          </a:p>
        </p:txBody>
      </p:sp>
      <p:sp>
        <p:nvSpPr>
          <p:cNvPr id="5" name="Text 3"/>
          <p:cNvSpPr/>
          <p:nvPr/>
        </p:nvSpPr>
        <p:spPr>
          <a:xfrm>
            <a:off x="1028700" y="1894384"/>
            <a:ext cx="15304770" cy="974923"/>
          </a:xfrm>
          <a:prstGeom prst="rect">
            <a:avLst/>
          </a:prstGeom>
          <a:noFill/>
          <a:ln/>
        </p:spPr>
        <p:txBody>
          <a:bodyPr wrap="square" lIns="25400" tIns="25400" rIns="25400" bIns="25400" rtlCol="0" anchor="t">
            <a:normAutofit/>
          </a:bodyPr>
          <a:lstStyle/>
          <a:p>
            <a:pPr marL="0" indent="0" algn="l">
              <a:lnSpc>
                <a:spcPct val="145000"/>
              </a:lnSpc>
              <a:buNone/>
            </a:pPr>
            <a:r>
              <a:rPr lang="en-US" sz="2475" dirty="0">
                <a:solidFill>
                  <a:srgbClr val="4A5560"/>
                </a:solidFill>
                <a:latin typeface="Arial" pitchFamily="34" charset="0"/>
                <a:ea typeface="Arial" pitchFamily="34" charset="-122"/>
                <a:cs typeface="Arial" pitchFamily="34" charset="-120"/>
              </a:rPr>
              <a:t>イオンによるツルハHDの</a:t>
            </a:r>
            <a:r>
              <a:rPr lang="en-US" sz="2475" b="1" dirty="0">
                <a:solidFill>
                  <a:srgbClr val="9A4A38"/>
                </a:solidFill>
                <a:latin typeface="Arial" pitchFamily="34" charset="0"/>
                <a:ea typeface="Arial" pitchFamily="34" charset="-122"/>
                <a:cs typeface="Arial" pitchFamily="34" charset="-120"/>
              </a:rPr>
              <a:t>株式取得 </a:t>
            </a:r>
            <a:r>
              <a:rPr lang="en-US" sz="2475" dirty="0">
                <a:solidFill>
                  <a:srgbClr val="4A5560"/>
                </a:solidFill>
                <a:latin typeface="Arial" pitchFamily="34" charset="0"/>
                <a:ea typeface="Arial" pitchFamily="34" charset="-122"/>
                <a:cs typeface="Arial" pitchFamily="34" charset="-120"/>
              </a:rPr>
              <a:t>（議決権50%超＝第10条）。両グループはドラッグストア事業が重複する。</a:t>
            </a:r>
            <a:endParaRPr lang="en-US" sz="2475" dirty="0"/>
          </a:p>
        </p:txBody>
      </p:sp>
      <p:sp>
        <p:nvSpPr>
          <p:cNvPr id="6" name="Shape 4"/>
          <p:cNvSpPr/>
          <p:nvPr/>
        </p:nvSpPr>
        <p:spPr>
          <a:xfrm>
            <a:off x="1028700" y="3812481"/>
            <a:ext cx="3928070" cy="2108597"/>
          </a:xfrm>
          <a:prstGeom prst="roundRect">
            <a:avLst>
              <a:gd name="adj" fmla="val 4517"/>
            </a:avLst>
          </a:prstGeom>
          <a:solidFill>
            <a:srgbClr val="FFFFFF"/>
          </a:solidFill>
          <a:ln w="6350">
            <a:solidFill>
              <a:srgbClr val="E0DCD2"/>
            </a:solidFill>
            <a:prstDash val="solid"/>
          </a:ln>
        </p:spPr>
      </p:sp>
      <p:sp>
        <p:nvSpPr>
          <p:cNvPr id="7" name="Text 5"/>
          <p:cNvSpPr/>
          <p:nvPr/>
        </p:nvSpPr>
        <p:spPr>
          <a:xfrm>
            <a:off x="1301750" y="4066481"/>
            <a:ext cx="3720167" cy="482600"/>
          </a:xfrm>
          <a:prstGeom prst="rect">
            <a:avLst/>
          </a:prstGeom>
          <a:noFill/>
          <a:ln/>
        </p:spPr>
        <p:txBody>
          <a:bodyPr wrap="square" lIns="25400" tIns="25400" rIns="25400" bIns="25400" rtlCol="0" anchor="t">
            <a:normAutofit/>
          </a:bodyPr>
          <a:lstStyle/>
          <a:p>
            <a:pPr marL="0" indent="0" algn="l">
              <a:buNone/>
            </a:pPr>
            <a:r>
              <a:rPr lang="en-US" sz="2400" b="1" dirty="0">
                <a:solidFill>
                  <a:srgbClr val="1F2730"/>
                </a:solidFill>
                <a:latin typeface="Arial" pitchFamily="34" charset="0"/>
                <a:ea typeface="Arial" pitchFamily="34" charset="-122"/>
                <a:cs typeface="Arial" pitchFamily="34" charset="-120"/>
              </a:rPr>
              <a:t>イオングループ</a:t>
            </a:r>
            <a:endParaRPr lang="en-US" sz="2400" dirty="0"/>
          </a:p>
        </p:txBody>
      </p:sp>
      <p:sp>
        <p:nvSpPr>
          <p:cNvPr id="8" name="Text 6"/>
          <p:cNvSpPr/>
          <p:nvPr/>
        </p:nvSpPr>
        <p:spPr>
          <a:xfrm>
            <a:off x="1301750" y="4587180"/>
            <a:ext cx="3483429" cy="1117997"/>
          </a:xfrm>
          <a:prstGeom prst="rect">
            <a:avLst/>
          </a:prstGeom>
          <a:noFill/>
          <a:ln/>
        </p:spPr>
        <p:txBody>
          <a:bodyPr wrap="square" lIns="25400" tIns="25400" rIns="25400" bIns="25400" rtlCol="0" anchor="t">
            <a:normAutofit/>
          </a:bodyPr>
          <a:lstStyle/>
          <a:p>
            <a:pPr marL="0" indent="0" algn="l">
              <a:lnSpc>
                <a:spcPct val="140000"/>
              </a:lnSpc>
              <a:buNone/>
            </a:pPr>
            <a:r>
              <a:rPr lang="en-US" sz="2025" dirty="0">
                <a:solidFill>
                  <a:srgbClr val="5A6470"/>
                </a:solidFill>
                <a:latin typeface="Arial" pitchFamily="34" charset="0"/>
                <a:ea typeface="Arial" pitchFamily="34" charset="-122"/>
                <a:cs typeface="Arial" pitchFamily="34" charset="-120"/>
              </a:rPr>
              <a:t>国内最大級の小売グループ。スーパーとドラッグストア（ウエルシア等）を擁する。</a:t>
            </a:r>
            <a:endParaRPr lang="en-US" sz="2025" dirty="0"/>
          </a:p>
        </p:txBody>
      </p:sp>
      <p:sp>
        <p:nvSpPr>
          <p:cNvPr id="9" name="Text 7"/>
          <p:cNvSpPr/>
          <p:nvPr/>
        </p:nvSpPr>
        <p:spPr>
          <a:xfrm>
            <a:off x="5166321" y="4346079"/>
            <a:ext cx="3018175" cy="393700"/>
          </a:xfrm>
          <a:prstGeom prst="rect">
            <a:avLst/>
          </a:prstGeom>
          <a:noFill/>
          <a:ln/>
        </p:spPr>
        <p:txBody>
          <a:bodyPr wrap="none" lIns="25400" tIns="25400" rIns="25400" bIns="25400" rtlCol="0" anchor="t">
            <a:normAutofit/>
          </a:bodyPr>
          <a:lstStyle/>
          <a:p>
            <a:pPr marL="0" indent="0" algn="l">
              <a:buNone/>
            </a:pPr>
            <a:r>
              <a:rPr lang="en-US" sz="1950" dirty="0">
                <a:solidFill>
                  <a:srgbClr val="9A4A38"/>
                </a:solidFill>
                <a:latin typeface="Arial" pitchFamily="34" charset="0"/>
                <a:ea typeface="Arial" pitchFamily="34" charset="-122"/>
                <a:cs typeface="Arial" pitchFamily="34" charset="-120"/>
              </a:rPr>
              <a:t>株式取得・議決権50%超</a:t>
            </a:r>
            <a:endParaRPr lang="en-US" sz="1950" dirty="0"/>
          </a:p>
        </p:txBody>
      </p:sp>
      <p:sp>
        <p:nvSpPr>
          <p:cNvPr id="10" name="Text 8"/>
          <p:cNvSpPr/>
          <p:nvPr/>
        </p:nvSpPr>
        <p:spPr>
          <a:xfrm>
            <a:off x="6357243" y="4701679"/>
            <a:ext cx="438150" cy="400050"/>
          </a:xfrm>
          <a:prstGeom prst="rect">
            <a:avLst/>
          </a:prstGeom>
          <a:noFill/>
          <a:ln/>
        </p:spPr>
        <p:txBody>
          <a:bodyPr wrap="square" lIns="25400" tIns="25400" rIns="25400" bIns="25400" rtlCol="0" anchor="t">
            <a:normAutofit/>
          </a:bodyPr>
          <a:lstStyle/>
          <a:p>
            <a:pPr marL="0" indent="0" algn="l">
              <a:lnSpc>
                <a:spcPct val="100000"/>
              </a:lnSpc>
              <a:buNone/>
            </a:pPr>
            <a:r>
              <a:rPr lang="en-US" sz="2850" dirty="0">
                <a:solidFill>
                  <a:srgbClr val="9A4A38"/>
                </a:solidFill>
                <a:latin typeface="Arial" pitchFamily="34" charset="0"/>
                <a:ea typeface="Arial" pitchFamily="34" charset="-122"/>
                <a:cs typeface="Arial" pitchFamily="34" charset="-120"/>
              </a:rPr>
              <a:t>→</a:t>
            </a:r>
            <a:endParaRPr lang="en-US" sz="2850" dirty="0"/>
          </a:p>
        </p:txBody>
      </p:sp>
      <p:sp>
        <p:nvSpPr>
          <p:cNvPr id="11" name="Text 9"/>
          <p:cNvSpPr/>
          <p:nvPr/>
        </p:nvSpPr>
        <p:spPr>
          <a:xfrm>
            <a:off x="6141938" y="5063629"/>
            <a:ext cx="868759" cy="361950"/>
          </a:xfrm>
          <a:prstGeom prst="rect">
            <a:avLst/>
          </a:prstGeom>
          <a:noFill/>
          <a:ln/>
        </p:spPr>
        <p:txBody>
          <a:bodyPr wrap="square" lIns="25400" tIns="25400" rIns="25400" bIns="25400" rtlCol="0" anchor="t">
            <a:normAutofit/>
          </a:bodyPr>
          <a:lstStyle/>
          <a:p>
            <a:pPr marL="0" indent="0" algn="l">
              <a:buNone/>
            </a:pPr>
            <a:r>
              <a:rPr lang="en-US" sz="1950" dirty="0">
                <a:solidFill>
                  <a:srgbClr val="9A4A38"/>
                </a:solidFill>
                <a:latin typeface="Courier New" pitchFamily="34" charset="0"/>
                <a:ea typeface="Courier New" pitchFamily="34" charset="-122"/>
                <a:cs typeface="Courier New" pitchFamily="34" charset="-120"/>
              </a:rPr>
              <a:t>第10条</a:t>
            </a:r>
            <a:endParaRPr lang="en-US" sz="1950" dirty="0"/>
          </a:p>
        </p:txBody>
      </p:sp>
      <p:sp>
        <p:nvSpPr>
          <p:cNvPr id="12" name="Shape 10"/>
          <p:cNvSpPr/>
          <p:nvPr/>
        </p:nvSpPr>
        <p:spPr>
          <a:xfrm>
            <a:off x="8119666" y="3812481"/>
            <a:ext cx="3915370" cy="2108597"/>
          </a:xfrm>
          <a:prstGeom prst="roundRect">
            <a:avLst>
              <a:gd name="adj" fmla="val 4517"/>
            </a:avLst>
          </a:prstGeom>
          <a:solidFill>
            <a:srgbClr val="2E3B45"/>
          </a:solidFill>
          <a:ln/>
        </p:spPr>
      </p:sp>
      <p:sp>
        <p:nvSpPr>
          <p:cNvPr id="13" name="Text 11"/>
          <p:cNvSpPr/>
          <p:nvPr/>
        </p:nvSpPr>
        <p:spPr>
          <a:xfrm>
            <a:off x="8386366" y="4060131"/>
            <a:ext cx="3720167" cy="482600"/>
          </a:xfrm>
          <a:prstGeom prst="rect">
            <a:avLst/>
          </a:prstGeom>
          <a:noFill/>
          <a:ln/>
        </p:spPr>
        <p:txBody>
          <a:bodyPr wrap="square" lIns="25400" tIns="25400" rIns="25400" bIns="25400" rtlCol="0" anchor="t">
            <a:normAutofit/>
          </a:bodyPr>
          <a:lstStyle/>
          <a:p>
            <a:pPr marL="0" indent="0" algn="l">
              <a:buNone/>
            </a:pPr>
            <a:r>
              <a:rPr lang="en-US" sz="2400" b="1" dirty="0">
                <a:solidFill>
                  <a:srgbClr val="FFFFFF"/>
                </a:solidFill>
                <a:latin typeface="Arial" pitchFamily="34" charset="0"/>
                <a:ea typeface="Arial" pitchFamily="34" charset="-122"/>
                <a:cs typeface="Arial" pitchFamily="34" charset="-120"/>
              </a:rPr>
              <a:t>ツルハHD</a:t>
            </a:r>
            <a:endParaRPr lang="en-US" sz="2400" dirty="0"/>
          </a:p>
        </p:txBody>
      </p:sp>
      <p:sp>
        <p:nvSpPr>
          <p:cNvPr id="14" name="Text 12"/>
          <p:cNvSpPr/>
          <p:nvPr/>
        </p:nvSpPr>
        <p:spPr>
          <a:xfrm>
            <a:off x="8386366" y="4580831"/>
            <a:ext cx="3483429" cy="758031"/>
          </a:xfrm>
          <a:prstGeom prst="rect">
            <a:avLst/>
          </a:prstGeom>
          <a:noFill/>
          <a:ln/>
        </p:spPr>
        <p:txBody>
          <a:bodyPr wrap="square" lIns="25400" tIns="25400" rIns="25400" bIns="25400" rtlCol="0" anchor="t">
            <a:normAutofit/>
          </a:bodyPr>
          <a:lstStyle/>
          <a:p>
            <a:pPr marL="0" indent="0" algn="l">
              <a:lnSpc>
                <a:spcPct val="140000"/>
              </a:lnSpc>
              <a:buNone/>
            </a:pPr>
            <a:r>
              <a:rPr lang="en-US" sz="2025" dirty="0">
                <a:solidFill>
                  <a:srgbClr val="B9C0C5"/>
                </a:solidFill>
                <a:latin typeface="Arial" pitchFamily="34" charset="0"/>
                <a:ea typeface="Arial" pitchFamily="34" charset="-122"/>
                <a:cs typeface="Arial" pitchFamily="34" charset="-120"/>
              </a:rPr>
              <a:t>ツルハドラッグ／くすりのレデイ／ウェルネス／杏林堂</a:t>
            </a:r>
            <a:endParaRPr lang="en-US" sz="2025" dirty="0"/>
          </a:p>
        </p:txBody>
      </p:sp>
      <p:sp>
        <p:nvSpPr>
          <p:cNvPr id="15" name="Text 13"/>
          <p:cNvSpPr/>
          <p:nvPr/>
        </p:nvSpPr>
        <p:spPr>
          <a:xfrm>
            <a:off x="12244586" y="4508004"/>
            <a:ext cx="1634490" cy="393700"/>
          </a:xfrm>
          <a:prstGeom prst="rect">
            <a:avLst/>
          </a:prstGeom>
          <a:noFill/>
          <a:ln/>
        </p:spPr>
        <p:txBody>
          <a:bodyPr wrap="none" lIns="25400" tIns="25400" rIns="25400" bIns="25400" rtlCol="0" anchor="t">
            <a:normAutofit/>
          </a:bodyPr>
          <a:lstStyle/>
          <a:p>
            <a:pPr marL="0" indent="0" algn="l">
              <a:buNone/>
            </a:pPr>
            <a:r>
              <a:rPr lang="en-US" sz="1950" dirty="0">
                <a:solidFill>
                  <a:srgbClr val="5A6470"/>
                </a:solidFill>
                <a:latin typeface="Arial" pitchFamily="34" charset="0"/>
                <a:ea typeface="Arial" pitchFamily="34" charset="-122"/>
                <a:cs typeface="Arial" pitchFamily="34" charset="-120"/>
              </a:rPr>
              <a:t>完全子会社化</a:t>
            </a:r>
            <a:endParaRPr lang="en-US" sz="1950" dirty="0"/>
          </a:p>
        </p:txBody>
      </p:sp>
      <p:sp>
        <p:nvSpPr>
          <p:cNvPr id="16" name="Text 14"/>
          <p:cNvSpPr/>
          <p:nvPr/>
        </p:nvSpPr>
        <p:spPr>
          <a:xfrm>
            <a:off x="12806561" y="4863604"/>
            <a:ext cx="438150" cy="400050"/>
          </a:xfrm>
          <a:prstGeom prst="rect">
            <a:avLst/>
          </a:prstGeom>
          <a:noFill/>
          <a:ln/>
        </p:spPr>
        <p:txBody>
          <a:bodyPr wrap="square" lIns="25400" tIns="25400" rIns="25400" bIns="25400" rtlCol="0" anchor="t">
            <a:normAutofit/>
          </a:bodyPr>
          <a:lstStyle/>
          <a:p>
            <a:pPr marL="0" indent="0" algn="l">
              <a:lnSpc>
                <a:spcPct val="100000"/>
              </a:lnSpc>
              <a:buNone/>
            </a:pPr>
            <a:r>
              <a:rPr lang="en-US" sz="2850" dirty="0">
                <a:solidFill>
                  <a:srgbClr val="B6AFA2"/>
                </a:solidFill>
                <a:latin typeface="Arial" pitchFamily="34" charset="0"/>
                <a:ea typeface="Arial" pitchFamily="34" charset="-122"/>
                <a:cs typeface="Arial" pitchFamily="34" charset="-120"/>
              </a:rPr>
              <a:t>→</a:t>
            </a:r>
            <a:endParaRPr lang="en-US" sz="2850" dirty="0"/>
          </a:p>
        </p:txBody>
      </p:sp>
      <p:sp>
        <p:nvSpPr>
          <p:cNvPr id="17" name="Shape 15"/>
          <p:cNvSpPr/>
          <p:nvPr/>
        </p:nvSpPr>
        <p:spPr>
          <a:xfrm>
            <a:off x="13940036" y="3812481"/>
            <a:ext cx="3319264" cy="2108597"/>
          </a:xfrm>
          <a:prstGeom prst="roundRect">
            <a:avLst>
              <a:gd name="adj" fmla="val 4517"/>
            </a:avLst>
          </a:prstGeom>
          <a:solidFill>
            <a:srgbClr val="FFFFFF"/>
          </a:solidFill>
          <a:ln w="6350">
            <a:solidFill>
              <a:srgbClr val="E0DCD2"/>
            </a:solidFill>
            <a:prstDash val="solid"/>
          </a:ln>
        </p:spPr>
      </p:sp>
      <p:sp>
        <p:nvSpPr>
          <p:cNvPr id="18" name="Text 16"/>
          <p:cNvSpPr/>
          <p:nvPr/>
        </p:nvSpPr>
        <p:spPr>
          <a:xfrm>
            <a:off x="14213086" y="4066481"/>
            <a:ext cx="3050481" cy="482600"/>
          </a:xfrm>
          <a:prstGeom prst="rect">
            <a:avLst/>
          </a:prstGeom>
          <a:noFill/>
          <a:ln/>
        </p:spPr>
        <p:txBody>
          <a:bodyPr wrap="square" lIns="25400" tIns="25400" rIns="25400" bIns="25400" rtlCol="0" anchor="t">
            <a:normAutofit/>
          </a:bodyPr>
          <a:lstStyle/>
          <a:p>
            <a:pPr marL="0" indent="0" algn="l">
              <a:buNone/>
            </a:pPr>
            <a:r>
              <a:rPr lang="en-US" sz="2400" b="1" dirty="0">
                <a:solidFill>
                  <a:srgbClr val="1F2730"/>
                </a:solidFill>
                <a:latin typeface="Arial" pitchFamily="34" charset="0"/>
                <a:ea typeface="Arial" pitchFamily="34" charset="-122"/>
                <a:cs typeface="Arial" pitchFamily="34" charset="-120"/>
              </a:rPr>
              <a:t>ウエルシア</a:t>
            </a:r>
            <a:endParaRPr lang="en-US" sz="2400" dirty="0"/>
          </a:p>
        </p:txBody>
      </p:sp>
      <p:sp>
        <p:nvSpPr>
          <p:cNvPr id="19" name="Text 17"/>
          <p:cNvSpPr/>
          <p:nvPr/>
        </p:nvSpPr>
        <p:spPr>
          <a:xfrm>
            <a:off x="14213086" y="4587180"/>
            <a:ext cx="2856359" cy="758031"/>
          </a:xfrm>
          <a:prstGeom prst="rect">
            <a:avLst/>
          </a:prstGeom>
          <a:noFill/>
          <a:ln/>
        </p:spPr>
        <p:txBody>
          <a:bodyPr wrap="square" lIns="25400" tIns="25400" rIns="25400" bIns="25400" rtlCol="0" anchor="t">
            <a:normAutofit/>
          </a:bodyPr>
          <a:lstStyle/>
          <a:p>
            <a:pPr marL="0" indent="0" algn="l">
              <a:lnSpc>
                <a:spcPct val="140000"/>
              </a:lnSpc>
              <a:buNone/>
            </a:pPr>
            <a:r>
              <a:rPr lang="en-US" sz="2025" dirty="0">
                <a:solidFill>
                  <a:srgbClr val="5A6470"/>
                </a:solidFill>
                <a:latin typeface="Arial" pitchFamily="34" charset="0"/>
                <a:ea typeface="Arial" pitchFamily="34" charset="-122"/>
                <a:cs typeface="Arial" pitchFamily="34" charset="-120"/>
              </a:rPr>
              <a:t>ドラッグストア最大手（イオン系）</a:t>
            </a:r>
            <a:endParaRPr lang="en-US" sz="2025" dirty="0"/>
          </a:p>
        </p:txBody>
      </p:sp>
      <p:sp>
        <p:nvSpPr>
          <p:cNvPr id="20" name="Shape 18"/>
          <p:cNvSpPr/>
          <p:nvPr/>
        </p:nvSpPr>
        <p:spPr>
          <a:xfrm>
            <a:off x="1028700" y="6206828"/>
            <a:ext cx="16230600" cy="2070100"/>
          </a:xfrm>
          <a:prstGeom prst="roundRect">
            <a:avLst>
              <a:gd name="adj" fmla="val 4601"/>
            </a:avLst>
          </a:prstGeom>
          <a:solidFill>
            <a:srgbClr val="FFFFFF"/>
          </a:solidFill>
          <a:ln w="6350">
            <a:solidFill>
              <a:srgbClr val="E0DCD2"/>
            </a:solidFill>
            <a:prstDash val="solid"/>
          </a:ln>
        </p:spPr>
      </p:sp>
      <p:sp>
        <p:nvSpPr>
          <p:cNvPr id="21" name="Shape 19"/>
          <p:cNvSpPr/>
          <p:nvPr/>
        </p:nvSpPr>
        <p:spPr>
          <a:xfrm>
            <a:off x="1625600" y="6765628"/>
            <a:ext cx="2247900" cy="952500"/>
          </a:xfrm>
          <a:prstGeom prst="roundRect">
            <a:avLst>
              <a:gd name="adj" fmla="val 50000"/>
            </a:avLst>
          </a:prstGeom>
          <a:solidFill>
            <a:srgbClr val="2E3B45">
              <a:alpha val="16000"/>
            </a:srgbClr>
          </a:solidFill>
          <a:ln w="19050">
            <a:solidFill>
              <a:srgbClr val="2E3B45"/>
            </a:solidFill>
            <a:prstDash val="solid"/>
          </a:ln>
        </p:spPr>
      </p:sp>
      <p:sp>
        <p:nvSpPr>
          <p:cNvPr id="22" name="Shape 20"/>
          <p:cNvSpPr/>
          <p:nvPr/>
        </p:nvSpPr>
        <p:spPr>
          <a:xfrm>
            <a:off x="3511550" y="6765628"/>
            <a:ext cx="2247900" cy="952500"/>
          </a:xfrm>
          <a:prstGeom prst="roundRect">
            <a:avLst>
              <a:gd name="adj" fmla="val 50000"/>
            </a:avLst>
          </a:prstGeom>
          <a:solidFill>
            <a:srgbClr val="9A4A38">
              <a:alpha val="15000"/>
            </a:srgbClr>
          </a:solidFill>
          <a:ln w="19050">
            <a:solidFill>
              <a:srgbClr val="9A4A38"/>
            </a:solidFill>
            <a:prstDash val="solid"/>
          </a:ln>
        </p:spPr>
      </p:sp>
      <p:sp>
        <p:nvSpPr>
          <p:cNvPr id="23" name="Text 21"/>
          <p:cNvSpPr/>
          <p:nvPr/>
        </p:nvSpPr>
        <p:spPr>
          <a:xfrm>
            <a:off x="1949450" y="7108528"/>
            <a:ext cx="1104900" cy="412750"/>
          </a:xfrm>
          <a:prstGeom prst="rect">
            <a:avLst/>
          </a:prstGeom>
          <a:noFill/>
          <a:ln/>
        </p:spPr>
        <p:txBody>
          <a:bodyPr wrap="square" lIns="25400" tIns="25400" rIns="25400" bIns="25400" rtlCol="0" anchor="t">
            <a:normAutofit/>
          </a:bodyPr>
          <a:lstStyle/>
          <a:p>
            <a:pPr marL="0" indent="0" algn="l">
              <a:buNone/>
            </a:pPr>
            <a:r>
              <a:rPr lang="en-US" sz="2025" dirty="0">
                <a:solidFill>
                  <a:srgbClr val="2E3B45"/>
                </a:solidFill>
                <a:latin typeface="Arial" pitchFamily="34" charset="0"/>
                <a:ea typeface="Arial" pitchFamily="34" charset="-122"/>
                <a:cs typeface="Arial" pitchFamily="34" charset="-120"/>
              </a:rPr>
              <a:t>イオン系</a:t>
            </a:r>
            <a:endParaRPr lang="en-US" sz="2025" dirty="0"/>
          </a:p>
        </p:txBody>
      </p:sp>
      <p:sp>
        <p:nvSpPr>
          <p:cNvPr id="24" name="Text 22"/>
          <p:cNvSpPr/>
          <p:nvPr/>
        </p:nvSpPr>
        <p:spPr>
          <a:xfrm>
            <a:off x="4616450" y="7108528"/>
            <a:ext cx="1104900" cy="412750"/>
          </a:xfrm>
          <a:prstGeom prst="rect">
            <a:avLst/>
          </a:prstGeom>
          <a:noFill/>
          <a:ln/>
        </p:spPr>
        <p:txBody>
          <a:bodyPr wrap="square" lIns="25400" tIns="25400" rIns="25400" bIns="25400" rtlCol="0" anchor="t">
            <a:normAutofit/>
          </a:bodyPr>
          <a:lstStyle/>
          <a:p>
            <a:pPr marL="0" indent="0" algn="l">
              <a:buNone/>
            </a:pPr>
            <a:r>
              <a:rPr lang="en-US" sz="2025" dirty="0">
                <a:solidFill>
                  <a:srgbClr val="9A4A38"/>
                </a:solidFill>
                <a:latin typeface="Arial" pitchFamily="34" charset="0"/>
                <a:ea typeface="Arial" pitchFamily="34" charset="-122"/>
                <a:cs typeface="Arial" pitchFamily="34" charset="-120"/>
              </a:rPr>
              <a:t>ツルハ系</a:t>
            </a:r>
            <a:endParaRPr lang="en-US" sz="2025" dirty="0"/>
          </a:p>
        </p:txBody>
      </p:sp>
      <p:sp>
        <p:nvSpPr>
          <p:cNvPr id="25" name="Text 23"/>
          <p:cNvSpPr/>
          <p:nvPr/>
        </p:nvSpPr>
        <p:spPr>
          <a:xfrm>
            <a:off x="3397250" y="6479878"/>
            <a:ext cx="571500" cy="393700"/>
          </a:xfrm>
          <a:prstGeom prst="rect">
            <a:avLst/>
          </a:prstGeom>
          <a:noFill/>
          <a:ln/>
        </p:spPr>
        <p:txBody>
          <a:bodyPr wrap="square" lIns="25400" tIns="25400" rIns="25400" bIns="25400" rtlCol="0" anchor="t">
            <a:normAutofit/>
          </a:bodyPr>
          <a:lstStyle/>
          <a:p>
            <a:pPr marL="0" indent="0" algn="l">
              <a:buNone/>
            </a:pPr>
            <a:r>
              <a:rPr lang="en-US" sz="1950" b="1" dirty="0">
                <a:solidFill>
                  <a:srgbClr val="1F2730"/>
                </a:solidFill>
                <a:latin typeface="Arial" pitchFamily="34" charset="0"/>
                <a:ea typeface="Arial" pitchFamily="34" charset="-122"/>
                <a:cs typeface="Arial" pitchFamily="34" charset="-120"/>
              </a:rPr>
              <a:t>重複</a:t>
            </a:r>
            <a:endParaRPr lang="en-US" sz="1950" dirty="0"/>
          </a:p>
        </p:txBody>
      </p:sp>
      <p:sp>
        <p:nvSpPr>
          <p:cNvPr id="26" name="Shape 24"/>
          <p:cNvSpPr/>
          <p:nvPr/>
        </p:nvSpPr>
        <p:spPr>
          <a:xfrm>
            <a:off x="3673475" y="6765628"/>
            <a:ext cx="9525" cy="952500"/>
          </a:xfrm>
          <a:prstGeom prst="rect">
            <a:avLst/>
          </a:prstGeom>
          <a:solidFill>
            <a:srgbClr val="9A8E84"/>
          </a:solidFill>
          <a:ln/>
        </p:spPr>
      </p:sp>
      <p:sp>
        <p:nvSpPr>
          <p:cNvPr id="27" name="Text 25"/>
          <p:cNvSpPr/>
          <p:nvPr/>
        </p:nvSpPr>
        <p:spPr>
          <a:xfrm>
            <a:off x="6350000" y="6679109"/>
            <a:ext cx="11532236" cy="477838"/>
          </a:xfrm>
          <a:prstGeom prst="rect">
            <a:avLst/>
          </a:prstGeom>
          <a:noFill/>
          <a:ln/>
        </p:spPr>
        <p:txBody>
          <a:bodyPr wrap="square" lIns="25400" tIns="25400" rIns="25400" bIns="25400" rtlCol="0" anchor="t">
            <a:normAutofit/>
          </a:bodyPr>
          <a:lstStyle/>
          <a:p>
            <a:pPr marL="0" indent="0" algn="l">
              <a:lnSpc>
                <a:spcPct val="145000"/>
              </a:lnSpc>
              <a:buNone/>
            </a:pPr>
            <a:r>
              <a:rPr lang="en-US" sz="2250" dirty="0">
                <a:solidFill>
                  <a:srgbClr val="2C333C"/>
                </a:solidFill>
                <a:latin typeface="Arial" pitchFamily="34" charset="0"/>
                <a:ea typeface="Arial" pitchFamily="34" charset="-122"/>
                <a:cs typeface="Arial" pitchFamily="34" charset="-120"/>
              </a:rPr>
              <a:t>店舗網が重なる商圏で競争が重複する。全国の</a:t>
            </a:r>
            <a:r>
              <a:rPr lang="en-US" sz="2250" b="1" dirty="0">
                <a:solidFill>
                  <a:srgbClr val="2C333C"/>
                </a:solidFill>
                <a:latin typeface="Arial" pitchFamily="34" charset="0"/>
                <a:ea typeface="Arial" pitchFamily="34" charset="-122"/>
                <a:cs typeface="Arial" pitchFamily="34" charset="-120"/>
              </a:rPr>
              <a:t>競合商圏</a:t>
            </a:r>
            <a:r>
              <a:rPr lang="en-US" sz="2250" dirty="0">
                <a:solidFill>
                  <a:srgbClr val="2C333C"/>
                </a:solidFill>
                <a:latin typeface="Arial" pitchFamily="34" charset="0"/>
                <a:ea typeface="Arial" pitchFamily="34" charset="-122"/>
                <a:cs typeface="Arial" pitchFamily="34" charset="-120"/>
              </a:rPr>
              <a:t>は</a:t>
            </a:r>
            <a:endParaRPr lang="en-US" sz="2250" dirty="0"/>
          </a:p>
        </p:txBody>
      </p:sp>
      <p:sp>
        <p:nvSpPr>
          <p:cNvPr id="28" name="Text 26"/>
          <p:cNvSpPr/>
          <p:nvPr/>
        </p:nvSpPr>
        <p:spPr>
          <a:xfrm>
            <a:off x="6350000" y="7195046"/>
            <a:ext cx="2012007" cy="647700"/>
          </a:xfrm>
          <a:prstGeom prst="rect">
            <a:avLst/>
          </a:prstGeom>
          <a:noFill/>
          <a:ln/>
        </p:spPr>
        <p:txBody>
          <a:bodyPr wrap="square" lIns="25400" tIns="25400" rIns="25400" bIns="25400" rtlCol="0" anchor="t">
            <a:normAutofit/>
          </a:bodyPr>
          <a:lstStyle/>
          <a:p>
            <a:pPr marL="0" indent="0" algn="l">
              <a:lnSpc>
                <a:spcPct val="100000"/>
              </a:lnSpc>
              <a:buNone/>
            </a:pPr>
            <a:r>
              <a:rPr lang="en-US" sz="4800" b="1" dirty="0">
                <a:solidFill>
                  <a:srgbClr val="9A4A38"/>
                </a:solidFill>
                <a:latin typeface="Courier New" pitchFamily="34" charset="0"/>
                <a:ea typeface="Courier New" pitchFamily="34" charset="-122"/>
                <a:cs typeface="Courier New" pitchFamily="34" charset="-120"/>
              </a:rPr>
              <a:t>1,330</a:t>
            </a:r>
            <a:endParaRPr lang="en-US" sz="4800" dirty="0"/>
          </a:p>
        </p:txBody>
      </p:sp>
      <p:sp>
        <p:nvSpPr>
          <p:cNvPr id="29" name="Text 27"/>
          <p:cNvSpPr/>
          <p:nvPr/>
        </p:nvSpPr>
        <p:spPr>
          <a:xfrm>
            <a:off x="8312448" y="7328396"/>
            <a:ext cx="4471055" cy="450850"/>
          </a:xfrm>
          <a:prstGeom prst="rect">
            <a:avLst/>
          </a:prstGeom>
          <a:noFill/>
          <a:ln/>
        </p:spPr>
        <p:txBody>
          <a:bodyPr wrap="square" lIns="25400" tIns="25400" rIns="25400" bIns="25400" rtlCol="0" anchor="t">
            <a:normAutofit/>
          </a:bodyPr>
          <a:lstStyle/>
          <a:p>
            <a:pPr marL="0" indent="0" algn="l">
              <a:buNone/>
            </a:pPr>
            <a:r>
              <a:rPr lang="en-US" sz="2250" dirty="0">
                <a:solidFill>
                  <a:srgbClr val="5A6470"/>
                </a:solidFill>
                <a:latin typeface="Arial" pitchFamily="34" charset="0"/>
                <a:ea typeface="Arial" pitchFamily="34" charset="-122"/>
                <a:cs typeface="Arial" pitchFamily="34" charset="-120"/>
              </a:rPr>
              <a:t>商圏（→ 次頁の審査ファネル）</a:t>
            </a:r>
            <a:endParaRPr lang="en-US" sz="2250" dirty="0"/>
          </a:p>
        </p:txBody>
      </p:sp>
      <p:sp>
        <p:nvSpPr>
          <p:cNvPr id="30" name="Shape 28"/>
          <p:cNvSpPr/>
          <p:nvPr/>
        </p:nvSpPr>
        <p:spPr>
          <a:xfrm>
            <a:off x="1028700" y="9296400"/>
            <a:ext cx="16230600" cy="9525"/>
          </a:xfrm>
          <a:prstGeom prst="rect">
            <a:avLst/>
          </a:prstGeom>
          <a:solidFill>
            <a:srgbClr val="E4E0D7"/>
          </a:solidFill>
          <a:ln/>
        </p:spPr>
      </p:sp>
      <p:sp>
        <p:nvSpPr>
          <p:cNvPr id="31" name="Text 29"/>
          <p:cNvSpPr/>
          <p:nvPr/>
        </p:nvSpPr>
        <p:spPr>
          <a:xfrm>
            <a:off x="1028700" y="9455150"/>
            <a:ext cx="6976378" cy="393700"/>
          </a:xfrm>
          <a:prstGeom prst="rect">
            <a:avLst/>
          </a:prstGeom>
          <a:noFill/>
          <a:ln/>
        </p:spPr>
        <p:txBody>
          <a:bodyPr wrap="square" lIns="25400" tIns="25400" rIns="25400" bIns="25400" rtlCol="0" anchor="t">
            <a:normAutofit/>
          </a:bodyPr>
          <a:lstStyle/>
          <a:p>
            <a:pPr marL="0" indent="0" algn="l">
              <a:buNone/>
            </a:pPr>
            <a:r>
              <a:rPr lang="en-US" sz="1950" dirty="0">
                <a:solidFill>
                  <a:srgbClr val="97928A"/>
                </a:solidFill>
                <a:latin typeface="Arial" pitchFamily="34" charset="0"/>
                <a:ea typeface="Arial" pitchFamily="34" charset="-122"/>
                <a:cs typeface="Arial" pitchFamily="34" charset="-120"/>
              </a:rPr>
              <a:t>永田 稔人 ｜ 中里ゼミ（経済法） ｜ 2026年6月30日</a:t>
            </a:r>
            <a:endParaRPr lang="en-US" sz="1950" dirty="0"/>
          </a:p>
        </p:txBody>
      </p:sp>
      <p:sp>
        <p:nvSpPr>
          <p:cNvPr id="32" name="Text 30"/>
          <p:cNvSpPr/>
          <p:nvPr/>
        </p:nvSpPr>
        <p:spPr>
          <a:xfrm>
            <a:off x="16115109" y="9471025"/>
            <a:ext cx="1220391" cy="361950"/>
          </a:xfrm>
          <a:prstGeom prst="rect">
            <a:avLst/>
          </a:prstGeom>
          <a:noFill/>
          <a:ln/>
        </p:spPr>
        <p:txBody>
          <a:bodyPr wrap="square" lIns="25400" tIns="25400" rIns="25400" bIns="25400" rtlCol="0" anchor="t">
            <a:normAutofit/>
          </a:bodyPr>
          <a:lstStyle/>
          <a:p>
            <a:pPr marL="0" indent="0" algn="l">
              <a:buNone/>
            </a:pPr>
            <a:r>
              <a:rPr lang="en-US" sz="1950" kern="0" spc="117" dirty="0">
                <a:solidFill>
                  <a:srgbClr val="97928A"/>
                </a:solidFill>
                <a:latin typeface="Courier New" pitchFamily="34" charset="0"/>
                <a:ea typeface="Courier New" pitchFamily="34" charset="-122"/>
                <a:cs typeface="Courier New" pitchFamily="34" charset="-120"/>
              </a:rPr>
              <a:t>08 / 27</a:t>
            </a:r>
            <a:endParaRPr lang="en-US" sz="1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6F2"/>
        </a:solidFill>
        <a:effectLst/>
      </p:bgPr>
    </p:bg>
    <p:spTree>
      <p:nvGrpSpPr>
        <p:cNvPr id="1" name=""/>
        <p:cNvGrpSpPr/>
        <p:nvPr/>
      </p:nvGrpSpPr>
      <p:grpSpPr>
        <a:xfrm>
          <a:off x="0" y="0"/>
          <a:ext cx="0" cy="0"/>
          <a:chOff x="0" y="0"/>
          <a:chExt cx="0" cy="0"/>
        </a:xfrm>
      </p:grpSpPr>
      <p:sp>
        <p:nvSpPr>
          <p:cNvPr id="2" name="Shape 0"/>
          <p:cNvSpPr/>
          <p:nvPr/>
        </p:nvSpPr>
        <p:spPr>
          <a:xfrm>
            <a:off x="1028700" y="801688"/>
            <a:ext cx="304800" cy="28575"/>
          </a:xfrm>
          <a:prstGeom prst="rect">
            <a:avLst/>
          </a:prstGeom>
          <a:solidFill>
            <a:srgbClr val="9A4A38"/>
          </a:solidFill>
          <a:ln/>
        </p:spPr>
      </p:sp>
      <p:sp>
        <p:nvSpPr>
          <p:cNvPr id="3" name="Text 1"/>
          <p:cNvSpPr/>
          <p:nvPr/>
        </p:nvSpPr>
        <p:spPr>
          <a:xfrm>
            <a:off x="1466850" y="628650"/>
            <a:ext cx="2679075" cy="412750"/>
          </a:xfrm>
          <a:prstGeom prst="rect">
            <a:avLst/>
          </a:prstGeom>
          <a:noFill/>
          <a:ln/>
        </p:spPr>
        <p:txBody>
          <a:bodyPr wrap="square" lIns="25400" tIns="25400" rIns="25400" bIns="25400" rtlCol="0" anchor="t">
            <a:normAutofit/>
          </a:bodyPr>
          <a:lstStyle/>
          <a:p>
            <a:pPr marL="0" indent="0" algn="l">
              <a:buNone/>
            </a:pPr>
            <a:r>
              <a:rPr lang="en-US" sz="2025" kern="0" spc="203" dirty="0">
                <a:solidFill>
                  <a:srgbClr val="5A6470"/>
                </a:solidFill>
                <a:latin typeface="Arial" pitchFamily="34" charset="0"/>
                <a:ea typeface="Arial" pitchFamily="34" charset="-122"/>
                <a:cs typeface="Arial" pitchFamily="34" charset="-120"/>
              </a:rPr>
              <a:t>第1部 規範と事案</a:t>
            </a:r>
            <a:endParaRPr lang="en-US" sz="2025" dirty="0"/>
          </a:p>
        </p:txBody>
      </p:sp>
      <p:sp>
        <p:nvSpPr>
          <p:cNvPr id="4" name="Text 2"/>
          <p:cNvSpPr/>
          <p:nvPr/>
        </p:nvSpPr>
        <p:spPr>
          <a:xfrm>
            <a:off x="1028700" y="1174750"/>
            <a:ext cx="17853660" cy="624384"/>
          </a:xfrm>
          <a:prstGeom prst="rect">
            <a:avLst/>
          </a:prstGeom>
          <a:noFill/>
          <a:ln/>
        </p:spPr>
        <p:txBody>
          <a:bodyPr wrap="square" lIns="25400" tIns="25400" rIns="25400" bIns="25400" rtlCol="0" anchor="t">
            <a:normAutofit/>
          </a:bodyPr>
          <a:lstStyle/>
          <a:p>
            <a:pPr marL="0" indent="0" algn="l">
              <a:lnSpc>
                <a:spcPct val="114000"/>
              </a:lnSpc>
              <a:buNone/>
            </a:pPr>
            <a:r>
              <a:rPr lang="en-US" sz="4050" b="1" dirty="0">
                <a:solidFill>
                  <a:srgbClr val="1F2730"/>
                </a:solidFill>
                <a:latin typeface="Arial" pitchFamily="34" charset="0"/>
                <a:ea typeface="Arial" pitchFamily="34" charset="-122"/>
                <a:cs typeface="Arial" pitchFamily="34" charset="-120"/>
              </a:rPr>
              <a:t>審査のファネル</a:t>
            </a:r>
            <a:endParaRPr lang="en-US" sz="4050" dirty="0"/>
          </a:p>
        </p:txBody>
      </p:sp>
      <p:sp>
        <p:nvSpPr>
          <p:cNvPr id="5" name="Text 3"/>
          <p:cNvSpPr/>
          <p:nvPr/>
        </p:nvSpPr>
        <p:spPr>
          <a:xfrm>
            <a:off x="1028700" y="1894384"/>
            <a:ext cx="16344900" cy="519212"/>
          </a:xfrm>
          <a:prstGeom prst="rect">
            <a:avLst/>
          </a:prstGeom>
          <a:noFill/>
          <a:ln/>
        </p:spPr>
        <p:txBody>
          <a:bodyPr wrap="square" lIns="25400" tIns="25400" rIns="25400" bIns="25400" rtlCol="0" anchor="t">
            <a:normAutofit/>
          </a:bodyPr>
          <a:lstStyle/>
          <a:p>
            <a:pPr marL="0" indent="0" algn="l">
              <a:lnSpc>
                <a:spcPct val="145000"/>
              </a:lnSpc>
              <a:buNone/>
            </a:pPr>
            <a:r>
              <a:rPr lang="en-US" sz="2475" dirty="0">
                <a:solidFill>
                  <a:srgbClr val="4A5560"/>
                </a:solidFill>
                <a:latin typeface="Arial" pitchFamily="34" charset="0"/>
                <a:ea typeface="Arial" pitchFamily="34" charset="-122"/>
                <a:cs typeface="Arial" pitchFamily="34" charset="-120"/>
              </a:rPr>
              <a:t>機械的な絞り込みと個別審査を経て、競争上の懸念は </a:t>
            </a:r>
            <a:r>
              <a:rPr lang="en-US" sz="2475" b="1" dirty="0">
                <a:solidFill>
                  <a:srgbClr val="9A4A38"/>
                </a:solidFill>
                <a:latin typeface="Arial" pitchFamily="34" charset="0"/>
                <a:ea typeface="Arial" pitchFamily="34" charset="-122"/>
                <a:cs typeface="Arial" pitchFamily="34" charset="-120"/>
              </a:rPr>
              <a:t>10商圏 </a:t>
            </a:r>
            <a:r>
              <a:rPr lang="en-US" sz="2475" dirty="0">
                <a:solidFill>
                  <a:srgbClr val="4A5560"/>
                </a:solidFill>
                <a:latin typeface="Arial" pitchFamily="34" charset="0"/>
                <a:ea typeface="Arial" pitchFamily="34" charset="-122"/>
                <a:cs typeface="Arial" pitchFamily="34" charset="-120"/>
              </a:rPr>
              <a:t>に収れんした。</a:t>
            </a:r>
            <a:endParaRPr lang="en-US" sz="2475" dirty="0"/>
          </a:p>
        </p:txBody>
      </p:sp>
      <p:sp>
        <p:nvSpPr>
          <p:cNvPr id="6" name="Shape 4"/>
          <p:cNvSpPr/>
          <p:nvPr/>
        </p:nvSpPr>
        <p:spPr>
          <a:xfrm>
            <a:off x="1028700" y="3225205"/>
            <a:ext cx="9022060" cy="901700"/>
          </a:xfrm>
          <a:prstGeom prst="roundRect">
            <a:avLst>
              <a:gd name="adj" fmla="val 6338"/>
            </a:avLst>
          </a:prstGeom>
          <a:solidFill>
            <a:srgbClr val="3A4A56"/>
          </a:solidFill>
          <a:ln/>
        </p:spPr>
      </p:sp>
      <p:sp>
        <p:nvSpPr>
          <p:cNvPr id="7" name="Text 5"/>
          <p:cNvSpPr/>
          <p:nvPr/>
        </p:nvSpPr>
        <p:spPr>
          <a:xfrm>
            <a:off x="1314450" y="3476030"/>
            <a:ext cx="4253865" cy="438150"/>
          </a:xfrm>
          <a:prstGeom prst="rect">
            <a:avLst/>
          </a:prstGeom>
          <a:noFill/>
          <a:ln/>
        </p:spPr>
        <p:txBody>
          <a:bodyPr wrap="square" lIns="25400" tIns="25400" rIns="25400" bIns="25400" rtlCol="0" anchor="t">
            <a:normAutofit/>
          </a:bodyPr>
          <a:lstStyle/>
          <a:p>
            <a:pPr marL="0" indent="0" algn="l">
              <a:buNone/>
            </a:pPr>
            <a:r>
              <a:rPr lang="en-US" sz="2175" dirty="0">
                <a:solidFill>
                  <a:srgbClr val="F2EFE8"/>
                </a:solidFill>
                <a:latin typeface="Arial" pitchFamily="34" charset="0"/>
                <a:ea typeface="Arial" pitchFamily="34" charset="-122"/>
                <a:cs typeface="Arial" pitchFamily="34" charset="-120"/>
              </a:rPr>
              <a:t>競合商圏（両当事会社が重複）</a:t>
            </a:r>
            <a:endParaRPr lang="en-US" sz="2175" dirty="0"/>
          </a:p>
        </p:txBody>
      </p:sp>
      <p:sp>
        <p:nvSpPr>
          <p:cNvPr id="8" name="Text 6"/>
          <p:cNvSpPr/>
          <p:nvPr/>
        </p:nvSpPr>
        <p:spPr>
          <a:xfrm>
            <a:off x="8564860" y="3415705"/>
            <a:ext cx="1320165" cy="558800"/>
          </a:xfrm>
          <a:prstGeom prst="rect">
            <a:avLst/>
          </a:prstGeom>
          <a:noFill/>
          <a:ln/>
        </p:spPr>
        <p:txBody>
          <a:bodyPr wrap="square" lIns="25400" tIns="25400" rIns="25400" bIns="25400" rtlCol="0" anchor="t">
            <a:normAutofit/>
          </a:bodyPr>
          <a:lstStyle/>
          <a:p>
            <a:pPr marL="0" indent="0" algn="l">
              <a:buNone/>
            </a:pPr>
            <a:r>
              <a:rPr lang="en-US" sz="3150" dirty="0">
                <a:solidFill>
                  <a:srgbClr val="F2EFE8"/>
                </a:solidFill>
                <a:latin typeface="Courier New" pitchFamily="34" charset="0"/>
                <a:ea typeface="Courier New" pitchFamily="34" charset="-122"/>
                <a:cs typeface="Courier New" pitchFamily="34" charset="-120"/>
              </a:rPr>
              <a:t>1,330</a:t>
            </a:r>
            <a:endParaRPr lang="en-US" sz="3150" dirty="0"/>
          </a:p>
        </p:txBody>
      </p:sp>
      <p:sp>
        <p:nvSpPr>
          <p:cNvPr id="9" name="Text 7"/>
          <p:cNvSpPr/>
          <p:nvPr/>
        </p:nvSpPr>
        <p:spPr>
          <a:xfrm>
            <a:off x="3042543" y="4222155"/>
            <a:ext cx="5493812" cy="393700"/>
          </a:xfrm>
          <a:prstGeom prst="rect">
            <a:avLst/>
          </a:prstGeom>
          <a:noFill/>
          <a:ln/>
        </p:spPr>
        <p:txBody>
          <a:bodyPr wrap="square" lIns="25400" tIns="25400" rIns="25400" bIns="25400" rtlCol="0" anchor="t">
            <a:normAutofit/>
          </a:bodyPr>
          <a:lstStyle/>
          <a:p>
            <a:pPr marL="0" indent="0" algn="l">
              <a:buNone/>
            </a:pPr>
            <a:r>
              <a:rPr lang="en-US" sz="1950" dirty="0">
                <a:solidFill>
                  <a:srgbClr val="97928A"/>
                </a:solidFill>
                <a:latin typeface="Arial" pitchFamily="34" charset="0"/>
                <a:ea typeface="Arial" pitchFamily="34" charset="-122"/>
                <a:cs typeface="Arial" pitchFamily="34" charset="-120"/>
              </a:rPr>
              <a:t>▼ 競争者グループ ≤ 1 で機械的に絞り込み</a:t>
            </a:r>
            <a:endParaRPr lang="en-US" sz="1950" dirty="0"/>
          </a:p>
        </p:txBody>
      </p:sp>
      <p:sp>
        <p:nvSpPr>
          <p:cNvPr id="10" name="Shape 8"/>
          <p:cNvSpPr/>
          <p:nvPr/>
        </p:nvSpPr>
        <p:spPr>
          <a:xfrm>
            <a:off x="1930896" y="4673005"/>
            <a:ext cx="7217569" cy="812800"/>
          </a:xfrm>
          <a:prstGeom prst="roundRect">
            <a:avLst>
              <a:gd name="adj" fmla="val 7031"/>
            </a:avLst>
          </a:prstGeom>
          <a:solidFill>
            <a:srgbClr val="4E5E6A"/>
          </a:solidFill>
          <a:ln/>
        </p:spPr>
      </p:sp>
      <p:sp>
        <p:nvSpPr>
          <p:cNvPr id="11" name="Text 9"/>
          <p:cNvSpPr/>
          <p:nvPr/>
        </p:nvSpPr>
        <p:spPr>
          <a:xfrm>
            <a:off x="2216646" y="4885730"/>
            <a:ext cx="5166172" cy="425450"/>
          </a:xfrm>
          <a:prstGeom prst="rect">
            <a:avLst/>
          </a:prstGeom>
          <a:noFill/>
          <a:ln/>
        </p:spPr>
        <p:txBody>
          <a:bodyPr wrap="square" lIns="25400" tIns="25400" rIns="25400" bIns="25400" rtlCol="0" anchor="t">
            <a:normAutofit/>
          </a:bodyPr>
          <a:lstStyle/>
          <a:p>
            <a:pPr marL="0" indent="0" algn="l">
              <a:buNone/>
            </a:pPr>
            <a:r>
              <a:rPr lang="en-US" sz="2100" dirty="0">
                <a:solidFill>
                  <a:srgbClr val="F2EFE8"/>
                </a:solidFill>
                <a:latin typeface="Arial" pitchFamily="34" charset="0"/>
                <a:ea typeface="Arial" pitchFamily="34" charset="-122"/>
                <a:cs typeface="Arial" pitchFamily="34" charset="-120"/>
              </a:rPr>
              <a:t>競争者グループ ≤ 1</a:t>
            </a:r>
            <a:r>
              <a:rPr lang="en-US" sz="1950" dirty="0">
                <a:solidFill>
                  <a:srgbClr val="C6CCD0"/>
                </a:solidFill>
                <a:latin typeface="Arial" pitchFamily="34" charset="0"/>
                <a:ea typeface="Arial" pitchFamily="34" charset="-122"/>
                <a:cs typeface="Arial" pitchFamily="34" charset="-120"/>
              </a:rPr>
              <a:t>（1群 109・0群 48）</a:t>
            </a:r>
            <a:endParaRPr lang="en-US" sz="2100" dirty="0"/>
          </a:p>
        </p:txBody>
      </p:sp>
      <p:sp>
        <p:nvSpPr>
          <p:cNvPr id="12" name="Text 10"/>
          <p:cNvSpPr/>
          <p:nvPr/>
        </p:nvSpPr>
        <p:spPr>
          <a:xfrm>
            <a:off x="8211145" y="4844455"/>
            <a:ext cx="727770" cy="508000"/>
          </a:xfrm>
          <a:prstGeom prst="rect">
            <a:avLst/>
          </a:prstGeom>
          <a:noFill/>
          <a:ln/>
        </p:spPr>
        <p:txBody>
          <a:bodyPr wrap="square" lIns="25400" tIns="25400" rIns="25400" bIns="25400" rtlCol="0" anchor="t">
            <a:normAutofit/>
          </a:bodyPr>
          <a:lstStyle/>
          <a:p>
            <a:pPr marL="0" indent="0" algn="l">
              <a:buNone/>
            </a:pPr>
            <a:r>
              <a:rPr lang="en-US" sz="2850" dirty="0">
                <a:solidFill>
                  <a:srgbClr val="F2EFE8"/>
                </a:solidFill>
                <a:latin typeface="Courier New" pitchFamily="34" charset="0"/>
                <a:ea typeface="Courier New" pitchFamily="34" charset="-122"/>
                <a:cs typeface="Courier New" pitchFamily="34" charset="-120"/>
              </a:rPr>
              <a:t>157</a:t>
            </a:r>
            <a:endParaRPr lang="en-US" sz="2850" dirty="0"/>
          </a:p>
        </p:txBody>
      </p:sp>
      <p:sp>
        <p:nvSpPr>
          <p:cNvPr id="13" name="Text 11"/>
          <p:cNvSpPr/>
          <p:nvPr/>
        </p:nvSpPr>
        <p:spPr>
          <a:xfrm>
            <a:off x="4356497" y="5581055"/>
            <a:ext cx="2603004" cy="393700"/>
          </a:xfrm>
          <a:prstGeom prst="rect">
            <a:avLst/>
          </a:prstGeom>
          <a:noFill/>
          <a:ln/>
        </p:spPr>
        <p:txBody>
          <a:bodyPr wrap="square" lIns="25400" tIns="25400" rIns="25400" bIns="25400" rtlCol="0" anchor="t">
            <a:normAutofit/>
          </a:bodyPr>
          <a:lstStyle/>
          <a:p>
            <a:pPr marL="0" indent="0" algn="l">
              <a:buNone/>
            </a:pPr>
            <a:r>
              <a:rPr lang="en-US" sz="1950" dirty="0">
                <a:solidFill>
                  <a:srgbClr val="97928A"/>
                </a:solidFill>
                <a:latin typeface="Arial" pitchFamily="34" charset="0"/>
                <a:ea typeface="Arial" pitchFamily="34" charset="-122"/>
                <a:cs typeface="Arial" pitchFamily="34" charset="-120"/>
              </a:rPr>
              <a:t>▼ 6類型で個別審査</a:t>
            </a:r>
            <a:endParaRPr lang="en-US" sz="1950" dirty="0"/>
          </a:p>
        </p:txBody>
      </p:sp>
      <p:sp>
        <p:nvSpPr>
          <p:cNvPr id="14" name="Shape 12"/>
          <p:cNvSpPr/>
          <p:nvPr/>
        </p:nvSpPr>
        <p:spPr>
          <a:xfrm>
            <a:off x="2742902" y="6031905"/>
            <a:ext cx="5593656" cy="1011436"/>
          </a:xfrm>
          <a:prstGeom prst="roundRect">
            <a:avLst>
              <a:gd name="adj" fmla="val 5650"/>
            </a:avLst>
          </a:prstGeom>
          <a:ln w="19050">
            <a:solidFill>
              <a:srgbClr val="B0A99C"/>
            </a:solidFill>
            <a:prstDash val="dash"/>
          </a:ln>
        </p:spPr>
      </p:sp>
      <p:sp>
        <p:nvSpPr>
          <p:cNvPr id="15" name="Text 13"/>
          <p:cNvSpPr/>
          <p:nvPr/>
        </p:nvSpPr>
        <p:spPr>
          <a:xfrm>
            <a:off x="2925698" y="6203355"/>
            <a:ext cx="5228065" cy="706636"/>
          </a:xfrm>
          <a:prstGeom prst="rect">
            <a:avLst/>
          </a:prstGeom>
          <a:noFill/>
          <a:ln/>
        </p:spPr>
        <p:txBody>
          <a:bodyPr wrap="square" lIns="25400" tIns="25400" rIns="25400" bIns="25400" rtlCol="0" anchor="t">
            <a:normAutofit/>
          </a:bodyPr>
          <a:lstStyle/>
          <a:p>
            <a:pPr marL="0" indent="0" algn="ctr">
              <a:lnSpc>
                <a:spcPct val="135000"/>
              </a:lnSpc>
              <a:buNone/>
            </a:pPr>
            <a:r>
              <a:rPr lang="en-US" sz="1950" dirty="0">
                <a:solidFill>
                  <a:srgbClr val="5A6470"/>
                </a:solidFill>
                <a:latin typeface="Arial" pitchFamily="34" charset="0"/>
                <a:ea typeface="Arial" pitchFamily="34" charset="-122"/>
                <a:cs typeface="Arial" pitchFamily="34" charset="-120"/>
              </a:rPr>
              <a:t>6類型の個別審査 </a:t>
            </a:r>
            <a:r>
              <a:rPr lang="en-US" sz="1950" dirty="0">
                <a:solidFill>
                  <a:srgbClr val="8A8478"/>
                </a:solidFill>
                <a:latin typeface="Arial" pitchFamily="34" charset="0"/>
                <a:ea typeface="Arial" pitchFamily="34" charset="-122"/>
                <a:cs typeface="Arial" pitchFamily="34" charset="-120"/>
              </a:rPr>
              <a:t>隣接競争者・商圏外圧力・人流・新規出店</a:t>
            </a:r>
            <a:endParaRPr lang="en-US" sz="1950" dirty="0"/>
          </a:p>
        </p:txBody>
      </p:sp>
      <p:sp>
        <p:nvSpPr>
          <p:cNvPr id="16" name="Text 14"/>
          <p:cNvSpPr/>
          <p:nvPr/>
        </p:nvSpPr>
        <p:spPr>
          <a:xfrm>
            <a:off x="5415855" y="7138591"/>
            <a:ext cx="323850" cy="393700"/>
          </a:xfrm>
          <a:prstGeom prst="rect">
            <a:avLst/>
          </a:prstGeom>
          <a:noFill/>
          <a:ln/>
        </p:spPr>
        <p:txBody>
          <a:bodyPr wrap="square" lIns="25400" tIns="25400" rIns="25400" bIns="25400" rtlCol="0" anchor="t">
            <a:normAutofit/>
          </a:bodyPr>
          <a:lstStyle/>
          <a:p>
            <a:pPr marL="0" indent="0" algn="l">
              <a:buNone/>
            </a:pPr>
            <a:r>
              <a:rPr lang="en-US" sz="1950" dirty="0">
                <a:solidFill>
                  <a:srgbClr val="97928A"/>
                </a:solidFill>
                <a:latin typeface="Arial" pitchFamily="34" charset="0"/>
                <a:ea typeface="Arial" pitchFamily="34" charset="-122"/>
                <a:cs typeface="Arial" pitchFamily="34" charset="-120"/>
              </a:rPr>
              <a:t>▼</a:t>
            </a:r>
            <a:endParaRPr lang="en-US" sz="1950" dirty="0"/>
          </a:p>
        </p:txBody>
      </p:sp>
      <p:sp>
        <p:nvSpPr>
          <p:cNvPr id="17" name="Shape 15"/>
          <p:cNvSpPr/>
          <p:nvPr/>
        </p:nvSpPr>
        <p:spPr>
          <a:xfrm>
            <a:off x="3554909" y="7589441"/>
            <a:ext cx="3969643" cy="819150"/>
          </a:xfrm>
          <a:prstGeom prst="roundRect">
            <a:avLst>
              <a:gd name="adj" fmla="val 6977"/>
            </a:avLst>
          </a:prstGeom>
          <a:solidFill>
            <a:srgbClr val="9A4A38"/>
          </a:solidFill>
          <a:ln/>
          <a:effectLst>
            <a:outerShdw blurRad="171450" dist="57150" dir="5400000" algn="bl" rotWithShape="0">
              <a:srgbClr val="9A4A38">
                <a:alpha val="28000"/>
              </a:srgbClr>
            </a:outerShdw>
          </a:effectLst>
        </p:spPr>
      </p:sp>
      <p:sp>
        <p:nvSpPr>
          <p:cNvPr id="18" name="Text 16"/>
          <p:cNvSpPr/>
          <p:nvPr/>
        </p:nvSpPr>
        <p:spPr>
          <a:xfrm>
            <a:off x="3840659" y="7798991"/>
            <a:ext cx="628650" cy="438150"/>
          </a:xfrm>
          <a:prstGeom prst="rect">
            <a:avLst/>
          </a:prstGeom>
          <a:noFill/>
          <a:ln/>
        </p:spPr>
        <p:txBody>
          <a:bodyPr wrap="square" lIns="25400" tIns="25400" rIns="25400" bIns="25400" rtlCol="0" anchor="t">
            <a:normAutofit/>
          </a:bodyPr>
          <a:lstStyle/>
          <a:p>
            <a:pPr marL="0" indent="0" algn="l">
              <a:buNone/>
            </a:pPr>
            <a:r>
              <a:rPr lang="en-US" sz="2175" dirty="0">
                <a:solidFill>
                  <a:srgbClr val="FFFFFF"/>
                </a:solidFill>
                <a:latin typeface="Arial" pitchFamily="34" charset="0"/>
                <a:ea typeface="Arial" pitchFamily="34" charset="-122"/>
                <a:cs typeface="Arial" pitchFamily="34" charset="-120"/>
              </a:rPr>
              <a:t>懸念</a:t>
            </a:r>
            <a:endParaRPr lang="en-US" sz="2175" dirty="0"/>
          </a:p>
        </p:txBody>
      </p:sp>
      <p:sp>
        <p:nvSpPr>
          <p:cNvPr id="19" name="Text 17"/>
          <p:cNvSpPr/>
          <p:nvPr/>
        </p:nvSpPr>
        <p:spPr>
          <a:xfrm>
            <a:off x="6735763" y="7760891"/>
            <a:ext cx="579239" cy="514350"/>
          </a:xfrm>
          <a:prstGeom prst="rect">
            <a:avLst/>
          </a:prstGeom>
          <a:noFill/>
          <a:ln/>
        </p:spPr>
        <p:txBody>
          <a:bodyPr wrap="square" lIns="25400" tIns="25400" rIns="25400" bIns="25400" rtlCol="0" anchor="t">
            <a:normAutofit/>
          </a:bodyPr>
          <a:lstStyle/>
          <a:p>
            <a:pPr marL="0" indent="0" algn="l">
              <a:buNone/>
            </a:pPr>
            <a:r>
              <a:rPr lang="en-US" sz="3300" b="1" dirty="0">
                <a:solidFill>
                  <a:srgbClr val="FFFFFF"/>
                </a:solidFill>
                <a:latin typeface="Courier New" pitchFamily="34" charset="0"/>
                <a:ea typeface="Courier New" pitchFamily="34" charset="-122"/>
                <a:cs typeface="Courier New" pitchFamily="34" charset="-120"/>
              </a:rPr>
              <a:t>10</a:t>
            </a:r>
            <a:endParaRPr lang="en-US" sz="3300" dirty="0"/>
          </a:p>
        </p:txBody>
      </p:sp>
      <p:sp>
        <p:nvSpPr>
          <p:cNvPr id="20" name="Shape 18"/>
          <p:cNvSpPr/>
          <p:nvPr/>
        </p:nvSpPr>
        <p:spPr>
          <a:xfrm>
            <a:off x="10507961" y="2546945"/>
            <a:ext cx="6751340" cy="6539905"/>
          </a:xfrm>
          <a:prstGeom prst="roundRect">
            <a:avLst>
              <a:gd name="adj" fmla="val 1456"/>
            </a:avLst>
          </a:prstGeom>
          <a:solidFill>
            <a:srgbClr val="FFFFFF"/>
          </a:solidFill>
          <a:ln w="6350">
            <a:solidFill>
              <a:srgbClr val="E0DCD2"/>
            </a:solidFill>
            <a:prstDash val="solid"/>
          </a:ln>
        </p:spPr>
      </p:sp>
      <p:sp>
        <p:nvSpPr>
          <p:cNvPr id="21" name="Text 19"/>
          <p:cNvSpPr/>
          <p:nvPr/>
        </p:nvSpPr>
        <p:spPr>
          <a:xfrm>
            <a:off x="10876261" y="4124027"/>
            <a:ext cx="6616214" cy="412750"/>
          </a:xfrm>
          <a:prstGeom prst="rect">
            <a:avLst/>
          </a:prstGeom>
          <a:noFill/>
          <a:ln/>
        </p:spPr>
        <p:txBody>
          <a:bodyPr wrap="square" lIns="25400" tIns="25400" rIns="25400" bIns="25400" rtlCol="0" anchor="t">
            <a:normAutofit/>
          </a:bodyPr>
          <a:lstStyle/>
          <a:p>
            <a:pPr marL="0" indent="0" algn="l">
              <a:buNone/>
            </a:pPr>
            <a:r>
              <a:rPr lang="en-US" sz="2025" kern="0" spc="162" dirty="0">
                <a:solidFill>
                  <a:srgbClr val="9A4A38"/>
                </a:solidFill>
                <a:latin typeface="Arial" pitchFamily="34" charset="0"/>
                <a:ea typeface="Arial" pitchFamily="34" charset="-122"/>
                <a:cs typeface="Arial" pitchFamily="34" charset="-120"/>
              </a:rPr>
              <a:t>問題解消措置</a:t>
            </a:r>
            <a:endParaRPr lang="en-US" sz="2025" dirty="0"/>
          </a:p>
        </p:txBody>
      </p:sp>
      <p:sp>
        <p:nvSpPr>
          <p:cNvPr id="22" name="Text 20"/>
          <p:cNvSpPr/>
          <p:nvPr/>
        </p:nvSpPr>
        <p:spPr>
          <a:xfrm>
            <a:off x="10876261" y="4670127"/>
            <a:ext cx="6195182" cy="1531441"/>
          </a:xfrm>
          <a:prstGeom prst="rect">
            <a:avLst/>
          </a:prstGeom>
          <a:noFill/>
          <a:ln/>
        </p:spPr>
        <p:txBody>
          <a:bodyPr wrap="square" lIns="25400" tIns="25400" rIns="25400" bIns="25400" rtlCol="0" anchor="t">
            <a:normAutofit/>
          </a:bodyPr>
          <a:lstStyle/>
          <a:p>
            <a:pPr marL="0" indent="0" algn="l">
              <a:lnSpc>
                <a:spcPct val="160000"/>
              </a:lnSpc>
              <a:buNone/>
            </a:pPr>
            <a:r>
              <a:rPr lang="en-US" sz="2325" dirty="0">
                <a:solidFill>
                  <a:srgbClr val="2C333C"/>
                </a:solidFill>
                <a:latin typeface="Arial" pitchFamily="34" charset="0"/>
                <a:ea typeface="Arial" pitchFamily="34" charset="-122"/>
                <a:cs typeface="Arial" pitchFamily="34" charset="-120"/>
              </a:rPr>
              <a:t>懸念が残る </a:t>
            </a:r>
            <a:r>
              <a:rPr lang="en-US" sz="2325" b="1" dirty="0">
                <a:solidFill>
                  <a:srgbClr val="2C333C"/>
                </a:solidFill>
                <a:latin typeface="Arial" pitchFamily="34" charset="0"/>
                <a:ea typeface="Arial" pitchFamily="34" charset="-122"/>
                <a:cs typeface="Arial" pitchFamily="34" charset="-120"/>
              </a:rPr>
              <a:t>10商圏 </a:t>
            </a:r>
            <a:r>
              <a:rPr lang="en-US" sz="2325" dirty="0">
                <a:solidFill>
                  <a:srgbClr val="2C333C"/>
                </a:solidFill>
                <a:latin typeface="Arial" pitchFamily="34" charset="0"/>
                <a:ea typeface="Arial" pitchFamily="34" charset="-122"/>
                <a:cs typeface="Arial" pitchFamily="34" charset="-120"/>
              </a:rPr>
              <a:t>のそれぞれで、イオン系またはツルハ系の </a:t>
            </a:r>
            <a:r>
              <a:rPr lang="en-US" sz="2325" b="1" dirty="0">
                <a:solidFill>
                  <a:srgbClr val="2C333C"/>
                </a:solidFill>
                <a:latin typeface="Arial" pitchFamily="34" charset="0"/>
                <a:ea typeface="Arial" pitchFamily="34" charset="-122"/>
                <a:cs typeface="Arial" pitchFamily="34" charset="-120"/>
              </a:rPr>
              <a:t>1店舗を第三者へ譲渡 </a:t>
            </a:r>
            <a:r>
              <a:rPr lang="en-US" sz="2325" dirty="0">
                <a:solidFill>
                  <a:srgbClr val="2C333C"/>
                </a:solidFill>
                <a:latin typeface="Arial" pitchFamily="34" charset="0"/>
                <a:ea typeface="Arial" pitchFamily="34" charset="-122"/>
                <a:cs typeface="Arial" pitchFamily="34" charset="-120"/>
              </a:rPr>
              <a:t>。実行までは </a:t>
            </a:r>
            <a:r>
              <a:rPr lang="en-US" sz="2325" b="1" dirty="0">
                <a:solidFill>
                  <a:srgbClr val="2C333C"/>
                </a:solidFill>
                <a:latin typeface="Arial" pitchFamily="34" charset="0"/>
                <a:ea typeface="Arial" pitchFamily="34" charset="-122"/>
                <a:cs typeface="Arial" pitchFamily="34" charset="-120"/>
              </a:rPr>
              <a:t>独立監視受託者</a:t>
            </a:r>
            <a:r>
              <a:rPr lang="en-US" sz="2325" dirty="0">
                <a:solidFill>
                  <a:srgbClr val="2C333C"/>
                </a:solidFill>
                <a:latin typeface="Arial" pitchFamily="34" charset="0"/>
                <a:ea typeface="Arial" pitchFamily="34" charset="-122"/>
                <a:cs typeface="Arial" pitchFamily="34" charset="-120"/>
              </a:rPr>
              <a:t>を選任。</a:t>
            </a:r>
            <a:endParaRPr lang="en-US" sz="2325" dirty="0"/>
          </a:p>
        </p:txBody>
      </p:sp>
      <p:sp>
        <p:nvSpPr>
          <p:cNvPr id="23" name="Shape 21"/>
          <p:cNvSpPr/>
          <p:nvPr/>
        </p:nvSpPr>
        <p:spPr>
          <a:xfrm>
            <a:off x="10876261" y="6392069"/>
            <a:ext cx="6014740" cy="9525"/>
          </a:xfrm>
          <a:prstGeom prst="rect">
            <a:avLst/>
          </a:prstGeom>
          <a:solidFill>
            <a:srgbClr val="E4E0D7"/>
          </a:solidFill>
          <a:ln/>
        </p:spPr>
      </p:sp>
      <p:sp>
        <p:nvSpPr>
          <p:cNvPr id="24" name="Text 22"/>
          <p:cNvSpPr/>
          <p:nvPr/>
        </p:nvSpPr>
        <p:spPr>
          <a:xfrm>
            <a:off x="10876261" y="6630194"/>
            <a:ext cx="6195182" cy="917575"/>
          </a:xfrm>
          <a:prstGeom prst="rect">
            <a:avLst/>
          </a:prstGeom>
          <a:noFill/>
          <a:ln/>
        </p:spPr>
        <p:txBody>
          <a:bodyPr wrap="square" lIns="25400" tIns="25400" rIns="25400" bIns="25400" rtlCol="0" anchor="t">
            <a:normAutofit/>
          </a:bodyPr>
          <a:lstStyle/>
          <a:p>
            <a:pPr marL="0" indent="0" algn="l">
              <a:lnSpc>
                <a:spcPct val="150000"/>
              </a:lnSpc>
              <a:buNone/>
            </a:pPr>
            <a:r>
              <a:rPr lang="en-US" sz="2175" dirty="0">
                <a:solidFill>
                  <a:srgbClr val="5A6470"/>
                </a:solidFill>
                <a:latin typeface="Arial" pitchFamily="34" charset="0"/>
                <a:ea typeface="Arial" pitchFamily="34" charset="-122"/>
                <a:cs typeface="Arial" pitchFamily="34" charset="-120"/>
              </a:rPr>
              <a:t>これを前提に、公取委は </a:t>
            </a:r>
            <a:r>
              <a:rPr lang="en-US" sz="2175" b="1" dirty="0">
                <a:solidFill>
                  <a:srgbClr val="2C333C"/>
                </a:solidFill>
                <a:latin typeface="Arial" pitchFamily="34" charset="0"/>
                <a:ea typeface="Arial" pitchFamily="34" charset="-122"/>
                <a:cs typeface="Arial" pitchFamily="34" charset="-120"/>
              </a:rPr>
              <a:t>排除措置命令を行わない </a:t>
            </a:r>
            <a:r>
              <a:rPr lang="en-US" sz="2175" dirty="0">
                <a:solidFill>
                  <a:srgbClr val="5A6470"/>
                </a:solidFill>
                <a:latin typeface="Arial" pitchFamily="34" charset="0"/>
                <a:ea typeface="Arial" pitchFamily="34" charset="-122"/>
                <a:cs typeface="Arial" pitchFamily="34" charset="-120"/>
              </a:rPr>
              <a:t>旨を通知（令和7年4月30日）。</a:t>
            </a:r>
            <a:endParaRPr lang="en-US" sz="2175" dirty="0"/>
          </a:p>
        </p:txBody>
      </p:sp>
      <p:sp>
        <p:nvSpPr>
          <p:cNvPr id="25" name="Shape 23"/>
          <p:cNvSpPr/>
          <p:nvPr/>
        </p:nvSpPr>
        <p:spPr>
          <a:xfrm>
            <a:off x="1028700" y="9296400"/>
            <a:ext cx="16230600" cy="9525"/>
          </a:xfrm>
          <a:prstGeom prst="rect">
            <a:avLst/>
          </a:prstGeom>
          <a:solidFill>
            <a:srgbClr val="E4E0D7"/>
          </a:solidFill>
          <a:ln/>
        </p:spPr>
      </p:sp>
      <p:sp>
        <p:nvSpPr>
          <p:cNvPr id="26" name="Text 24"/>
          <p:cNvSpPr/>
          <p:nvPr/>
        </p:nvSpPr>
        <p:spPr>
          <a:xfrm>
            <a:off x="1028700" y="9455150"/>
            <a:ext cx="6976378" cy="393700"/>
          </a:xfrm>
          <a:prstGeom prst="rect">
            <a:avLst/>
          </a:prstGeom>
          <a:noFill/>
          <a:ln/>
        </p:spPr>
        <p:txBody>
          <a:bodyPr wrap="square" lIns="25400" tIns="25400" rIns="25400" bIns="25400" rtlCol="0" anchor="t">
            <a:normAutofit/>
          </a:bodyPr>
          <a:lstStyle/>
          <a:p>
            <a:pPr marL="0" indent="0" algn="l">
              <a:buNone/>
            </a:pPr>
            <a:r>
              <a:rPr lang="en-US" sz="1950" dirty="0">
                <a:solidFill>
                  <a:srgbClr val="97928A"/>
                </a:solidFill>
                <a:latin typeface="Arial" pitchFamily="34" charset="0"/>
                <a:ea typeface="Arial" pitchFamily="34" charset="-122"/>
                <a:cs typeface="Arial" pitchFamily="34" charset="-120"/>
              </a:rPr>
              <a:t>永田 稔人 ｜ 中里ゼミ（経済法） ｜ 2026年6月30日</a:t>
            </a:r>
            <a:endParaRPr lang="en-US" sz="1950" dirty="0"/>
          </a:p>
        </p:txBody>
      </p:sp>
      <p:sp>
        <p:nvSpPr>
          <p:cNvPr id="27" name="Text 25"/>
          <p:cNvSpPr/>
          <p:nvPr/>
        </p:nvSpPr>
        <p:spPr>
          <a:xfrm>
            <a:off x="16115109" y="9471025"/>
            <a:ext cx="1220391" cy="361950"/>
          </a:xfrm>
          <a:prstGeom prst="rect">
            <a:avLst/>
          </a:prstGeom>
          <a:noFill/>
          <a:ln/>
        </p:spPr>
        <p:txBody>
          <a:bodyPr wrap="square" lIns="25400" tIns="25400" rIns="25400" bIns="25400" rtlCol="0" anchor="t">
            <a:normAutofit/>
          </a:bodyPr>
          <a:lstStyle/>
          <a:p>
            <a:pPr marL="0" indent="0" algn="l">
              <a:buNone/>
            </a:pPr>
            <a:r>
              <a:rPr lang="en-US" sz="1950" kern="0" spc="117" dirty="0">
                <a:solidFill>
                  <a:srgbClr val="97928A"/>
                </a:solidFill>
                <a:latin typeface="Courier New" pitchFamily="34" charset="0"/>
                <a:ea typeface="Courier New" pitchFamily="34" charset="-122"/>
                <a:cs typeface="Courier New" pitchFamily="34" charset="-120"/>
              </a:rPr>
              <a:t>09 / 27</a:t>
            </a:r>
            <a:endParaRPr lang="en-US" sz="1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2303A"/>
        </a:solidFill>
        <a:effectLst/>
      </p:bgPr>
    </p:bg>
    <p:spTree>
      <p:nvGrpSpPr>
        <p:cNvPr id="1" name=""/>
        <p:cNvGrpSpPr/>
        <p:nvPr/>
      </p:nvGrpSpPr>
      <p:grpSpPr>
        <a:xfrm>
          <a:off x="0" y="0"/>
          <a:ext cx="0" cy="0"/>
          <a:chOff x="0" y="0"/>
          <a:chExt cx="0" cy="0"/>
        </a:xfrm>
      </p:grpSpPr>
      <p:sp>
        <p:nvSpPr>
          <p:cNvPr id="2" name="Text 0"/>
          <p:cNvSpPr/>
          <p:nvPr/>
        </p:nvSpPr>
        <p:spPr>
          <a:xfrm>
            <a:off x="1257300" y="3234333"/>
            <a:ext cx="1528951" cy="431800"/>
          </a:xfrm>
          <a:prstGeom prst="rect">
            <a:avLst/>
          </a:prstGeom>
          <a:noFill/>
          <a:ln/>
        </p:spPr>
        <p:txBody>
          <a:bodyPr wrap="square" lIns="25400" tIns="25400" rIns="25400" bIns="25400" rtlCol="0" anchor="t">
            <a:normAutofit/>
          </a:bodyPr>
          <a:lstStyle/>
          <a:p>
            <a:pPr marL="0" indent="0" algn="l">
              <a:buNone/>
            </a:pPr>
            <a:r>
              <a:rPr lang="en-US" sz="2400" kern="0" spc="384" dirty="0">
                <a:solidFill>
                  <a:srgbClr val="CC7159"/>
                </a:solidFill>
                <a:latin typeface="Courier New" pitchFamily="34" charset="0"/>
                <a:ea typeface="Courier New" pitchFamily="34" charset="-122"/>
                <a:cs typeface="Courier New" pitchFamily="34" charset="-120"/>
              </a:rPr>
              <a:t>PART 2</a:t>
            </a:r>
            <a:endParaRPr lang="en-US" sz="2400" dirty="0"/>
          </a:p>
        </p:txBody>
      </p:sp>
      <p:sp>
        <p:nvSpPr>
          <p:cNvPr id="3" name="Shape 1"/>
          <p:cNvSpPr/>
          <p:nvPr/>
        </p:nvSpPr>
        <p:spPr>
          <a:xfrm>
            <a:off x="2818706" y="3199408"/>
            <a:ext cx="1445320" cy="463550"/>
          </a:xfrm>
          <a:prstGeom prst="roundRect">
            <a:avLst>
              <a:gd name="adj" fmla="val 41096"/>
            </a:avLst>
          </a:prstGeom>
          <a:solidFill>
            <a:srgbClr val="CC7159">
              <a:alpha val="16000"/>
            </a:srgbClr>
          </a:solidFill>
          <a:ln w="6350">
            <a:solidFill>
              <a:srgbClr val="CC7159">
                <a:alpha val="50000"/>
              </a:srgbClr>
            </a:solidFill>
            <a:prstDash val="solid"/>
          </a:ln>
        </p:spPr>
      </p:sp>
      <p:sp>
        <p:nvSpPr>
          <p:cNvPr id="4" name="Text 2"/>
          <p:cNvSpPr/>
          <p:nvPr/>
        </p:nvSpPr>
        <p:spPr>
          <a:xfrm>
            <a:off x="2996506" y="3253383"/>
            <a:ext cx="1165920" cy="393700"/>
          </a:xfrm>
          <a:prstGeom prst="rect">
            <a:avLst/>
          </a:prstGeom>
          <a:noFill/>
          <a:ln/>
        </p:spPr>
        <p:txBody>
          <a:bodyPr wrap="square" lIns="25400" tIns="25400" rIns="25400" bIns="25400" rtlCol="0" anchor="t">
            <a:normAutofit/>
          </a:bodyPr>
          <a:lstStyle/>
          <a:p>
            <a:pPr marL="0" indent="0" algn="l">
              <a:buNone/>
            </a:pPr>
            <a:r>
              <a:rPr lang="en-US" sz="1950" kern="0" spc="195" dirty="0">
                <a:solidFill>
                  <a:srgbClr val="E2B4A4"/>
                </a:solidFill>
                <a:latin typeface="Arial" pitchFamily="34" charset="0"/>
                <a:ea typeface="Arial" pitchFamily="34" charset="-122"/>
                <a:cs typeface="Arial" pitchFamily="34" charset="-120"/>
              </a:rPr>
              <a:t>発表の核</a:t>
            </a:r>
            <a:endParaRPr lang="en-US" sz="1950" dirty="0"/>
          </a:p>
        </p:txBody>
      </p:sp>
      <p:sp>
        <p:nvSpPr>
          <p:cNvPr id="5" name="Text 3"/>
          <p:cNvSpPr/>
          <p:nvPr/>
        </p:nvSpPr>
        <p:spPr>
          <a:xfrm>
            <a:off x="1257300" y="3910608"/>
            <a:ext cx="17350740" cy="802382"/>
          </a:xfrm>
          <a:prstGeom prst="rect">
            <a:avLst/>
          </a:prstGeom>
          <a:noFill/>
          <a:ln/>
        </p:spPr>
        <p:txBody>
          <a:bodyPr wrap="square" lIns="25400" tIns="25400" rIns="25400" bIns="25400" rtlCol="0" anchor="t">
            <a:normAutofit/>
          </a:bodyPr>
          <a:lstStyle/>
          <a:p>
            <a:pPr marL="0" indent="0" algn="l">
              <a:lnSpc>
                <a:spcPct val="118000"/>
              </a:lnSpc>
              <a:buNone/>
            </a:pPr>
            <a:r>
              <a:rPr lang="en-US" sz="5100" b="1" dirty="0">
                <a:solidFill>
                  <a:srgbClr val="F4F1EA"/>
                </a:solidFill>
                <a:latin typeface="Arial" pitchFamily="34" charset="0"/>
                <a:ea typeface="Arial" pitchFamily="34" charset="-122"/>
                <a:cs typeface="Arial" pitchFamily="34" charset="-120"/>
              </a:rPr>
              <a:t>再現① 地理的市場画定</a:t>
            </a:r>
            <a:endParaRPr lang="en-US" sz="5100" dirty="0"/>
          </a:p>
        </p:txBody>
      </p:sp>
      <p:sp>
        <p:nvSpPr>
          <p:cNvPr id="6" name="Shape 4"/>
          <p:cNvSpPr/>
          <p:nvPr/>
        </p:nvSpPr>
        <p:spPr>
          <a:xfrm>
            <a:off x="1257300" y="4998740"/>
            <a:ext cx="876300" cy="47625"/>
          </a:xfrm>
          <a:prstGeom prst="rect">
            <a:avLst/>
          </a:prstGeom>
          <a:solidFill>
            <a:srgbClr val="B0573F"/>
          </a:solidFill>
          <a:ln/>
        </p:spPr>
      </p:sp>
      <p:sp>
        <p:nvSpPr>
          <p:cNvPr id="7" name="Text 5"/>
          <p:cNvSpPr/>
          <p:nvPr/>
        </p:nvSpPr>
        <p:spPr>
          <a:xfrm>
            <a:off x="1257300" y="5332115"/>
            <a:ext cx="12361545" cy="1012428"/>
          </a:xfrm>
          <a:prstGeom prst="rect">
            <a:avLst/>
          </a:prstGeom>
          <a:noFill/>
          <a:ln/>
        </p:spPr>
        <p:txBody>
          <a:bodyPr wrap="square" lIns="25400" tIns="25400" rIns="25400" bIns="25400" rtlCol="0" anchor="t">
            <a:normAutofit/>
          </a:bodyPr>
          <a:lstStyle/>
          <a:p>
            <a:pPr marL="0" indent="0" algn="l">
              <a:lnSpc>
                <a:spcPct val="155000"/>
              </a:lnSpc>
              <a:buNone/>
            </a:pPr>
            <a:r>
              <a:rPr lang="en-US" sz="2475" dirty="0">
                <a:solidFill>
                  <a:srgbClr val="B9C0C5"/>
                </a:solidFill>
                <a:latin typeface="Arial" pitchFamily="34" charset="0"/>
                <a:ea typeface="Arial" pitchFamily="34" charset="-122"/>
                <a:cs typeface="Arial" pitchFamily="34" charset="-120"/>
              </a:rPr>
              <a:t>ツルハ基点・半径2km商圏を R の sf パッケージで構成し、機械的判定が公取委の懸念をどの程度捕捉できるか（再現率）を問う。</a:t>
            </a:r>
            <a:endParaRPr lang="en-US" sz="2475" dirty="0"/>
          </a:p>
        </p:txBody>
      </p:sp>
      <p:sp>
        <p:nvSpPr>
          <p:cNvPr id="8" name="Text 6"/>
          <p:cNvSpPr/>
          <p:nvPr/>
        </p:nvSpPr>
        <p:spPr>
          <a:xfrm>
            <a:off x="1257300" y="6763643"/>
            <a:ext cx="3323550" cy="361950"/>
          </a:xfrm>
          <a:prstGeom prst="rect">
            <a:avLst/>
          </a:prstGeom>
          <a:noFill/>
          <a:ln/>
        </p:spPr>
        <p:txBody>
          <a:bodyPr wrap="square" lIns="25400" tIns="25400" rIns="25400" bIns="25400" rtlCol="0" anchor="t">
            <a:normAutofit/>
          </a:bodyPr>
          <a:lstStyle/>
          <a:p>
            <a:pPr marL="0" indent="0" algn="l">
              <a:buNone/>
            </a:pPr>
            <a:r>
              <a:rPr lang="en-US" sz="1950" dirty="0">
                <a:solidFill>
                  <a:srgbClr val="8B949A"/>
                </a:solidFill>
                <a:latin typeface="Courier New" pitchFamily="34" charset="0"/>
                <a:ea typeface="Courier New" pitchFamily="34" charset="-122"/>
                <a:cs typeface="Courier New" pitchFamily="34" charset="-120"/>
              </a:rPr>
              <a:t>11 方法：2km商圏と4区分</a:t>
            </a:r>
            <a:endParaRPr lang="en-US" sz="1950" dirty="0"/>
          </a:p>
        </p:txBody>
      </p:sp>
      <p:sp>
        <p:nvSpPr>
          <p:cNvPr id="9" name="Text 7"/>
          <p:cNvSpPr/>
          <p:nvPr/>
        </p:nvSpPr>
        <p:spPr>
          <a:xfrm>
            <a:off x="4431109" y="6763643"/>
            <a:ext cx="224830" cy="361950"/>
          </a:xfrm>
          <a:prstGeom prst="rect">
            <a:avLst/>
          </a:prstGeom>
          <a:noFill/>
          <a:ln/>
        </p:spPr>
        <p:txBody>
          <a:bodyPr wrap="square" lIns="25400" tIns="25400" rIns="25400" bIns="25400" rtlCol="0" anchor="t">
            <a:normAutofit/>
          </a:bodyPr>
          <a:lstStyle/>
          <a:p>
            <a:pPr marL="0" indent="0" algn="l">
              <a:buNone/>
            </a:pPr>
            <a:r>
              <a:rPr lang="en-US" sz="1950" dirty="0">
                <a:solidFill>
                  <a:srgbClr val="8B949A">
                    <a:alpha val="40000"/>
                  </a:srgbClr>
                </a:solidFill>
                <a:latin typeface="Courier New" pitchFamily="34" charset="0"/>
                <a:ea typeface="Courier New" pitchFamily="34" charset="-122"/>
                <a:cs typeface="Courier New" pitchFamily="34" charset="-120"/>
              </a:rPr>
              <a:t>/</a:t>
            </a:r>
            <a:endParaRPr lang="en-US" sz="1950" dirty="0"/>
          </a:p>
        </p:txBody>
      </p:sp>
      <p:sp>
        <p:nvSpPr>
          <p:cNvPr id="10" name="Text 8"/>
          <p:cNvSpPr/>
          <p:nvPr/>
        </p:nvSpPr>
        <p:spPr>
          <a:xfrm>
            <a:off x="4732139" y="6763643"/>
            <a:ext cx="1797983" cy="361950"/>
          </a:xfrm>
          <a:prstGeom prst="rect">
            <a:avLst/>
          </a:prstGeom>
          <a:noFill/>
          <a:ln/>
        </p:spPr>
        <p:txBody>
          <a:bodyPr wrap="square" lIns="25400" tIns="25400" rIns="25400" bIns="25400" rtlCol="0" anchor="t">
            <a:normAutofit/>
          </a:bodyPr>
          <a:lstStyle/>
          <a:p>
            <a:pPr marL="0" indent="0" algn="l">
              <a:buNone/>
            </a:pPr>
            <a:r>
              <a:rPr lang="en-US" sz="1950" dirty="0">
                <a:solidFill>
                  <a:srgbClr val="8B949A"/>
                </a:solidFill>
                <a:latin typeface="Courier New" pitchFamily="34" charset="0"/>
                <a:ea typeface="Courier New" pitchFamily="34" charset="-122"/>
                <a:cs typeface="Courier New" pitchFamily="34" charset="-120"/>
              </a:rPr>
              <a:t>12–13 対照表</a:t>
            </a:r>
            <a:endParaRPr lang="en-US" sz="1950" dirty="0"/>
          </a:p>
        </p:txBody>
      </p:sp>
      <p:sp>
        <p:nvSpPr>
          <p:cNvPr id="11" name="Text 9"/>
          <p:cNvSpPr/>
          <p:nvPr/>
        </p:nvSpPr>
        <p:spPr>
          <a:xfrm>
            <a:off x="6519069" y="6763643"/>
            <a:ext cx="224830" cy="361950"/>
          </a:xfrm>
          <a:prstGeom prst="rect">
            <a:avLst/>
          </a:prstGeom>
          <a:noFill/>
          <a:ln/>
        </p:spPr>
        <p:txBody>
          <a:bodyPr wrap="square" lIns="25400" tIns="25400" rIns="25400" bIns="25400" rtlCol="0" anchor="t">
            <a:normAutofit/>
          </a:bodyPr>
          <a:lstStyle/>
          <a:p>
            <a:pPr marL="0" indent="0" algn="l">
              <a:buNone/>
            </a:pPr>
            <a:r>
              <a:rPr lang="en-US" sz="1950" dirty="0">
                <a:solidFill>
                  <a:srgbClr val="8B949A">
                    <a:alpha val="40000"/>
                  </a:srgbClr>
                </a:solidFill>
                <a:latin typeface="Courier New" pitchFamily="34" charset="0"/>
                <a:ea typeface="Courier New" pitchFamily="34" charset="-122"/>
                <a:cs typeface="Courier New" pitchFamily="34" charset="-120"/>
              </a:rPr>
              <a:t>/</a:t>
            </a:r>
            <a:endParaRPr lang="en-US" sz="1950" dirty="0"/>
          </a:p>
        </p:txBody>
      </p:sp>
      <p:sp>
        <p:nvSpPr>
          <p:cNvPr id="12" name="Text 10"/>
          <p:cNvSpPr/>
          <p:nvPr/>
        </p:nvSpPr>
        <p:spPr>
          <a:xfrm>
            <a:off x="6820099" y="6763643"/>
            <a:ext cx="1017290" cy="361950"/>
          </a:xfrm>
          <a:prstGeom prst="rect">
            <a:avLst/>
          </a:prstGeom>
          <a:noFill/>
          <a:ln/>
        </p:spPr>
        <p:txBody>
          <a:bodyPr wrap="square" lIns="25400" tIns="25400" rIns="25400" bIns="25400" rtlCol="0" anchor="t">
            <a:normAutofit/>
          </a:bodyPr>
          <a:lstStyle/>
          <a:p>
            <a:pPr marL="0" indent="0" algn="l">
              <a:buNone/>
            </a:pPr>
            <a:r>
              <a:rPr lang="en-US" sz="1950" dirty="0">
                <a:solidFill>
                  <a:srgbClr val="8B949A"/>
                </a:solidFill>
                <a:latin typeface="Courier New" pitchFamily="34" charset="0"/>
                <a:ea typeface="Courier New" pitchFamily="34" charset="-122"/>
                <a:cs typeface="Courier New" pitchFamily="34" charset="-120"/>
              </a:rPr>
              <a:t>14 含意</a:t>
            </a:r>
            <a:endParaRPr lang="en-US" sz="1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6F2"/>
        </a:solidFill>
        <a:effectLst/>
      </p:bgPr>
    </p:bg>
    <p:spTree>
      <p:nvGrpSpPr>
        <p:cNvPr id="1" name=""/>
        <p:cNvGrpSpPr/>
        <p:nvPr/>
      </p:nvGrpSpPr>
      <p:grpSpPr>
        <a:xfrm>
          <a:off x="0" y="0"/>
          <a:ext cx="0" cy="0"/>
          <a:chOff x="0" y="0"/>
          <a:chExt cx="0" cy="0"/>
        </a:xfrm>
      </p:grpSpPr>
      <p:sp>
        <p:nvSpPr>
          <p:cNvPr id="2" name="Shape 0"/>
          <p:cNvSpPr/>
          <p:nvPr/>
        </p:nvSpPr>
        <p:spPr>
          <a:xfrm>
            <a:off x="1028700" y="801688"/>
            <a:ext cx="304800" cy="28575"/>
          </a:xfrm>
          <a:prstGeom prst="rect">
            <a:avLst/>
          </a:prstGeom>
          <a:solidFill>
            <a:srgbClr val="9A4A38"/>
          </a:solidFill>
          <a:ln/>
        </p:spPr>
      </p:sp>
      <p:sp>
        <p:nvSpPr>
          <p:cNvPr id="3" name="Text 1"/>
          <p:cNvSpPr/>
          <p:nvPr/>
        </p:nvSpPr>
        <p:spPr>
          <a:xfrm>
            <a:off x="1466850" y="628650"/>
            <a:ext cx="4546144" cy="412750"/>
          </a:xfrm>
          <a:prstGeom prst="rect">
            <a:avLst/>
          </a:prstGeom>
          <a:noFill/>
          <a:ln/>
        </p:spPr>
        <p:txBody>
          <a:bodyPr wrap="square" lIns="25400" tIns="25400" rIns="25400" bIns="25400" rtlCol="0" anchor="t">
            <a:normAutofit/>
          </a:bodyPr>
          <a:lstStyle/>
          <a:p>
            <a:pPr marL="0" indent="0" algn="l">
              <a:buNone/>
            </a:pPr>
            <a:r>
              <a:rPr lang="en-US" sz="2025" kern="0" spc="203" dirty="0">
                <a:solidFill>
                  <a:srgbClr val="5A6470"/>
                </a:solidFill>
                <a:latin typeface="Arial" pitchFamily="34" charset="0"/>
                <a:ea typeface="Arial" pitchFamily="34" charset="-122"/>
                <a:cs typeface="Arial" pitchFamily="34" charset="-120"/>
              </a:rPr>
              <a:t>第2部 再現① 地理的市場画定</a:t>
            </a:r>
            <a:endParaRPr lang="en-US" sz="2025" dirty="0"/>
          </a:p>
        </p:txBody>
      </p:sp>
      <p:sp>
        <p:nvSpPr>
          <p:cNvPr id="4" name="Text 2"/>
          <p:cNvSpPr/>
          <p:nvPr/>
        </p:nvSpPr>
        <p:spPr>
          <a:xfrm>
            <a:off x="1028700" y="1174750"/>
            <a:ext cx="17853660" cy="624384"/>
          </a:xfrm>
          <a:prstGeom prst="rect">
            <a:avLst/>
          </a:prstGeom>
          <a:noFill/>
          <a:ln/>
        </p:spPr>
        <p:txBody>
          <a:bodyPr wrap="square" lIns="25400" tIns="25400" rIns="25400" bIns="25400" rtlCol="0" anchor="t">
            <a:normAutofit/>
          </a:bodyPr>
          <a:lstStyle/>
          <a:p>
            <a:pPr marL="0" indent="0" algn="l">
              <a:lnSpc>
                <a:spcPct val="114000"/>
              </a:lnSpc>
              <a:buNone/>
            </a:pPr>
            <a:r>
              <a:rPr lang="en-US" sz="4050" b="1" dirty="0">
                <a:solidFill>
                  <a:srgbClr val="1F2730"/>
                </a:solidFill>
                <a:latin typeface="Arial" pitchFamily="34" charset="0"/>
                <a:ea typeface="Arial" pitchFamily="34" charset="-122"/>
                <a:cs typeface="Arial" pitchFamily="34" charset="-120"/>
              </a:rPr>
              <a:t>再現の方法：2km商圏と4区分</a:t>
            </a:r>
            <a:endParaRPr lang="en-US" sz="4050" dirty="0"/>
          </a:p>
        </p:txBody>
      </p:sp>
      <p:sp>
        <p:nvSpPr>
          <p:cNvPr id="5" name="Text 3"/>
          <p:cNvSpPr/>
          <p:nvPr/>
        </p:nvSpPr>
        <p:spPr>
          <a:xfrm>
            <a:off x="1028700" y="1894384"/>
            <a:ext cx="16344900" cy="519212"/>
          </a:xfrm>
          <a:prstGeom prst="rect">
            <a:avLst/>
          </a:prstGeom>
          <a:noFill/>
          <a:ln/>
        </p:spPr>
        <p:txBody>
          <a:bodyPr wrap="square" lIns="25400" tIns="25400" rIns="25400" bIns="25400" rtlCol="0" anchor="t">
            <a:normAutofit/>
          </a:bodyPr>
          <a:lstStyle/>
          <a:p>
            <a:pPr marL="0" indent="0" algn="l">
              <a:lnSpc>
                <a:spcPct val="145000"/>
              </a:lnSpc>
              <a:buNone/>
            </a:pPr>
            <a:r>
              <a:rPr lang="en-US" sz="2475" dirty="0">
                <a:solidFill>
                  <a:srgbClr val="4A5560"/>
                </a:solidFill>
                <a:latin typeface="Arial" pitchFamily="34" charset="0"/>
                <a:ea typeface="Arial" pitchFamily="34" charset="-122"/>
                <a:cs typeface="Arial" pitchFamily="34" charset="-120"/>
              </a:rPr>
              <a:t>ツルハ基点・半径2km商圏を、企業結合との</a:t>
            </a:r>
            <a:r>
              <a:rPr lang="en-US" sz="2475" b="1" dirty="0">
                <a:solidFill>
                  <a:srgbClr val="4A5560"/>
                </a:solidFill>
                <a:latin typeface="Arial" pitchFamily="34" charset="0"/>
                <a:ea typeface="Arial" pitchFamily="34" charset="-122"/>
                <a:cs typeface="Arial" pitchFamily="34" charset="-120"/>
              </a:rPr>
              <a:t>因果関係</a:t>
            </a:r>
            <a:r>
              <a:rPr lang="en-US" sz="2475" dirty="0">
                <a:solidFill>
                  <a:srgbClr val="4A5560"/>
                </a:solidFill>
                <a:latin typeface="Arial" pitchFamily="34" charset="0"/>
                <a:ea typeface="Arial" pitchFamily="34" charset="-122"/>
                <a:cs typeface="Arial" pitchFamily="34" charset="-120"/>
              </a:rPr>
              <a:t>に着目して4区分に再構成する。</a:t>
            </a:r>
            <a:endParaRPr lang="en-US" sz="2475" dirty="0"/>
          </a:p>
        </p:txBody>
      </p:sp>
      <p:sp>
        <p:nvSpPr>
          <p:cNvPr id="6" name="Text 4"/>
          <p:cNvSpPr/>
          <p:nvPr/>
        </p:nvSpPr>
        <p:spPr>
          <a:xfrm>
            <a:off x="1028700" y="4054971"/>
            <a:ext cx="7940527" cy="412750"/>
          </a:xfrm>
          <a:prstGeom prst="rect">
            <a:avLst/>
          </a:prstGeom>
          <a:noFill/>
          <a:ln/>
        </p:spPr>
        <p:txBody>
          <a:bodyPr wrap="square" lIns="25400" tIns="25400" rIns="25400" bIns="25400" rtlCol="0" anchor="t">
            <a:normAutofit/>
          </a:bodyPr>
          <a:lstStyle/>
          <a:p>
            <a:pPr marL="0" indent="0" algn="l">
              <a:buNone/>
            </a:pPr>
            <a:r>
              <a:rPr lang="en-US" sz="2025" kern="0" spc="122" dirty="0">
                <a:solidFill>
                  <a:srgbClr val="9A4A38"/>
                </a:solidFill>
                <a:latin typeface="Arial" pitchFamily="34" charset="0"/>
                <a:ea typeface="Arial" pitchFamily="34" charset="-122"/>
                <a:cs typeface="Arial" pitchFamily="34" charset="-120"/>
              </a:rPr>
              <a:t>方法</a:t>
            </a:r>
            <a:endParaRPr lang="en-US" sz="2025" dirty="0"/>
          </a:p>
        </p:txBody>
      </p:sp>
      <p:sp>
        <p:nvSpPr>
          <p:cNvPr id="7" name="Text 5"/>
          <p:cNvSpPr/>
          <p:nvPr/>
        </p:nvSpPr>
        <p:spPr>
          <a:xfrm>
            <a:off x="1028700" y="4601071"/>
            <a:ext cx="7435220" cy="892175"/>
          </a:xfrm>
          <a:prstGeom prst="rect">
            <a:avLst/>
          </a:prstGeom>
          <a:noFill/>
          <a:ln/>
        </p:spPr>
        <p:txBody>
          <a:bodyPr wrap="square" lIns="25400" tIns="25400" rIns="25400" bIns="25400" rtlCol="0" anchor="t">
            <a:normAutofit/>
          </a:bodyPr>
          <a:lstStyle/>
          <a:p>
            <a:pPr marL="0" indent="0" algn="l">
              <a:lnSpc>
                <a:spcPct val="150000"/>
              </a:lnSpc>
              <a:buNone/>
            </a:pPr>
            <a:r>
              <a:rPr lang="en-US" sz="2175" dirty="0">
                <a:solidFill>
                  <a:srgbClr val="2C333C"/>
                </a:solidFill>
                <a:latin typeface="Arial" pitchFamily="34" charset="0"/>
                <a:ea typeface="Arial" pitchFamily="34" charset="-122"/>
                <a:cs typeface="Arial" pitchFamily="34" charset="-120"/>
              </a:rPr>
              <a:t>データ：</a:t>
            </a:r>
            <a:r>
              <a:rPr lang="en-US" sz="2175" b="1" dirty="0">
                <a:solidFill>
                  <a:srgbClr val="2C333C"/>
                </a:solidFill>
                <a:latin typeface="Arial" pitchFamily="34" charset="0"/>
                <a:ea typeface="Arial" pitchFamily="34" charset="-122"/>
                <a:cs typeface="Arial" pitchFamily="34" charset="-120"/>
              </a:rPr>
              <a:t>OpenStreetMap </a:t>
            </a:r>
            <a:r>
              <a:rPr lang="en-US" sz="2175" dirty="0">
                <a:solidFill>
                  <a:srgbClr val="2C333C"/>
                </a:solidFill>
                <a:latin typeface="Arial" pitchFamily="34" charset="0"/>
                <a:ea typeface="Arial" pitchFamily="34" charset="-122"/>
                <a:cs typeface="Arial" pitchFamily="34" charset="-120"/>
              </a:rPr>
              <a:t>＋ </a:t>
            </a:r>
            <a:r>
              <a:rPr lang="en-US" sz="2175" b="1" dirty="0">
                <a:solidFill>
                  <a:srgbClr val="2C333C"/>
                </a:solidFill>
                <a:latin typeface="Arial" pitchFamily="34" charset="0"/>
                <a:ea typeface="Arial" pitchFamily="34" charset="-122"/>
                <a:cs typeface="Arial" pitchFamily="34" charset="-120"/>
              </a:rPr>
              <a:t>Google Places API</a:t>
            </a:r>
            <a:r>
              <a:rPr lang="en-US" sz="2175" dirty="0">
                <a:solidFill>
                  <a:srgbClr val="2C333C"/>
                </a:solidFill>
                <a:latin typeface="Arial" pitchFamily="34" charset="0"/>
                <a:ea typeface="Arial" pitchFamily="34" charset="-122"/>
                <a:cs typeface="Arial" pitchFamily="34" charset="-120"/>
              </a:rPr>
              <a:t>／R の </a:t>
            </a:r>
            <a:r>
              <a:rPr lang="en-US" sz="2175" b="1" dirty="0">
                <a:solidFill>
                  <a:srgbClr val="2C333C"/>
                </a:solidFill>
                <a:latin typeface="Arial" pitchFamily="34" charset="0"/>
                <a:ea typeface="Arial" pitchFamily="34" charset="-122"/>
                <a:cs typeface="Arial" pitchFamily="34" charset="-120"/>
              </a:rPr>
              <a:t>sf </a:t>
            </a:r>
            <a:r>
              <a:rPr lang="en-US" sz="2175" dirty="0">
                <a:solidFill>
                  <a:srgbClr val="2C333C"/>
                </a:solidFill>
                <a:latin typeface="Arial" pitchFamily="34" charset="0"/>
                <a:ea typeface="Arial" pitchFamily="34" charset="-122"/>
                <a:cs typeface="Arial" pitchFamily="34" charset="-120"/>
              </a:rPr>
              <a:t>パッケージ</a:t>
            </a:r>
            <a:endParaRPr lang="en-US" sz="2175" dirty="0"/>
          </a:p>
        </p:txBody>
      </p:sp>
      <p:sp>
        <p:nvSpPr>
          <p:cNvPr id="8" name="Shape 6"/>
          <p:cNvSpPr/>
          <p:nvPr/>
        </p:nvSpPr>
        <p:spPr>
          <a:xfrm>
            <a:off x="1028700" y="5626596"/>
            <a:ext cx="7218661" cy="9525"/>
          </a:xfrm>
          <a:prstGeom prst="rect">
            <a:avLst/>
          </a:prstGeom>
          <a:solidFill>
            <a:srgbClr val="E4E0D7"/>
          </a:solidFill>
          <a:ln/>
        </p:spPr>
      </p:sp>
      <p:sp>
        <p:nvSpPr>
          <p:cNvPr id="9" name="Text 7"/>
          <p:cNvSpPr/>
          <p:nvPr/>
        </p:nvSpPr>
        <p:spPr>
          <a:xfrm>
            <a:off x="1028700" y="5807571"/>
            <a:ext cx="7435220" cy="892175"/>
          </a:xfrm>
          <a:prstGeom prst="rect">
            <a:avLst/>
          </a:prstGeom>
          <a:noFill/>
          <a:ln/>
        </p:spPr>
        <p:txBody>
          <a:bodyPr wrap="square" lIns="25400" tIns="25400" rIns="25400" bIns="25400" rtlCol="0" anchor="t">
            <a:normAutofit/>
          </a:bodyPr>
          <a:lstStyle/>
          <a:p>
            <a:pPr marL="0" indent="0" algn="l">
              <a:lnSpc>
                <a:spcPct val="150000"/>
              </a:lnSpc>
              <a:buNone/>
            </a:pPr>
            <a:r>
              <a:rPr lang="en-US" sz="2175" dirty="0">
                <a:solidFill>
                  <a:srgbClr val="2C333C"/>
                </a:solidFill>
                <a:latin typeface="Arial" pitchFamily="34" charset="0"/>
                <a:ea typeface="Arial" pitchFamily="34" charset="-122"/>
                <a:cs typeface="Arial" pitchFamily="34" charset="-120"/>
              </a:rPr>
              <a:t>対象：</a:t>
            </a:r>
            <a:r>
              <a:rPr lang="en-US" sz="2175" b="1" dirty="0">
                <a:solidFill>
                  <a:srgbClr val="9A4A38"/>
                </a:solidFill>
                <a:latin typeface="Arial" pitchFamily="34" charset="0"/>
                <a:ea typeface="Arial" pitchFamily="34" charset="-122"/>
                <a:cs typeface="Arial" pitchFamily="34" charset="-120"/>
              </a:rPr>
              <a:t>7県 </a:t>
            </a:r>
            <a:r>
              <a:rPr lang="en-US" sz="2175" dirty="0">
                <a:solidFill>
                  <a:srgbClr val="2C333C"/>
                </a:solidFill>
                <a:latin typeface="Arial" pitchFamily="34" charset="0"/>
                <a:ea typeface="Arial" pitchFamily="34" charset="-122"/>
                <a:cs typeface="Arial" pitchFamily="34" charset="-120"/>
              </a:rPr>
              <a:t>（青森・栃木・茨城・静岡・鳥取・島根・愛媛）</a:t>
            </a:r>
            <a:endParaRPr lang="en-US" sz="2175" dirty="0"/>
          </a:p>
        </p:txBody>
      </p:sp>
      <p:sp>
        <p:nvSpPr>
          <p:cNvPr id="10" name="Text 8"/>
          <p:cNvSpPr/>
          <p:nvPr/>
        </p:nvSpPr>
        <p:spPr>
          <a:xfrm>
            <a:off x="1028700" y="6833096"/>
            <a:ext cx="7435220" cy="821928"/>
          </a:xfrm>
          <a:prstGeom prst="rect">
            <a:avLst/>
          </a:prstGeom>
          <a:noFill/>
          <a:ln/>
        </p:spPr>
        <p:txBody>
          <a:bodyPr wrap="square" lIns="25400" tIns="25400" rIns="25400" bIns="25400" rtlCol="0" anchor="t">
            <a:normAutofit/>
          </a:bodyPr>
          <a:lstStyle/>
          <a:p>
            <a:pPr marL="0" indent="0" algn="l">
              <a:lnSpc>
                <a:spcPct val="145000"/>
              </a:lnSpc>
              <a:buNone/>
            </a:pPr>
            <a:r>
              <a:rPr lang="en-US" sz="2025" dirty="0">
                <a:solidFill>
                  <a:srgbClr val="5A6470"/>
                </a:solidFill>
                <a:latin typeface="Arial" pitchFamily="34" charset="0"/>
                <a:ea typeface="Arial" pitchFamily="34" charset="-122"/>
                <a:cs typeface="Arial" pitchFamily="34" charset="-120"/>
              </a:rPr>
              <a:t>理由：API利用枠の制約 ＋ 懸念</a:t>
            </a:r>
            <a:r>
              <a:rPr lang="en-US" sz="2025" b="1" dirty="0">
                <a:solidFill>
                  <a:srgbClr val="5A6470"/>
                </a:solidFill>
                <a:latin typeface="Arial" pitchFamily="34" charset="0"/>
                <a:ea typeface="Arial" pitchFamily="34" charset="-122"/>
                <a:cs typeface="Arial" pitchFamily="34" charset="-120"/>
              </a:rPr>
              <a:t>10商圏が全てこの7県 </a:t>
            </a:r>
            <a:r>
              <a:rPr lang="en-US" sz="2025" dirty="0">
                <a:solidFill>
                  <a:srgbClr val="5A6470"/>
                </a:solidFill>
                <a:latin typeface="Arial" pitchFamily="34" charset="0"/>
                <a:ea typeface="Arial" pitchFamily="34" charset="-122"/>
                <a:cs typeface="Arial" pitchFamily="34" charset="-120"/>
              </a:rPr>
              <a:t>に所在 → 問いは「全国からの発見」ではなく </a:t>
            </a:r>
            <a:r>
              <a:rPr lang="en-US" sz="2025" b="1" dirty="0">
                <a:solidFill>
                  <a:srgbClr val="2C333C"/>
                </a:solidFill>
                <a:latin typeface="Arial" pitchFamily="34" charset="0"/>
                <a:ea typeface="Arial" pitchFamily="34" charset="-122"/>
                <a:cs typeface="Arial" pitchFamily="34" charset="-120"/>
              </a:rPr>
              <a:t>再現率</a:t>
            </a:r>
            <a:r>
              <a:rPr lang="en-US" sz="2025" dirty="0">
                <a:solidFill>
                  <a:srgbClr val="5A6470"/>
                </a:solidFill>
                <a:latin typeface="Arial" pitchFamily="34" charset="0"/>
                <a:ea typeface="Arial" pitchFamily="34" charset="-122"/>
                <a:cs typeface="Arial" pitchFamily="34" charset="-120"/>
              </a:rPr>
              <a:t>。</a:t>
            </a:r>
            <a:endParaRPr lang="en-US" sz="2025" dirty="0"/>
          </a:p>
        </p:txBody>
      </p:sp>
      <p:sp>
        <p:nvSpPr>
          <p:cNvPr id="11" name="Shape 9"/>
          <p:cNvSpPr/>
          <p:nvPr/>
        </p:nvSpPr>
        <p:spPr>
          <a:xfrm>
            <a:off x="8628361" y="3391198"/>
            <a:ext cx="8630940" cy="1139825"/>
          </a:xfrm>
          <a:prstGeom prst="roundRect">
            <a:avLst>
              <a:gd name="adj" fmla="val 5014"/>
            </a:avLst>
          </a:prstGeom>
          <a:solidFill>
            <a:srgbClr val="FFFFFF"/>
          </a:solidFill>
          <a:ln/>
        </p:spPr>
      </p:sp>
      <p:sp>
        <p:nvSpPr>
          <p:cNvPr id="12" name="Shape 10"/>
          <p:cNvSpPr/>
          <p:nvPr/>
        </p:nvSpPr>
        <p:spPr>
          <a:xfrm>
            <a:off x="8628361" y="4524673"/>
            <a:ext cx="8630940" cy="9525"/>
          </a:xfrm>
          <a:prstGeom prst="rect">
            <a:avLst/>
          </a:prstGeom>
          <a:solidFill>
            <a:srgbClr val="E0DCD2"/>
          </a:solidFill>
          <a:ln/>
        </p:spPr>
      </p:sp>
      <p:sp>
        <p:nvSpPr>
          <p:cNvPr id="13" name="Shape 11"/>
          <p:cNvSpPr/>
          <p:nvPr/>
        </p:nvSpPr>
        <p:spPr>
          <a:xfrm>
            <a:off x="8628361" y="3391198"/>
            <a:ext cx="8630940" cy="9525"/>
          </a:xfrm>
          <a:prstGeom prst="rect">
            <a:avLst/>
          </a:prstGeom>
          <a:solidFill>
            <a:srgbClr val="E0DCD2"/>
          </a:solidFill>
          <a:ln/>
        </p:spPr>
      </p:sp>
      <p:sp>
        <p:nvSpPr>
          <p:cNvPr id="14" name="Shape 12"/>
          <p:cNvSpPr/>
          <p:nvPr/>
        </p:nvSpPr>
        <p:spPr>
          <a:xfrm>
            <a:off x="8628361" y="3391198"/>
            <a:ext cx="57150" cy="1139825"/>
          </a:xfrm>
          <a:prstGeom prst="rect">
            <a:avLst/>
          </a:prstGeom>
          <a:solidFill>
            <a:srgbClr val="B6AFA2"/>
          </a:solidFill>
          <a:ln/>
        </p:spPr>
      </p:sp>
      <p:sp>
        <p:nvSpPr>
          <p:cNvPr id="15" name="Shape 13"/>
          <p:cNvSpPr/>
          <p:nvPr/>
        </p:nvSpPr>
        <p:spPr>
          <a:xfrm>
            <a:off x="17252951" y="3391198"/>
            <a:ext cx="9525" cy="1139825"/>
          </a:xfrm>
          <a:prstGeom prst="rect">
            <a:avLst/>
          </a:prstGeom>
          <a:solidFill>
            <a:srgbClr val="E0DCD2"/>
          </a:solidFill>
          <a:ln/>
        </p:spPr>
      </p:sp>
      <p:sp>
        <p:nvSpPr>
          <p:cNvPr id="16" name="Text 14"/>
          <p:cNvSpPr/>
          <p:nvPr/>
        </p:nvSpPr>
        <p:spPr>
          <a:xfrm>
            <a:off x="8914111" y="3786485"/>
            <a:ext cx="457200" cy="387350"/>
          </a:xfrm>
          <a:prstGeom prst="rect">
            <a:avLst/>
          </a:prstGeom>
          <a:noFill/>
          <a:ln/>
        </p:spPr>
        <p:txBody>
          <a:bodyPr wrap="square" lIns="25400" tIns="25400" rIns="25400" bIns="25400" rtlCol="0" anchor="t">
            <a:normAutofit/>
          </a:bodyPr>
          <a:lstStyle/>
          <a:p>
            <a:pPr marL="0" indent="0" algn="l">
              <a:buNone/>
            </a:pPr>
            <a:r>
              <a:rPr lang="en-US" sz="2100" dirty="0">
                <a:solidFill>
                  <a:srgbClr val="97928A"/>
                </a:solidFill>
                <a:latin typeface="Courier New" pitchFamily="34" charset="0"/>
                <a:ea typeface="Courier New" pitchFamily="34" charset="-122"/>
                <a:cs typeface="Courier New" pitchFamily="34" charset="-120"/>
              </a:rPr>
              <a:t>1</a:t>
            </a:r>
            <a:endParaRPr lang="en-US" sz="2100" dirty="0"/>
          </a:p>
        </p:txBody>
      </p:sp>
      <p:sp>
        <p:nvSpPr>
          <p:cNvPr id="17" name="Text 15"/>
          <p:cNvSpPr/>
          <p:nvPr/>
        </p:nvSpPr>
        <p:spPr>
          <a:xfrm>
            <a:off x="9466561" y="3568998"/>
            <a:ext cx="6819434" cy="438150"/>
          </a:xfrm>
          <a:prstGeom prst="rect">
            <a:avLst/>
          </a:prstGeom>
          <a:noFill/>
          <a:ln/>
        </p:spPr>
        <p:txBody>
          <a:bodyPr wrap="square" lIns="25400" tIns="25400" rIns="25400" bIns="25400" rtlCol="0" anchor="t">
            <a:normAutofit/>
          </a:bodyPr>
          <a:lstStyle/>
          <a:p>
            <a:pPr marL="0" indent="0" algn="l">
              <a:buNone/>
            </a:pPr>
            <a:r>
              <a:rPr lang="en-US" sz="2175" b="1" dirty="0">
                <a:solidFill>
                  <a:srgbClr val="5A6470"/>
                </a:solidFill>
                <a:latin typeface="Arial" pitchFamily="34" charset="0"/>
                <a:ea typeface="Arial" pitchFamily="34" charset="-122"/>
                <a:cs typeface="Arial" pitchFamily="34" charset="-120"/>
              </a:rPr>
              <a:t>重複なし</a:t>
            </a:r>
            <a:endParaRPr lang="en-US" sz="2175" dirty="0"/>
          </a:p>
        </p:txBody>
      </p:sp>
      <p:sp>
        <p:nvSpPr>
          <p:cNvPr id="18" name="Text 16"/>
          <p:cNvSpPr/>
          <p:nvPr/>
        </p:nvSpPr>
        <p:spPr>
          <a:xfrm>
            <a:off x="9466561" y="3997623"/>
            <a:ext cx="6819434" cy="393700"/>
          </a:xfrm>
          <a:prstGeom prst="rect">
            <a:avLst/>
          </a:prstGeom>
          <a:noFill/>
          <a:ln/>
        </p:spPr>
        <p:txBody>
          <a:bodyPr wrap="square" lIns="25400" tIns="25400" rIns="25400" bIns="25400" rtlCol="0" anchor="t">
            <a:normAutofit/>
          </a:bodyPr>
          <a:lstStyle/>
          <a:p>
            <a:pPr marL="0" indent="0" algn="l">
              <a:buNone/>
            </a:pPr>
            <a:r>
              <a:rPr lang="en-US" sz="1950" dirty="0">
                <a:solidFill>
                  <a:srgbClr val="8A8478"/>
                </a:solidFill>
                <a:latin typeface="Arial" pitchFamily="34" charset="0"/>
                <a:ea typeface="Arial" pitchFamily="34" charset="-122"/>
                <a:cs typeface="Arial" pitchFamily="34" charset="-120"/>
              </a:rPr>
              <a:t>イオン系が2km内になし＝構造不変＝</a:t>
            </a:r>
            <a:r>
              <a:rPr lang="en-US" sz="1950" b="1" dirty="0">
                <a:solidFill>
                  <a:srgbClr val="8A8478"/>
                </a:solidFill>
                <a:latin typeface="Arial" pitchFamily="34" charset="0"/>
                <a:ea typeface="Arial" pitchFamily="34" charset="-122"/>
                <a:cs typeface="Arial" pitchFamily="34" charset="-120"/>
              </a:rPr>
              <a:t>因果なし</a:t>
            </a:r>
            <a:r>
              <a:rPr lang="en-US" sz="1950" dirty="0">
                <a:solidFill>
                  <a:srgbClr val="8A8478"/>
                </a:solidFill>
                <a:latin typeface="Arial" pitchFamily="34" charset="0"/>
                <a:ea typeface="Arial" pitchFamily="34" charset="-122"/>
                <a:cs typeface="Arial" pitchFamily="34" charset="-120"/>
              </a:rPr>
              <a:t>（除外）</a:t>
            </a:r>
            <a:endParaRPr lang="en-US" sz="1950" dirty="0"/>
          </a:p>
        </p:txBody>
      </p:sp>
      <p:sp>
        <p:nvSpPr>
          <p:cNvPr id="19" name="Shape 17"/>
          <p:cNvSpPr/>
          <p:nvPr/>
        </p:nvSpPr>
        <p:spPr>
          <a:xfrm>
            <a:off x="8628361" y="4645323"/>
            <a:ext cx="8630940" cy="1139825"/>
          </a:xfrm>
          <a:prstGeom prst="roundRect">
            <a:avLst>
              <a:gd name="adj" fmla="val 5014"/>
            </a:avLst>
          </a:prstGeom>
          <a:solidFill>
            <a:srgbClr val="FFFFFF"/>
          </a:solidFill>
          <a:ln/>
        </p:spPr>
      </p:sp>
      <p:sp>
        <p:nvSpPr>
          <p:cNvPr id="20" name="Shape 18"/>
          <p:cNvSpPr/>
          <p:nvPr/>
        </p:nvSpPr>
        <p:spPr>
          <a:xfrm>
            <a:off x="8628361" y="5778798"/>
            <a:ext cx="8630940" cy="9525"/>
          </a:xfrm>
          <a:prstGeom prst="rect">
            <a:avLst/>
          </a:prstGeom>
          <a:solidFill>
            <a:srgbClr val="E0DCD2"/>
          </a:solidFill>
          <a:ln/>
        </p:spPr>
      </p:sp>
      <p:sp>
        <p:nvSpPr>
          <p:cNvPr id="21" name="Shape 19"/>
          <p:cNvSpPr/>
          <p:nvPr/>
        </p:nvSpPr>
        <p:spPr>
          <a:xfrm>
            <a:off x="8628361" y="4645323"/>
            <a:ext cx="8630940" cy="9525"/>
          </a:xfrm>
          <a:prstGeom prst="rect">
            <a:avLst/>
          </a:prstGeom>
          <a:solidFill>
            <a:srgbClr val="E0DCD2"/>
          </a:solidFill>
          <a:ln/>
        </p:spPr>
      </p:sp>
      <p:sp>
        <p:nvSpPr>
          <p:cNvPr id="22" name="Shape 20"/>
          <p:cNvSpPr/>
          <p:nvPr/>
        </p:nvSpPr>
        <p:spPr>
          <a:xfrm>
            <a:off x="8628361" y="4645323"/>
            <a:ext cx="57150" cy="1139825"/>
          </a:xfrm>
          <a:prstGeom prst="rect">
            <a:avLst/>
          </a:prstGeom>
          <a:solidFill>
            <a:srgbClr val="3A4A56"/>
          </a:solidFill>
          <a:ln/>
        </p:spPr>
      </p:sp>
      <p:sp>
        <p:nvSpPr>
          <p:cNvPr id="23" name="Shape 21"/>
          <p:cNvSpPr/>
          <p:nvPr/>
        </p:nvSpPr>
        <p:spPr>
          <a:xfrm>
            <a:off x="17252951" y="4645323"/>
            <a:ext cx="9525" cy="1139825"/>
          </a:xfrm>
          <a:prstGeom prst="rect">
            <a:avLst/>
          </a:prstGeom>
          <a:solidFill>
            <a:srgbClr val="E0DCD2"/>
          </a:solidFill>
          <a:ln/>
        </p:spPr>
      </p:sp>
      <p:sp>
        <p:nvSpPr>
          <p:cNvPr id="24" name="Text 22"/>
          <p:cNvSpPr/>
          <p:nvPr/>
        </p:nvSpPr>
        <p:spPr>
          <a:xfrm>
            <a:off x="8914111" y="5040610"/>
            <a:ext cx="457200" cy="387350"/>
          </a:xfrm>
          <a:prstGeom prst="rect">
            <a:avLst/>
          </a:prstGeom>
          <a:noFill/>
          <a:ln/>
        </p:spPr>
        <p:txBody>
          <a:bodyPr wrap="square" lIns="25400" tIns="25400" rIns="25400" bIns="25400" rtlCol="0" anchor="t">
            <a:normAutofit/>
          </a:bodyPr>
          <a:lstStyle/>
          <a:p>
            <a:pPr marL="0" indent="0" algn="l">
              <a:buNone/>
            </a:pPr>
            <a:r>
              <a:rPr lang="en-US" sz="2100" dirty="0">
                <a:solidFill>
                  <a:srgbClr val="3A4A56"/>
                </a:solidFill>
                <a:latin typeface="Courier New" pitchFamily="34" charset="0"/>
                <a:ea typeface="Courier New" pitchFamily="34" charset="-122"/>
                <a:cs typeface="Courier New" pitchFamily="34" charset="-120"/>
              </a:rPr>
              <a:t>2</a:t>
            </a:r>
            <a:endParaRPr lang="en-US" sz="2100" dirty="0"/>
          </a:p>
        </p:txBody>
      </p:sp>
      <p:sp>
        <p:nvSpPr>
          <p:cNvPr id="25" name="Text 23"/>
          <p:cNvSpPr/>
          <p:nvPr/>
        </p:nvSpPr>
        <p:spPr>
          <a:xfrm>
            <a:off x="9466561" y="4823123"/>
            <a:ext cx="4677003" cy="438150"/>
          </a:xfrm>
          <a:prstGeom prst="rect">
            <a:avLst/>
          </a:prstGeom>
          <a:noFill/>
          <a:ln/>
        </p:spPr>
        <p:txBody>
          <a:bodyPr wrap="square" lIns="25400" tIns="25400" rIns="25400" bIns="25400" rtlCol="0" anchor="t">
            <a:normAutofit/>
          </a:bodyPr>
          <a:lstStyle/>
          <a:p>
            <a:pPr marL="0" indent="0" algn="l">
              <a:buNone/>
            </a:pPr>
            <a:r>
              <a:rPr lang="en-US" sz="2175" b="1" dirty="0">
                <a:solidFill>
                  <a:srgbClr val="1F2730"/>
                </a:solidFill>
                <a:latin typeface="Arial" pitchFamily="34" charset="0"/>
                <a:ea typeface="Arial" pitchFamily="34" charset="-122"/>
                <a:cs typeface="Arial" pitchFamily="34" charset="-120"/>
              </a:rPr>
              <a:t>競争維持</a:t>
            </a:r>
            <a:endParaRPr lang="en-US" sz="2175" dirty="0"/>
          </a:p>
        </p:txBody>
      </p:sp>
      <p:sp>
        <p:nvSpPr>
          <p:cNvPr id="26" name="Text 24"/>
          <p:cNvSpPr/>
          <p:nvPr/>
        </p:nvSpPr>
        <p:spPr>
          <a:xfrm>
            <a:off x="9466561" y="5251748"/>
            <a:ext cx="4677003" cy="393700"/>
          </a:xfrm>
          <a:prstGeom prst="rect">
            <a:avLst/>
          </a:prstGeom>
          <a:noFill/>
          <a:ln/>
        </p:spPr>
        <p:txBody>
          <a:bodyPr wrap="square" lIns="25400" tIns="25400" rIns="25400" bIns="25400" rtlCol="0" anchor="t">
            <a:normAutofit/>
          </a:bodyPr>
          <a:lstStyle/>
          <a:p>
            <a:pPr marL="0" indent="0" algn="l">
              <a:buNone/>
            </a:pPr>
            <a:r>
              <a:rPr lang="en-US" sz="1950" dirty="0">
                <a:solidFill>
                  <a:srgbClr val="5A6470"/>
                </a:solidFill>
                <a:latin typeface="Arial" pitchFamily="34" charset="0"/>
                <a:ea typeface="Arial" pitchFamily="34" charset="-122"/>
                <a:cs typeface="Arial" pitchFamily="34" charset="-120"/>
              </a:rPr>
              <a:t>重複あり ＋ 他の競争者 </a:t>
            </a:r>
            <a:r>
              <a:rPr lang="en-US" sz="1950" b="1" dirty="0">
                <a:solidFill>
                  <a:srgbClr val="5A6470"/>
                </a:solidFill>
                <a:latin typeface="Arial" pitchFamily="34" charset="0"/>
                <a:ea typeface="Arial" pitchFamily="34" charset="-122"/>
                <a:cs typeface="Arial" pitchFamily="34" charset="-120"/>
              </a:rPr>
              <a:t>2グループ以上</a:t>
            </a:r>
            <a:endParaRPr lang="en-US" sz="1950" dirty="0"/>
          </a:p>
        </p:txBody>
      </p:sp>
      <p:sp>
        <p:nvSpPr>
          <p:cNvPr id="27" name="Shape 25"/>
          <p:cNvSpPr/>
          <p:nvPr/>
        </p:nvSpPr>
        <p:spPr>
          <a:xfrm>
            <a:off x="8628361" y="5899448"/>
            <a:ext cx="8630940" cy="1139825"/>
          </a:xfrm>
          <a:prstGeom prst="roundRect">
            <a:avLst>
              <a:gd name="adj" fmla="val 5014"/>
            </a:avLst>
          </a:prstGeom>
          <a:solidFill>
            <a:srgbClr val="FBF3F1"/>
          </a:solidFill>
          <a:ln/>
        </p:spPr>
      </p:sp>
      <p:sp>
        <p:nvSpPr>
          <p:cNvPr id="28" name="Shape 26"/>
          <p:cNvSpPr/>
          <p:nvPr/>
        </p:nvSpPr>
        <p:spPr>
          <a:xfrm>
            <a:off x="8628361" y="7032923"/>
            <a:ext cx="8630940" cy="9525"/>
          </a:xfrm>
          <a:prstGeom prst="rect">
            <a:avLst/>
          </a:prstGeom>
          <a:solidFill>
            <a:srgbClr val="E6C9C0"/>
          </a:solidFill>
          <a:ln/>
        </p:spPr>
      </p:sp>
      <p:sp>
        <p:nvSpPr>
          <p:cNvPr id="29" name="Shape 27"/>
          <p:cNvSpPr/>
          <p:nvPr/>
        </p:nvSpPr>
        <p:spPr>
          <a:xfrm>
            <a:off x="8628361" y="5899448"/>
            <a:ext cx="8630940" cy="9525"/>
          </a:xfrm>
          <a:prstGeom prst="rect">
            <a:avLst/>
          </a:prstGeom>
          <a:solidFill>
            <a:srgbClr val="E6C9C0"/>
          </a:solidFill>
          <a:ln/>
        </p:spPr>
      </p:sp>
      <p:sp>
        <p:nvSpPr>
          <p:cNvPr id="30" name="Shape 28"/>
          <p:cNvSpPr/>
          <p:nvPr/>
        </p:nvSpPr>
        <p:spPr>
          <a:xfrm>
            <a:off x="8628361" y="5899448"/>
            <a:ext cx="57150" cy="1139825"/>
          </a:xfrm>
          <a:prstGeom prst="rect">
            <a:avLst/>
          </a:prstGeom>
          <a:solidFill>
            <a:srgbClr val="C58472"/>
          </a:solidFill>
          <a:ln/>
        </p:spPr>
      </p:sp>
      <p:sp>
        <p:nvSpPr>
          <p:cNvPr id="31" name="Shape 29"/>
          <p:cNvSpPr/>
          <p:nvPr/>
        </p:nvSpPr>
        <p:spPr>
          <a:xfrm>
            <a:off x="17252951" y="5899448"/>
            <a:ext cx="9525" cy="1139825"/>
          </a:xfrm>
          <a:prstGeom prst="rect">
            <a:avLst/>
          </a:prstGeom>
          <a:solidFill>
            <a:srgbClr val="E6C9C0"/>
          </a:solidFill>
          <a:ln/>
        </p:spPr>
      </p:sp>
      <p:sp>
        <p:nvSpPr>
          <p:cNvPr id="32" name="Text 30"/>
          <p:cNvSpPr/>
          <p:nvPr/>
        </p:nvSpPr>
        <p:spPr>
          <a:xfrm>
            <a:off x="8914111" y="6294736"/>
            <a:ext cx="457200" cy="387350"/>
          </a:xfrm>
          <a:prstGeom prst="rect">
            <a:avLst/>
          </a:prstGeom>
          <a:noFill/>
          <a:ln/>
        </p:spPr>
        <p:txBody>
          <a:bodyPr wrap="square" lIns="25400" tIns="25400" rIns="25400" bIns="25400" rtlCol="0" anchor="t">
            <a:normAutofit/>
          </a:bodyPr>
          <a:lstStyle/>
          <a:p>
            <a:pPr marL="0" indent="0" algn="l">
              <a:buNone/>
            </a:pPr>
            <a:r>
              <a:rPr lang="en-US" sz="2100" dirty="0">
                <a:solidFill>
                  <a:srgbClr val="9A4A38"/>
                </a:solidFill>
                <a:latin typeface="Courier New" pitchFamily="34" charset="0"/>
                <a:ea typeface="Courier New" pitchFamily="34" charset="-122"/>
                <a:cs typeface="Courier New" pitchFamily="34" charset="-120"/>
              </a:rPr>
              <a:t>3</a:t>
            </a:r>
            <a:endParaRPr lang="en-US" sz="2100" dirty="0"/>
          </a:p>
        </p:txBody>
      </p:sp>
      <p:sp>
        <p:nvSpPr>
          <p:cNvPr id="33" name="Text 31"/>
          <p:cNvSpPr/>
          <p:nvPr/>
        </p:nvSpPr>
        <p:spPr>
          <a:xfrm>
            <a:off x="9466561" y="6077248"/>
            <a:ext cx="3058885" cy="438150"/>
          </a:xfrm>
          <a:prstGeom prst="rect">
            <a:avLst/>
          </a:prstGeom>
          <a:noFill/>
          <a:ln/>
        </p:spPr>
        <p:txBody>
          <a:bodyPr wrap="square" lIns="25400" tIns="25400" rIns="25400" bIns="25400" rtlCol="0" anchor="t">
            <a:normAutofit/>
          </a:bodyPr>
          <a:lstStyle/>
          <a:p>
            <a:pPr marL="0" indent="0" algn="l">
              <a:buNone/>
            </a:pPr>
            <a:r>
              <a:rPr lang="en-US" sz="2175" b="1" dirty="0">
                <a:solidFill>
                  <a:srgbClr val="9A4A38"/>
                </a:solidFill>
                <a:latin typeface="Arial" pitchFamily="34" charset="0"/>
                <a:ea typeface="Arial" pitchFamily="34" charset="-122"/>
                <a:cs typeface="Arial" pitchFamily="34" charset="-120"/>
              </a:rPr>
              <a:t>懸念・複占化</a:t>
            </a:r>
            <a:endParaRPr lang="en-US" sz="2175" dirty="0"/>
          </a:p>
        </p:txBody>
      </p:sp>
      <p:sp>
        <p:nvSpPr>
          <p:cNvPr id="34" name="Text 32"/>
          <p:cNvSpPr/>
          <p:nvPr/>
        </p:nvSpPr>
        <p:spPr>
          <a:xfrm>
            <a:off x="9466561" y="6505873"/>
            <a:ext cx="3058885" cy="393700"/>
          </a:xfrm>
          <a:prstGeom prst="rect">
            <a:avLst/>
          </a:prstGeom>
          <a:noFill/>
          <a:ln/>
        </p:spPr>
        <p:txBody>
          <a:bodyPr wrap="square" lIns="25400" tIns="25400" rIns="25400" bIns="25400" rtlCol="0" anchor="t">
            <a:normAutofit/>
          </a:bodyPr>
          <a:lstStyle/>
          <a:p>
            <a:pPr marL="0" indent="0" algn="l">
              <a:buNone/>
            </a:pPr>
            <a:r>
              <a:rPr lang="en-US" sz="1950" dirty="0">
                <a:solidFill>
                  <a:srgbClr val="7A4438"/>
                </a:solidFill>
                <a:latin typeface="Arial" pitchFamily="34" charset="0"/>
                <a:ea typeface="Arial" pitchFamily="34" charset="-122"/>
                <a:cs typeface="Arial" pitchFamily="34" charset="-120"/>
              </a:rPr>
              <a:t>重複あり ＋ 他の競争者 </a:t>
            </a:r>
            <a:r>
              <a:rPr lang="en-US" sz="1950" b="1" dirty="0">
                <a:solidFill>
                  <a:srgbClr val="7A4438"/>
                </a:solidFill>
                <a:latin typeface="Arial" pitchFamily="34" charset="0"/>
                <a:ea typeface="Arial" pitchFamily="34" charset="-122"/>
                <a:cs typeface="Arial" pitchFamily="34" charset="-120"/>
              </a:rPr>
              <a:t>1</a:t>
            </a:r>
            <a:endParaRPr lang="en-US" sz="1950" dirty="0"/>
          </a:p>
        </p:txBody>
      </p:sp>
      <p:sp>
        <p:nvSpPr>
          <p:cNvPr id="35" name="Shape 33"/>
          <p:cNvSpPr/>
          <p:nvPr/>
        </p:nvSpPr>
        <p:spPr>
          <a:xfrm>
            <a:off x="8628361" y="7153573"/>
            <a:ext cx="8630940" cy="1127125"/>
          </a:xfrm>
          <a:prstGeom prst="roundRect">
            <a:avLst>
              <a:gd name="adj" fmla="val 5070"/>
            </a:avLst>
          </a:prstGeom>
          <a:solidFill>
            <a:srgbClr val="9A4A38"/>
          </a:solidFill>
          <a:ln/>
        </p:spPr>
      </p:sp>
      <p:sp>
        <p:nvSpPr>
          <p:cNvPr id="36" name="Text 34"/>
          <p:cNvSpPr/>
          <p:nvPr/>
        </p:nvSpPr>
        <p:spPr>
          <a:xfrm>
            <a:off x="8856961" y="7542511"/>
            <a:ext cx="457200" cy="387350"/>
          </a:xfrm>
          <a:prstGeom prst="rect">
            <a:avLst/>
          </a:prstGeom>
          <a:noFill/>
          <a:ln/>
        </p:spPr>
        <p:txBody>
          <a:bodyPr wrap="square" lIns="25400" tIns="25400" rIns="25400" bIns="25400" rtlCol="0" anchor="t">
            <a:normAutofit/>
          </a:bodyPr>
          <a:lstStyle/>
          <a:p>
            <a:pPr marL="0" indent="0" algn="l">
              <a:buNone/>
            </a:pPr>
            <a:r>
              <a:rPr lang="en-US" sz="2100" dirty="0">
                <a:solidFill>
                  <a:srgbClr val="E9C7BD"/>
                </a:solidFill>
                <a:latin typeface="Courier New" pitchFamily="34" charset="0"/>
                <a:ea typeface="Courier New" pitchFamily="34" charset="-122"/>
                <a:cs typeface="Courier New" pitchFamily="34" charset="-120"/>
              </a:rPr>
              <a:t>4</a:t>
            </a:r>
            <a:endParaRPr lang="en-US" sz="2100" dirty="0"/>
          </a:p>
        </p:txBody>
      </p:sp>
      <p:sp>
        <p:nvSpPr>
          <p:cNvPr id="37" name="Text 35"/>
          <p:cNvSpPr/>
          <p:nvPr/>
        </p:nvSpPr>
        <p:spPr>
          <a:xfrm>
            <a:off x="9409411" y="7325023"/>
            <a:ext cx="3058885" cy="438150"/>
          </a:xfrm>
          <a:prstGeom prst="rect">
            <a:avLst/>
          </a:prstGeom>
          <a:noFill/>
          <a:ln/>
        </p:spPr>
        <p:txBody>
          <a:bodyPr wrap="square" lIns="25400" tIns="25400" rIns="25400" bIns="25400" rtlCol="0" anchor="t">
            <a:normAutofit/>
          </a:bodyPr>
          <a:lstStyle/>
          <a:p>
            <a:pPr marL="0" indent="0" algn="l">
              <a:buNone/>
            </a:pPr>
            <a:r>
              <a:rPr lang="en-US" sz="2175" b="1" dirty="0">
                <a:solidFill>
                  <a:srgbClr val="FFFFFF"/>
                </a:solidFill>
                <a:latin typeface="Arial" pitchFamily="34" charset="0"/>
                <a:ea typeface="Arial" pitchFamily="34" charset="-122"/>
                <a:cs typeface="Arial" pitchFamily="34" charset="-120"/>
              </a:rPr>
              <a:t>懸念・独占化</a:t>
            </a:r>
            <a:endParaRPr lang="en-US" sz="2175" dirty="0"/>
          </a:p>
        </p:txBody>
      </p:sp>
      <p:sp>
        <p:nvSpPr>
          <p:cNvPr id="38" name="Text 36"/>
          <p:cNvSpPr/>
          <p:nvPr/>
        </p:nvSpPr>
        <p:spPr>
          <a:xfrm>
            <a:off x="9409411" y="7753648"/>
            <a:ext cx="3058885" cy="393700"/>
          </a:xfrm>
          <a:prstGeom prst="rect">
            <a:avLst/>
          </a:prstGeom>
          <a:noFill/>
          <a:ln/>
        </p:spPr>
        <p:txBody>
          <a:bodyPr wrap="square" lIns="25400" tIns="25400" rIns="25400" bIns="25400" rtlCol="0" anchor="t">
            <a:normAutofit/>
          </a:bodyPr>
          <a:lstStyle/>
          <a:p>
            <a:pPr marL="0" indent="0" algn="l">
              <a:buNone/>
            </a:pPr>
            <a:r>
              <a:rPr lang="en-US" sz="1950" dirty="0">
                <a:solidFill>
                  <a:srgbClr val="EAD2CA"/>
                </a:solidFill>
                <a:latin typeface="Arial" pitchFamily="34" charset="0"/>
                <a:ea typeface="Arial" pitchFamily="34" charset="-122"/>
                <a:cs typeface="Arial" pitchFamily="34" charset="-120"/>
              </a:rPr>
              <a:t>重複あり ＋ 他の競争者 </a:t>
            </a:r>
            <a:r>
              <a:rPr lang="en-US" sz="1950" b="1" dirty="0">
                <a:solidFill>
                  <a:srgbClr val="EAD2CA"/>
                </a:solidFill>
                <a:latin typeface="Arial" pitchFamily="34" charset="0"/>
                <a:ea typeface="Arial" pitchFamily="34" charset="-122"/>
                <a:cs typeface="Arial" pitchFamily="34" charset="-120"/>
              </a:rPr>
              <a:t>0</a:t>
            </a:r>
            <a:endParaRPr lang="en-US" sz="1950" dirty="0"/>
          </a:p>
        </p:txBody>
      </p:sp>
      <p:sp>
        <p:nvSpPr>
          <p:cNvPr id="39" name="Shape 37"/>
          <p:cNvSpPr/>
          <p:nvPr/>
        </p:nvSpPr>
        <p:spPr>
          <a:xfrm>
            <a:off x="1028700" y="9296400"/>
            <a:ext cx="16230600" cy="9525"/>
          </a:xfrm>
          <a:prstGeom prst="rect">
            <a:avLst/>
          </a:prstGeom>
          <a:solidFill>
            <a:srgbClr val="E4E0D7"/>
          </a:solidFill>
          <a:ln/>
        </p:spPr>
      </p:sp>
      <p:sp>
        <p:nvSpPr>
          <p:cNvPr id="40" name="Text 38"/>
          <p:cNvSpPr/>
          <p:nvPr/>
        </p:nvSpPr>
        <p:spPr>
          <a:xfrm>
            <a:off x="1028700" y="9455150"/>
            <a:ext cx="6976378" cy="393700"/>
          </a:xfrm>
          <a:prstGeom prst="rect">
            <a:avLst/>
          </a:prstGeom>
          <a:noFill/>
          <a:ln/>
        </p:spPr>
        <p:txBody>
          <a:bodyPr wrap="square" lIns="25400" tIns="25400" rIns="25400" bIns="25400" rtlCol="0" anchor="t">
            <a:normAutofit/>
          </a:bodyPr>
          <a:lstStyle/>
          <a:p>
            <a:pPr marL="0" indent="0" algn="l">
              <a:buNone/>
            </a:pPr>
            <a:r>
              <a:rPr lang="en-US" sz="1950" dirty="0">
                <a:solidFill>
                  <a:srgbClr val="97928A"/>
                </a:solidFill>
                <a:latin typeface="Arial" pitchFamily="34" charset="0"/>
                <a:ea typeface="Arial" pitchFamily="34" charset="-122"/>
                <a:cs typeface="Arial" pitchFamily="34" charset="-120"/>
              </a:rPr>
              <a:t>永田 稔人 ｜ 中里ゼミ（経済法） ｜ 2026年6月30日</a:t>
            </a:r>
            <a:endParaRPr lang="en-US" sz="1950" dirty="0"/>
          </a:p>
        </p:txBody>
      </p:sp>
      <p:sp>
        <p:nvSpPr>
          <p:cNvPr id="41" name="Text 39"/>
          <p:cNvSpPr/>
          <p:nvPr/>
        </p:nvSpPr>
        <p:spPr>
          <a:xfrm>
            <a:off x="16115109" y="9471025"/>
            <a:ext cx="1220391" cy="361950"/>
          </a:xfrm>
          <a:prstGeom prst="rect">
            <a:avLst/>
          </a:prstGeom>
          <a:noFill/>
          <a:ln/>
        </p:spPr>
        <p:txBody>
          <a:bodyPr wrap="square" lIns="25400" tIns="25400" rIns="25400" bIns="25400" rtlCol="0" anchor="t">
            <a:normAutofit/>
          </a:bodyPr>
          <a:lstStyle/>
          <a:p>
            <a:pPr marL="0" indent="0" algn="l">
              <a:buNone/>
            </a:pPr>
            <a:r>
              <a:rPr lang="en-US" sz="1950" kern="0" spc="117" dirty="0">
                <a:solidFill>
                  <a:srgbClr val="97928A"/>
                </a:solidFill>
                <a:latin typeface="Courier New" pitchFamily="34" charset="0"/>
                <a:ea typeface="Courier New" pitchFamily="34" charset="-122"/>
                <a:cs typeface="Courier New" pitchFamily="34" charset="-120"/>
              </a:rPr>
              <a:t>11 / 27</a:t>
            </a:r>
            <a:endParaRPr lang="en-US" sz="1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6F2"/>
        </a:solidFill>
        <a:effectLst/>
      </p:bgPr>
    </p:bg>
    <p:spTree>
      <p:nvGrpSpPr>
        <p:cNvPr id="1" name=""/>
        <p:cNvGrpSpPr/>
        <p:nvPr/>
      </p:nvGrpSpPr>
      <p:grpSpPr>
        <a:xfrm>
          <a:off x="0" y="0"/>
          <a:ext cx="0" cy="0"/>
          <a:chOff x="0" y="0"/>
          <a:chExt cx="0" cy="0"/>
        </a:xfrm>
      </p:grpSpPr>
      <p:sp>
        <p:nvSpPr>
          <p:cNvPr id="2" name="Shape 0"/>
          <p:cNvSpPr/>
          <p:nvPr/>
        </p:nvSpPr>
        <p:spPr>
          <a:xfrm>
            <a:off x="1028700" y="833438"/>
            <a:ext cx="304800" cy="28575"/>
          </a:xfrm>
          <a:prstGeom prst="rect">
            <a:avLst/>
          </a:prstGeom>
          <a:solidFill>
            <a:srgbClr val="9A4A38"/>
          </a:solidFill>
          <a:ln/>
        </p:spPr>
      </p:sp>
      <p:sp>
        <p:nvSpPr>
          <p:cNvPr id="3" name="Text 1"/>
          <p:cNvSpPr/>
          <p:nvPr/>
        </p:nvSpPr>
        <p:spPr>
          <a:xfrm>
            <a:off x="1466850" y="660400"/>
            <a:ext cx="4546144" cy="412750"/>
          </a:xfrm>
          <a:prstGeom prst="rect">
            <a:avLst/>
          </a:prstGeom>
          <a:noFill/>
          <a:ln/>
        </p:spPr>
        <p:txBody>
          <a:bodyPr wrap="square" lIns="25400" tIns="25400" rIns="25400" bIns="25400" rtlCol="0" anchor="t">
            <a:normAutofit/>
          </a:bodyPr>
          <a:lstStyle/>
          <a:p>
            <a:pPr marL="0" indent="0" algn="l">
              <a:buNone/>
            </a:pPr>
            <a:r>
              <a:rPr lang="en-US" sz="2025" kern="0" spc="203" dirty="0">
                <a:solidFill>
                  <a:srgbClr val="5A6470"/>
                </a:solidFill>
                <a:latin typeface="Arial" pitchFamily="34" charset="0"/>
                <a:ea typeface="Arial" pitchFamily="34" charset="-122"/>
                <a:cs typeface="Arial" pitchFamily="34" charset="-120"/>
              </a:rPr>
              <a:t>第2部 再現① 地理的市場画定</a:t>
            </a:r>
            <a:endParaRPr lang="en-US" sz="2025" dirty="0"/>
          </a:p>
        </p:txBody>
      </p:sp>
      <p:sp>
        <p:nvSpPr>
          <p:cNvPr id="4" name="Shape 2"/>
          <p:cNvSpPr/>
          <p:nvPr/>
        </p:nvSpPr>
        <p:spPr>
          <a:xfrm>
            <a:off x="14687550" y="628650"/>
            <a:ext cx="2571750" cy="438150"/>
          </a:xfrm>
          <a:prstGeom prst="roundRect">
            <a:avLst>
              <a:gd name="adj" fmla="val 39130"/>
            </a:avLst>
          </a:prstGeom>
          <a:solidFill>
            <a:srgbClr val="EDEAE2"/>
          </a:solidFill>
          <a:ln/>
        </p:spPr>
      </p:sp>
      <p:sp>
        <p:nvSpPr>
          <p:cNvPr id="5" name="Text 3"/>
          <p:cNvSpPr/>
          <p:nvPr/>
        </p:nvSpPr>
        <p:spPr>
          <a:xfrm>
            <a:off x="14859000" y="685800"/>
            <a:ext cx="2306003" cy="361950"/>
          </a:xfrm>
          <a:prstGeom prst="rect">
            <a:avLst/>
          </a:prstGeom>
          <a:noFill/>
          <a:ln/>
        </p:spPr>
        <p:txBody>
          <a:bodyPr wrap="square" lIns="25400" tIns="25400" rIns="25400" bIns="25400" rtlCol="0" anchor="t">
            <a:normAutofit/>
          </a:bodyPr>
          <a:lstStyle/>
          <a:p>
            <a:pPr marL="0" indent="0" algn="l">
              <a:buNone/>
            </a:pPr>
            <a:r>
              <a:rPr lang="en-US" sz="1950" dirty="0">
                <a:solidFill>
                  <a:srgbClr val="97928A"/>
                </a:solidFill>
                <a:latin typeface="Courier New" pitchFamily="34" charset="0"/>
                <a:ea typeface="Courier New" pitchFamily="34" charset="-122"/>
                <a:cs typeface="Courier New" pitchFamily="34" charset="-120"/>
              </a:rPr>
              <a:t>前半 01–05 / 10</a:t>
            </a:r>
            <a:endParaRPr lang="en-US" sz="1950" dirty="0"/>
          </a:p>
        </p:txBody>
      </p:sp>
      <p:sp>
        <p:nvSpPr>
          <p:cNvPr id="6" name="Text 4"/>
          <p:cNvSpPr/>
          <p:nvPr/>
        </p:nvSpPr>
        <p:spPr>
          <a:xfrm>
            <a:off x="1028700" y="1200150"/>
            <a:ext cx="17853660" cy="624384"/>
          </a:xfrm>
          <a:prstGeom prst="rect">
            <a:avLst/>
          </a:prstGeom>
          <a:noFill/>
          <a:ln/>
        </p:spPr>
        <p:txBody>
          <a:bodyPr wrap="square" lIns="25400" tIns="25400" rIns="25400" bIns="25400" rtlCol="0" anchor="t">
            <a:normAutofit/>
          </a:bodyPr>
          <a:lstStyle/>
          <a:p>
            <a:pPr marL="0" indent="0" algn="l">
              <a:lnSpc>
                <a:spcPct val="114000"/>
              </a:lnSpc>
              <a:buNone/>
            </a:pPr>
            <a:r>
              <a:rPr lang="en-US" sz="4050" b="1" dirty="0">
                <a:solidFill>
                  <a:srgbClr val="1F2730"/>
                </a:solidFill>
                <a:latin typeface="Arial" pitchFamily="34" charset="0"/>
                <a:ea typeface="Arial" pitchFamily="34" charset="-122"/>
                <a:cs typeface="Arial" pitchFamily="34" charset="-120"/>
              </a:rPr>
              <a:t>結果：公取委10商圏との対照（前半）</a:t>
            </a:r>
            <a:endParaRPr lang="en-US" sz="4050" dirty="0"/>
          </a:p>
        </p:txBody>
      </p:sp>
      <p:sp>
        <p:nvSpPr>
          <p:cNvPr id="7" name="Text 5"/>
          <p:cNvSpPr/>
          <p:nvPr/>
        </p:nvSpPr>
        <p:spPr>
          <a:xfrm>
            <a:off x="1028700" y="1900734"/>
            <a:ext cx="16344900" cy="483195"/>
          </a:xfrm>
          <a:prstGeom prst="rect">
            <a:avLst/>
          </a:prstGeom>
          <a:noFill/>
          <a:ln/>
        </p:spPr>
        <p:txBody>
          <a:bodyPr wrap="square" lIns="25400" tIns="25400" rIns="25400" bIns="25400" rtlCol="0" anchor="t">
            <a:normAutofit/>
          </a:bodyPr>
          <a:lstStyle/>
          <a:p>
            <a:pPr marL="0" indent="0" algn="l">
              <a:lnSpc>
                <a:spcPct val="140000"/>
              </a:lnSpc>
              <a:buNone/>
            </a:pPr>
            <a:r>
              <a:rPr lang="en-US" sz="2325" dirty="0">
                <a:solidFill>
                  <a:srgbClr val="4A5560"/>
                </a:solidFill>
                <a:latin typeface="Arial" pitchFamily="34" charset="0"/>
                <a:ea typeface="Arial" pitchFamily="34" charset="-122"/>
                <a:cs typeface="Arial" pitchFamily="34" charset="-120"/>
              </a:rPr>
              <a:t>前半5商圏はいずれも</a:t>
            </a:r>
            <a:r>
              <a:rPr lang="en-US" sz="2325" b="1" dirty="0">
                <a:solidFill>
                  <a:srgbClr val="97928A"/>
                </a:solidFill>
                <a:latin typeface="Arial" pitchFamily="34" charset="0"/>
                <a:ea typeface="Arial" pitchFamily="34" charset="-122"/>
                <a:cs typeface="Arial" pitchFamily="34" charset="-120"/>
              </a:rPr>
              <a:t>取りこぼし</a:t>
            </a:r>
            <a:r>
              <a:rPr lang="en-US" sz="2325" dirty="0">
                <a:solidFill>
                  <a:srgbClr val="4A5560"/>
                </a:solidFill>
                <a:latin typeface="Arial" pitchFamily="34" charset="0"/>
                <a:ea typeface="Arial" pitchFamily="34" charset="-122"/>
                <a:cs typeface="Arial" pitchFamily="34" charset="-120"/>
              </a:rPr>
              <a:t>。要因は措置後・データ漏れ・過大計上。</a:t>
            </a:r>
            <a:endParaRPr lang="en-US" sz="2325" dirty="0"/>
          </a:p>
        </p:txBody>
      </p:sp>
      <p:sp>
        <p:nvSpPr>
          <p:cNvPr id="8" name="Shape 6"/>
          <p:cNvSpPr/>
          <p:nvPr/>
        </p:nvSpPr>
        <p:spPr>
          <a:xfrm>
            <a:off x="1028700" y="3604915"/>
            <a:ext cx="16230600" cy="742950"/>
          </a:xfrm>
          <a:prstGeom prst="rect">
            <a:avLst/>
          </a:prstGeom>
          <a:solidFill>
            <a:srgbClr val="2E3B45"/>
          </a:solidFill>
          <a:ln/>
        </p:spPr>
      </p:sp>
      <p:sp>
        <p:nvSpPr>
          <p:cNvPr id="9" name="Text 7"/>
          <p:cNvSpPr/>
          <p:nvPr/>
        </p:nvSpPr>
        <p:spPr>
          <a:xfrm>
            <a:off x="1066800" y="3776365"/>
            <a:ext cx="495300" cy="438150"/>
          </a:xfrm>
          <a:prstGeom prst="rect">
            <a:avLst/>
          </a:prstGeom>
          <a:noFill/>
          <a:ln/>
        </p:spPr>
        <p:txBody>
          <a:bodyPr wrap="square" lIns="25400" tIns="25400" rIns="25400" bIns="25400" rtlCol="0" anchor="ctr">
            <a:normAutofit/>
          </a:bodyPr>
          <a:lstStyle/>
          <a:p>
            <a:pPr marL="0" indent="0" algn="ctr">
              <a:buNone/>
            </a:pPr>
            <a:r>
              <a:rPr lang="en-US" sz="2175" dirty="0">
                <a:solidFill>
                  <a:srgbClr val="EDEAE2"/>
                </a:solidFill>
                <a:latin typeface="Arial" pitchFamily="34" charset="0"/>
                <a:ea typeface="Arial" pitchFamily="34" charset="-122"/>
                <a:cs typeface="Arial" pitchFamily="34" charset="-120"/>
              </a:rPr>
              <a:t>#</a:t>
            </a:r>
            <a:endParaRPr lang="en-US" sz="2175" dirty="0"/>
          </a:p>
        </p:txBody>
      </p:sp>
      <p:sp>
        <p:nvSpPr>
          <p:cNvPr id="10" name="Text 8"/>
          <p:cNvSpPr/>
          <p:nvPr/>
        </p:nvSpPr>
        <p:spPr>
          <a:xfrm>
            <a:off x="1771650" y="3776365"/>
            <a:ext cx="2809621" cy="438150"/>
          </a:xfrm>
          <a:prstGeom prst="rect">
            <a:avLst/>
          </a:prstGeom>
          <a:noFill/>
          <a:ln/>
        </p:spPr>
        <p:txBody>
          <a:bodyPr wrap="square" lIns="25400" tIns="25400" rIns="25400" bIns="25400" rtlCol="0" anchor="ctr">
            <a:normAutofit/>
          </a:bodyPr>
          <a:lstStyle/>
          <a:p>
            <a:pPr marL="0" indent="0" algn="l">
              <a:buNone/>
            </a:pPr>
            <a:r>
              <a:rPr lang="en-US" sz="2175" dirty="0">
                <a:solidFill>
                  <a:srgbClr val="EDEAE2"/>
                </a:solidFill>
                <a:latin typeface="Arial" pitchFamily="34" charset="0"/>
                <a:ea typeface="Arial" pitchFamily="34" charset="-122"/>
                <a:cs typeface="Arial" pitchFamily="34" charset="-120"/>
              </a:rPr>
              <a:t>商圏（県・市）</a:t>
            </a:r>
            <a:endParaRPr lang="en-US" sz="2175" dirty="0"/>
          </a:p>
        </p:txBody>
      </p:sp>
      <p:sp>
        <p:nvSpPr>
          <p:cNvPr id="11" name="Text 9"/>
          <p:cNvSpPr/>
          <p:nvPr/>
        </p:nvSpPr>
        <p:spPr>
          <a:xfrm>
            <a:off x="4832350" y="3776365"/>
            <a:ext cx="4722309" cy="438150"/>
          </a:xfrm>
          <a:prstGeom prst="rect">
            <a:avLst/>
          </a:prstGeom>
          <a:noFill/>
          <a:ln/>
        </p:spPr>
        <p:txBody>
          <a:bodyPr wrap="square" lIns="25400" tIns="25400" rIns="25400" bIns="25400" rtlCol="0" anchor="ctr">
            <a:normAutofit/>
          </a:bodyPr>
          <a:lstStyle/>
          <a:p>
            <a:pPr marL="0" indent="0" algn="l">
              <a:buNone/>
            </a:pPr>
            <a:r>
              <a:rPr lang="en-US" sz="2175" dirty="0">
                <a:solidFill>
                  <a:srgbClr val="EDEAE2"/>
                </a:solidFill>
                <a:latin typeface="Arial" pitchFamily="34" charset="0"/>
                <a:ea typeface="Arial" pitchFamily="34" charset="-122"/>
                <a:cs typeface="Arial" pitchFamily="34" charset="-120"/>
              </a:rPr>
              <a:t>ツルハ系店舗</a:t>
            </a:r>
            <a:endParaRPr lang="en-US" sz="2175" dirty="0"/>
          </a:p>
        </p:txBody>
      </p:sp>
      <p:sp>
        <p:nvSpPr>
          <p:cNvPr id="12" name="Text 10"/>
          <p:cNvSpPr/>
          <p:nvPr/>
        </p:nvSpPr>
        <p:spPr>
          <a:xfrm>
            <a:off x="9673828" y="3776365"/>
            <a:ext cx="1047750" cy="438150"/>
          </a:xfrm>
          <a:prstGeom prst="rect">
            <a:avLst/>
          </a:prstGeom>
          <a:noFill/>
          <a:ln/>
        </p:spPr>
        <p:txBody>
          <a:bodyPr wrap="square" lIns="25400" tIns="25400" rIns="25400" bIns="25400" rtlCol="0" anchor="ctr">
            <a:normAutofit/>
          </a:bodyPr>
          <a:lstStyle/>
          <a:p>
            <a:pPr marL="0" indent="0" algn="ctr">
              <a:buNone/>
            </a:pPr>
            <a:r>
              <a:rPr lang="en-US" sz="2175" dirty="0">
                <a:solidFill>
                  <a:srgbClr val="EDEAE2"/>
                </a:solidFill>
                <a:latin typeface="Arial" pitchFamily="34" charset="0"/>
                <a:ea typeface="Arial" pitchFamily="34" charset="-122"/>
                <a:cs typeface="Arial" pitchFamily="34" charset="-120"/>
              </a:rPr>
              <a:t>判定</a:t>
            </a:r>
            <a:endParaRPr lang="en-US" sz="2175" dirty="0"/>
          </a:p>
        </p:txBody>
      </p:sp>
      <p:sp>
        <p:nvSpPr>
          <p:cNvPr id="13" name="Text 11"/>
          <p:cNvSpPr/>
          <p:nvPr/>
        </p:nvSpPr>
        <p:spPr>
          <a:xfrm>
            <a:off x="10988278" y="3776365"/>
            <a:ext cx="6292846" cy="438150"/>
          </a:xfrm>
          <a:prstGeom prst="rect">
            <a:avLst/>
          </a:prstGeom>
          <a:noFill/>
          <a:ln/>
        </p:spPr>
        <p:txBody>
          <a:bodyPr wrap="square" lIns="25400" tIns="25400" rIns="25400" bIns="25400" rtlCol="0" anchor="ctr">
            <a:normAutofit/>
          </a:bodyPr>
          <a:lstStyle/>
          <a:p>
            <a:pPr marL="0" indent="0" algn="l">
              <a:buNone/>
            </a:pPr>
            <a:r>
              <a:rPr lang="en-US" sz="2175" dirty="0">
                <a:solidFill>
                  <a:srgbClr val="EDEAE2"/>
                </a:solidFill>
                <a:latin typeface="Arial" pitchFamily="34" charset="0"/>
                <a:ea typeface="Arial" pitchFamily="34" charset="-122"/>
                <a:cs typeface="Arial" pitchFamily="34" charset="-120"/>
              </a:rPr>
              <a:t>取りこぼし要因</a:t>
            </a:r>
            <a:endParaRPr lang="en-US" sz="2175" dirty="0"/>
          </a:p>
        </p:txBody>
      </p:sp>
      <p:sp>
        <p:nvSpPr>
          <p:cNvPr id="14" name="Shape 12"/>
          <p:cNvSpPr/>
          <p:nvPr/>
        </p:nvSpPr>
        <p:spPr>
          <a:xfrm>
            <a:off x="1028700" y="5087640"/>
            <a:ext cx="16230600" cy="9525"/>
          </a:xfrm>
          <a:prstGeom prst="rect">
            <a:avLst/>
          </a:prstGeom>
          <a:solidFill>
            <a:srgbClr val="E4E0D7"/>
          </a:solidFill>
          <a:ln/>
        </p:spPr>
      </p:sp>
      <p:sp>
        <p:nvSpPr>
          <p:cNvPr id="15" name="Text 13"/>
          <p:cNvSpPr/>
          <p:nvPr/>
        </p:nvSpPr>
        <p:spPr>
          <a:xfrm>
            <a:off x="1066800" y="4519315"/>
            <a:ext cx="495300" cy="441325"/>
          </a:xfrm>
          <a:prstGeom prst="rect">
            <a:avLst/>
          </a:prstGeom>
          <a:noFill/>
          <a:ln/>
        </p:spPr>
        <p:txBody>
          <a:bodyPr wrap="square" lIns="25400" tIns="25400" rIns="25400" bIns="25400" rtlCol="0" anchor="ctr">
            <a:normAutofit/>
          </a:bodyPr>
          <a:lstStyle/>
          <a:p>
            <a:pPr marL="0" indent="0" algn="ctr">
              <a:buNone/>
            </a:pPr>
            <a:r>
              <a:rPr lang="en-US" sz="2175" dirty="0">
                <a:solidFill>
                  <a:srgbClr val="97928A"/>
                </a:solidFill>
                <a:latin typeface="Courier New" pitchFamily="34" charset="0"/>
                <a:ea typeface="Courier New" pitchFamily="34" charset="-122"/>
                <a:cs typeface="Courier New" pitchFamily="34" charset="-120"/>
              </a:rPr>
              <a:t>01</a:t>
            </a:r>
            <a:endParaRPr lang="en-US" sz="2175" dirty="0"/>
          </a:p>
        </p:txBody>
      </p:sp>
      <p:sp>
        <p:nvSpPr>
          <p:cNvPr id="16" name="Text 14"/>
          <p:cNvSpPr/>
          <p:nvPr/>
        </p:nvSpPr>
        <p:spPr>
          <a:xfrm>
            <a:off x="1771650" y="4519315"/>
            <a:ext cx="2809621" cy="441325"/>
          </a:xfrm>
          <a:prstGeom prst="rect">
            <a:avLst/>
          </a:prstGeom>
          <a:noFill/>
          <a:ln/>
        </p:spPr>
        <p:txBody>
          <a:bodyPr wrap="square" lIns="25400" tIns="25400" rIns="25400" bIns="25400" rtlCol="0" anchor="ctr">
            <a:normAutofit/>
          </a:bodyPr>
          <a:lstStyle/>
          <a:p>
            <a:pPr marL="0" indent="0" algn="l">
              <a:buNone/>
            </a:pPr>
            <a:r>
              <a:rPr lang="en-US" sz="2175" dirty="0">
                <a:solidFill>
                  <a:srgbClr val="2C333C"/>
                </a:solidFill>
                <a:latin typeface="Arial" pitchFamily="34" charset="0"/>
                <a:ea typeface="Arial" pitchFamily="34" charset="-122"/>
                <a:cs typeface="Arial" pitchFamily="34" charset="-120"/>
              </a:rPr>
              <a:t>青森・大間</a:t>
            </a:r>
            <a:endParaRPr lang="en-US" sz="2175" dirty="0"/>
          </a:p>
        </p:txBody>
      </p:sp>
      <p:sp>
        <p:nvSpPr>
          <p:cNvPr id="17" name="Text 15"/>
          <p:cNvSpPr/>
          <p:nvPr/>
        </p:nvSpPr>
        <p:spPr>
          <a:xfrm>
            <a:off x="4832350" y="4519315"/>
            <a:ext cx="4722309" cy="441325"/>
          </a:xfrm>
          <a:prstGeom prst="rect">
            <a:avLst/>
          </a:prstGeom>
          <a:noFill/>
          <a:ln/>
        </p:spPr>
        <p:txBody>
          <a:bodyPr wrap="square" lIns="25400" tIns="25400" rIns="25400" bIns="25400" rtlCol="0" anchor="ctr">
            <a:normAutofit/>
          </a:bodyPr>
          <a:lstStyle/>
          <a:p>
            <a:pPr marL="0" indent="0" algn="l">
              <a:buNone/>
            </a:pPr>
            <a:r>
              <a:rPr lang="en-US" sz="2175" dirty="0">
                <a:solidFill>
                  <a:srgbClr val="5A6470"/>
                </a:solidFill>
                <a:latin typeface="Arial" pitchFamily="34" charset="0"/>
                <a:ea typeface="Arial" pitchFamily="34" charset="-122"/>
                <a:cs typeface="Arial" pitchFamily="34" charset="-120"/>
              </a:rPr>
              <a:t>ツルハドラッグ大間店</a:t>
            </a:r>
            <a:endParaRPr lang="en-US" sz="2175" dirty="0"/>
          </a:p>
        </p:txBody>
      </p:sp>
      <p:sp>
        <p:nvSpPr>
          <p:cNvPr id="18" name="Text 16"/>
          <p:cNvSpPr/>
          <p:nvPr/>
        </p:nvSpPr>
        <p:spPr>
          <a:xfrm>
            <a:off x="9673828" y="4519315"/>
            <a:ext cx="1047750" cy="441325"/>
          </a:xfrm>
          <a:prstGeom prst="rect">
            <a:avLst/>
          </a:prstGeom>
          <a:noFill/>
          <a:ln/>
        </p:spPr>
        <p:txBody>
          <a:bodyPr wrap="square" lIns="25400" tIns="25400" rIns="25400" bIns="25400" rtlCol="0" anchor="ctr">
            <a:normAutofit/>
          </a:bodyPr>
          <a:lstStyle/>
          <a:p>
            <a:pPr marL="0" indent="0" algn="ctr">
              <a:buNone/>
            </a:pPr>
            <a:r>
              <a:rPr lang="en-US" sz="2175" dirty="0">
                <a:solidFill>
                  <a:srgbClr val="97928A"/>
                </a:solidFill>
                <a:latin typeface="Arial" pitchFamily="34" charset="0"/>
                <a:ea typeface="Arial" pitchFamily="34" charset="-122"/>
                <a:cs typeface="Arial" pitchFamily="34" charset="-120"/>
              </a:rPr>
              <a:t>×</a:t>
            </a:r>
            <a:endParaRPr lang="en-US" sz="2175" dirty="0"/>
          </a:p>
        </p:txBody>
      </p:sp>
      <p:sp>
        <p:nvSpPr>
          <p:cNvPr id="19" name="Text 17"/>
          <p:cNvSpPr/>
          <p:nvPr/>
        </p:nvSpPr>
        <p:spPr>
          <a:xfrm>
            <a:off x="10988278" y="4519315"/>
            <a:ext cx="6292846" cy="441325"/>
          </a:xfrm>
          <a:prstGeom prst="rect">
            <a:avLst/>
          </a:prstGeom>
          <a:noFill/>
          <a:ln/>
        </p:spPr>
        <p:txBody>
          <a:bodyPr wrap="square" lIns="25400" tIns="25400" rIns="25400" bIns="25400" rtlCol="0" anchor="ctr">
            <a:normAutofit/>
          </a:bodyPr>
          <a:lstStyle/>
          <a:p>
            <a:pPr marL="0" indent="0" algn="l">
              <a:buNone/>
            </a:pPr>
            <a:r>
              <a:rPr lang="en-US" sz="2175" dirty="0">
                <a:solidFill>
                  <a:srgbClr val="5A6470"/>
                </a:solidFill>
                <a:latin typeface="Arial" pitchFamily="34" charset="0"/>
                <a:ea typeface="Arial" pitchFamily="34" charset="-122"/>
                <a:cs typeface="Arial" pitchFamily="34" charset="-120"/>
              </a:rPr>
              <a:t>措置後（譲渡店が薬王堂で再開）</a:t>
            </a:r>
            <a:endParaRPr lang="en-US" sz="2175" dirty="0"/>
          </a:p>
        </p:txBody>
      </p:sp>
      <p:sp>
        <p:nvSpPr>
          <p:cNvPr id="20" name="Shape 18"/>
          <p:cNvSpPr/>
          <p:nvPr/>
        </p:nvSpPr>
        <p:spPr>
          <a:xfrm>
            <a:off x="1028700" y="5093990"/>
            <a:ext cx="16230600" cy="749300"/>
          </a:xfrm>
          <a:prstGeom prst="rect">
            <a:avLst/>
          </a:prstGeom>
          <a:solidFill>
            <a:srgbClr val="FBFAF7"/>
          </a:solidFill>
          <a:ln/>
        </p:spPr>
      </p:sp>
      <p:sp>
        <p:nvSpPr>
          <p:cNvPr id="21" name="Shape 19"/>
          <p:cNvSpPr/>
          <p:nvPr/>
        </p:nvSpPr>
        <p:spPr>
          <a:xfrm>
            <a:off x="1028700" y="5836940"/>
            <a:ext cx="16230600" cy="9525"/>
          </a:xfrm>
          <a:prstGeom prst="rect">
            <a:avLst/>
          </a:prstGeom>
          <a:solidFill>
            <a:srgbClr val="E4E0D7"/>
          </a:solidFill>
          <a:ln/>
        </p:spPr>
      </p:sp>
      <p:sp>
        <p:nvSpPr>
          <p:cNvPr id="22" name="Text 20"/>
          <p:cNvSpPr/>
          <p:nvPr/>
        </p:nvSpPr>
        <p:spPr>
          <a:xfrm>
            <a:off x="1066800" y="5265440"/>
            <a:ext cx="495300" cy="444500"/>
          </a:xfrm>
          <a:prstGeom prst="rect">
            <a:avLst/>
          </a:prstGeom>
          <a:noFill/>
          <a:ln/>
        </p:spPr>
        <p:txBody>
          <a:bodyPr wrap="square" lIns="25400" tIns="25400" rIns="25400" bIns="25400" rtlCol="0" anchor="ctr">
            <a:normAutofit/>
          </a:bodyPr>
          <a:lstStyle/>
          <a:p>
            <a:pPr marL="0" indent="0" algn="ctr">
              <a:buNone/>
            </a:pPr>
            <a:r>
              <a:rPr lang="en-US" sz="2175" dirty="0">
                <a:solidFill>
                  <a:srgbClr val="97928A"/>
                </a:solidFill>
                <a:latin typeface="Courier New" pitchFamily="34" charset="0"/>
                <a:ea typeface="Courier New" pitchFamily="34" charset="-122"/>
                <a:cs typeface="Courier New" pitchFamily="34" charset="-120"/>
              </a:rPr>
              <a:t>02</a:t>
            </a:r>
            <a:endParaRPr lang="en-US" sz="2175" dirty="0"/>
          </a:p>
        </p:txBody>
      </p:sp>
      <p:sp>
        <p:nvSpPr>
          <p:cNvPr id="23" name="Text 21"/>
          <p:cNvSpPr/>
          <p:nvPr/>
        </p:nvSpPr>
        <p:spPr>
          <a:xfrm>
            <a:off x="1771650" y="5265440"/>
            <a:ext cx="2809621" cy="444500"/>
          </a:xfrm>
          <a:prstGeom prst="rect">
            <a:avLst/>
          </a:prstGeom>
          <a:noFill/>
          <a:ln/>
        </p:spPr>
        <p:txBody>
          <a:bodyPr wrap="square" lIns="25400" tIns="25400" rIns="25400" bIns="25400" rtlCol="0" anchor="ctr">
            <a:normAutofit/>
          </a:bodyPr>
          <a:lstStyle/>
          <a:p>
            <a:pPr marL="0" indent="0" algn="l">
              <a:buNone/>
            </a:pPr>
            <a:r>
              <a:rPr lang="en-US" sz="2175" dirty="0">
                <a:solidFill>
                  <a:srgbClr val="2C333C"/>
                </a:solidFill>
                <a:latin typeface="Arial" pitchFamily="34" charset="0"/>
                <a:ea typeface="Arial" pitchFamily="34" charset="-122"/>
                <a:cs typeface="Arial" pitchFamily="34" charset="-120"/>
              </a:rPr>
              <a:t>青森・平内</a:t>
            </a:r>
            <a:endParaRPr lang="en-US" sz="2175" dirty="0"/>
          </a:p>
        </p:txBody>
      </p:sp>
      <p:sp>
        <p:nvSpPr>
          <p:cNvPr id="24" name="Text 22"/>
          <p:cNvSpPr/>
          <p:nvPr/>
        </p:nvSpPr>
        <p:spPr>
          <a:xfrm>
            <a:off x="4832350" y="5265440"/>
            <a:ext cx="4722309" cy="444500"/>
          </a:xfrm>
          <a:prstGeom prst="rect">
            <a:avLst/>
          </a:prstGeom>
          <a:noFill/>
          <a:ln/>
        </p:spPr>
        <p:txBody>
          <a:bodyPr wrap="square" lIns="25400" tIns="25400" rIns="25400" bIns="25400" rtlCol="0" anchor="ctr">
            <a:normAutofit/>
          </a:bodyPr>
          <a:lstStyle/>
          <a:p>
            <a:pPr marL="0" indent="0" algn="l">
              <a:buNone/>
            </a:pPr>
            <a:r>
              <a:rPr lang="en-US" sz="2175" dirty="0">
                <a:solidFill>
                  <a:srgbClr val="5A6470"/>
                </a:solidFill>
                <a:latin typeface="Arial" pitchFamily="34" charset="0"/>
                <a:ea typeface="Arial" pitchFamily="34" charset="-122"/>
                <a:cs typeface="Arial" pitchFamily="34" charset="-120"/>
              </a:rPr>
              <a:t>ツルハドラッグ平内店</a:t>
            </a:r>
            <a:endParaRPr lang="en-US" sz="2175" dirty="0"/>
          </a:p>
        </p:txBody>
      </p:sp>
      <p:sp>
        <p:nvSpPr>
          <p:cNvPr id="25" name="Text 23"/>
          <p:cNvSpPr/>
          <p:nvPr/>
        </p:nvSpPr>
        <p:spPr>
          <a:xfrm>
            <a:off x="9673828" y="5265440"/>
            <a:ext cx="1047750" cy="444500"/>
          </a:xfrm>
          <a:prstGeom prst="rect">
            <a:avLst/>
          </a:prstGeom>
          <a:noFill/>
          <a:ln/>
        </p:spPr>
        <p:txBody>
          <a:bodyPr wrap="square" lIns="25400" tIns="25400" rIns="25400" bIns="25400" rtlCol="0" anchor="ctr">
            <a:normAutofit/>
          </a:bodyPr>
          <a:lstStyle/>
          <a:p>
            <a:pPr marL="0" indent="0" algn="ctr">
              <a:buNone/>
            </a:pPr>
            <a:r>
              <a:rPr lang="en-US" sz="2175" dirty="0">
                <a:solidFill>
                  <a:srgbClr val="97928A"/>
                </a:solidFill>
                <a:latin typeface="Arial" pitchFamily="34" charset="0"/>
                <a:ea typeface="Arial" pitchFamily="34" charset="-122"/>
                <a:cs typeface="Arial" pitchFamily="34" charset="-120"/>
              </a:rPr>
              <a:t>×</a:t>
            </a:r>
            <a:endParaRPr lang="en-US" sz="2175" dirty="0"/>
          </a:p>
        </p:txBody>
      </p:sp>
      <p:sp>
        <p:nvSpPr>
          <p:cNvPr id="26" name="Text 24"/>
          <p:cNvSpPr/>
          <p:nvPr/>
        </p:nvSpPr>
        <p:spPr>
          <a:xfrm>
            <a:off x="10988278" y="5265440"/>
            <a:ext cx="6292846" cy="444500"/>
          </a:xfrm>
          <a:prstGeom prst="rect">
            <a:avLst/>
          </a:prstGeom>
          <a:noFill/>
          <a:ln/>
        </p:spPr>
        <p:txBody>
          <a:bodyPr wrap="square" lIns="25400" tIns="25400" rIns="25400" bIns="25400" rtlCol="0" anchor="ctr">
            <a:normAutofit/>
          </a:bodyPr>
          <a:lstStyle/>
          <a:p>
            <a:pPr marL="0" indent="0" algn="l">
              <a:buNone/>
            </a:pPr>
            <a:r>
              <a:rPr lang="en-US" sz="2175" dirty="0">
                <a:solidFill>
                  <a:srgbClr val="5A6470"/>
                </a:solidFill>
                <a:latin typeface="Arial" pitchFamily="34" charset="0"/>
                <a:ea typeface="Arial" pitchFamily="34" charset="-122"/>
                <a:cs typeface="Arial" pitchFamily="34" charset="-120"/>
              </a:rPr>
              <a:t>データ漏れ（Can★Doと建物共有）</a:t>
            </a:r>
            <a:endParaRPr lang="en-US" sz="2175" dirty="0"/>
          </a:p>
        </p:txBody>
      </p:sp>
      <p:sp>
        <p:nvSpPr>
          <p:cNvPr id="27" name="Shape 25"/>
          <p:cNvSpPr/>
          <p:nvPr/>
        </p:nvSpPr>
        <p:spPr>
          <a:xfrm>
            <a:off x="1028700" y="6586240"/>
            <a:ext cx="16230600" cy="9525"/>
          </a:xfrm>
          <a:prstGeom prst="rect">
            <a:avLst/>
          </a:prstGeom>
          <a:solidFill>
            <a:srgbClr val="E4E0D7"/>
          </a:solidFill>
          <a:ln/>
        </p:spPr>
      </p:sp>
      <p:sp>
        <p:nvSpPr>
          <p:cNvPr id="28" name="Text 26"/>
          <p:cNvSpPr/>
          <p:nvPr/>
        </p:nvSpPr>
        <p:spPr>
          <a:xfrm>
            <a:off x="1066800" y="6014740"/>
            <a:ext cx="495300" cy="444500"/>
          </a:xfrm>
          <a:prstGeom prst="rect">
            <a:avLst/>
          </a:prstGeom>
          <a:noFill/>
          <a:ln/>
        </p:spPr>
        <p:txBody>
          <a:bodyPr wrap="square" lIns="25400" tIns="25400" rIns="25400" bIns="25400" rtlCol="0" anchor="ctr">
            <a:normAutofit/>
          </a:bodyPr>
          <a:lstStyle/>
          <a:p>
            <a:pPr marL="0" indent="0" algn="ctr">
              <a:buNone/>
            </a:pPr>
            <a:r>
              <a:rPr lang="en-US" sz="2175" dirty="0">
                <a:solidFill>
                  <a:srgbClr val="97928A"/>
                </a:solidFill>
                <a:latin typeface="Courier New" pitchFamily="34" charset="0"/>
                <a:ea typeface="Courier New" pitchFamily="34" charset="-122"/>
                <a:cs typeface="Courier New" pitchFamily="34" charset="-120"/>
              </a:rPr>
              <a:t>03</a:t>
            </a:r>
            <a:endParaRPr lang="en-US" sz="2175" dirty="0"/>
          </a:p>
        </p:txBody>
      </p:sp>
      <p:sp>
        <p:nvSpPr>
          <p:cNvPr id="29" name="Text 27"/>
          <p:cNvSpPr/>
          <p:nvPr/>
        </p:nvSpPr>
        <p:spPr>
          <a:xfrm>
            <a:off x="1771650" y="6014740"/>
            <a:ext cx="2809621" cy="444500"/>
          </a:xfrm>
          <a:prstGeom prst="rect">
            <a:avLst/>
          </a:prstGeom>
          <a:noFill/>
          <a:ln/>
        </p:spPr>
        <p:txBody>
          <a:bodyPr wrap="square" lIns="25400" tIns="25400" rIns="25400" bIns="25400" rtlCol="0" anchor="ctr">
            <a:normAutofit/>
          </a:bodyPr>
          <a:lstStyle/>
          <a:p>
            <a:pPr marL="0" indent="0" algn="l">
              <a:buNone/>
            </a:pPr>
            <a:r>
              <a:rPr lang="en-US" sz="2175" dirty="0">
                <a:solidFill>
                  <a:srgbClr val="2C333C"/>
                </a:solidFill>
                <a:latin typeface="Arial" pitchFamily="34" charset="0"/>
                <a:ea typeface="Arial" pitchFamily="34" charset="-122"/>
                <a:cs typeface="Arial" pitchFamily="34" charset="-120"/>
              </a:rPr>
              <a:t>栃木・壬生</a:t>
            </a:r>
            <a:endParaRPr lang="en-US" sz="2175" dirty="0"/>
          </a:p>
        </p:txBody>
      </p:sp>
      <p:sp>
        <p:nvSpPr>
          <p:cNvPr id="30" name="Text 28"/>
          <p:cNvSpPr/>
          <p:nvPr/>
        </p:nvSpPr>
        <p:spPr>
          <a:xfrm>
            <a:off x="4832350" y="6014740"/>
            <a:ext cx="4722309" cy="444500"/>
          </a:xfrm>
          <a:prstGeom prst="rect">
            <a:avLst/>
          </a:prstGeom>
          <a:noFill/>
          <a:ln/>
        </p:spPr>
        <p:txBody>
          <a:bodyPr wrap="square" lIns="25400" tIns="25400" rIns="25400" bIns="25400" rtlCol="0" anchor="ctr">
            <a:normAutofit/>
          </a:bodyPr>
          <a:lstStyle/>
          <a:p>
            <a:pPr marL="0" indent="0" algn="l">
              <a:buNone/>
            </a:pPr>
            <a:r>
              <a:rPr lang="en-US" sz="2175" dirty="0">
                <a:solidFill>
                  <a:srgbClr val="5A6470"/>
                </a:solidFill>
                <a:latin typeface="Arial" pitchFamily="34" charset="0"/>
                <a:ea typeface="Arial" pitchFamily="34" charset="-122"/>
                <a:cs typeface="Arial" pitchFamily="34" charset="-120"/>
              </a:rPr>
              <a:t>ツルハドラッグ壬生店</a:t>
            </a:r>
            <a:endParaRPr lang="en-US" sz="2175" dirty="0"/>
          </a:p>
        </p:txBody>
      </p:sp>
      <p:sp>
        <p:nvSpPr>
          <p:cNvPr id="31" name="Text 29"/>
          <p:cNvSpPr/>
          <p:nvPr/>
        </p:nvSpPr>
        <p:spPr>
          <a:xfrm>
            <a:off x="9673828" y="6014740"/>
            <a:ext cx="1047750" cy="444500"/>
          </a:xfrm>
          <a:prstGeom prst="rect">
            <a:avLst/>
          </a:prstGeom>
          <a:noFill/>
          <a:ln/>
        </p:spPr>
        <p:txBody>
          <a:bodyPr wrap="square" lIns="25400" tIns="25400" rIns="25400" bIns="25400" rtlCol="0" anchor="ctr">
            <a:normAutofit/>
          </a:bodyPr>
          <a:lstStyle/>
          <a:p>
            <a:pPr marL="0" indent="0" algn="ctr">
              <a:buNone/>
            </a:pPr>
            <a:r>
              <a:rPr lang="en-US" sz="2175" dirty="0">
                <a:solidFill>
                  <a:srgbClr val="97928A"/>
                </a:solidFill>
                <a:latin typeface="Arial" pitchFamily="34" charset="0"/>
                <a:ea typeface="Arial" pitchFamily="34" charset="-122"/>
                <a:cs typeface="Arial" pitchFamily="34" charset="-120"/>
              </a:rPr>
              <a:t>×</a:t>
            </a:r>
            <a:endParaRPr lang="en-US" sz="2175" dirty="0"/>
          </a:p>
        </p:txBody>
      </p:sp>
      <p:sp>
        <p:nvSpPr>
          <p:cNvPr id="32" name="Text 30"/>
          <p:cNvSpPr/>
          <p:nvPr/>
        </p:nvSpPr>
        <p:spPr>
          <a:xfrm>
            <a:off x="10988278" y="6014740"/>
            <a:ext cx="6292846" cy="444500"/>
          </a:xfrm>
          <a:prstGeom prst="rect">
            <a:avLst/>
          </a:prstGeom>
          <a:noFill/>
          <a:ln/>
        </p:spPr>
        <p:txBody>
          <a:bodyPr wrap="square" lIns="25400" tIns="25400" rIns="25400" bIns="25400" rtlCol="0" anchor="ctr">
            <a:normAutofit/>
          </a:bodyPr>
          <a:lstStyle/>
          <a:p>
            <a:pPr marL="0" indent="0" algn="l">
              <a:buNone/>
            </a:pPr>
            <a:r>
              <a:rPr lang="en-US" sz="2175" dirty="0">
                <a:solidFill>
                  <a:srgbClr val="5A6470"/>
                </a:solidFill>
                <a:latin typeface="Arial" pitchFamily="34" charset="0"/>
                <a:ea typeface="Arial" pitchFamily="34" charset="-122"/>
                <a:cs typeface="Arial" pitchFamily="34" charset="-120"/>
              </a:rPr>
              <a:t>データ漏れ</a:t>
            </a:r>
            <a:endParaRPr lang="en-US" sz="2175" dirty="0"/>
          </a:p>
        </p:txBody>
      </p:sp>
      <p:sp>
        <p:nvSpPr>
          <p:cNvPr id="33" name="Shape 31"/>
          <p:cNvSpPr/>
          <p:nvPr/>
        </p:nvSpPr>
        <p:spPr>
          <a:xfrm>
            <a:off x="1028700" y="6592590"/>
            <a:ext cx="16230600" cy="749300"/>
          </a:xfrm>
          <a:prstGeom prst="rect">
            <a:avLst/>
          </a:prstGeom>
          <a:solidFill>
            <a:srgbClr val="FBFAF7"/>
          </a:solidFill>
          <a:ln/>
        </p:spPr>
      </p:sp>
      <p:sp>
        <p:nvSpPr>
          <p:cNvPr id="34" name="Shape 32"/>
          <p:cNvSpPr/>
          <p:nvPr/>
        </p:nvSpPr>
        <p:spPr>
          <a:xfrm>
            <a:off x="1028700" y="7335540"/>
            <a:ext cx="16230600" cy="9525"/>
          </a:xfrm>
          <a:prstGeom prst="rect">
            <a:avLst/>
          </a:prstGeom>
          <a:solidFill>
            <a:srgbClr val="E4E0D7"/>
          </a:solidFill>
          <a:ln/>
        </p:spPr>
      </p:sp>
      <p:sp>
        <p:nvSpPr>
          <p:cNvPr id="35" name="Text 33"/>
          <p:cNvSpPr/>
          <p:nvPr/>
        </p:nvSpPr>
        <p:spPr>
          <a:xfrm>
            <a:off x="1066800" y="6764040"/>
            <a:ext cx="495300" cy="444500"/>
          </a:xfrm>
          <a:prstGeom prst="rect">
            <a:avLst/>
          </a:prstGeom>
          <a:noFill/>
          <a:ln/>
        </p:spPr>
        <p:txBody>
          <a:bodyPr wrap="square" lIns="25400" tIns="25400" rIns="25400" bIns="25400" rtlCol="0" anchor="ctr">
            <a:normAutofit/>
          </a:bodyPr>
          <a:lstStyle/>
          <a:p>
            <a:pPr marL="0" indent="0" algn="ctr">
              <a:buNone/>
            </a:pPr>
            <a:r>
              <a:rPr lang="en-US" sz="2175" dirty="0">
                <a:solidFill>
                  <a:srgbClr val="97928A"/>
                </a:solidFill>
                <a:latin typeface="Courier New" pitchFamily="34" charset="0"/>
                <a:ea typeface="Courier New" pitchFamily="34" charset="-122"/>
                <a:cs typeface="Courier New" pitchFamily="34" charset="-120"/>
              </a:rPr>
              <a:t>04</a:t>
            </a:r>
            <a:endParaRPr lang="en-US" sz="2175" dirty="0"/>
          </a:p>
        </p:txBody>
      </p:sp>
      <p:sp>
        <p:nvSpPr>
          <p:cNvPr id="36" name="Text 34"/>
          <p:cNvSpPr/>
          <p:nvPr/>
        </p:nvSpPr>
        <p:spPr>
          <a:xfrm>
            <a:off x="1771650" y="6764040"/>
            <a:ext cx="2809621" cy="444500"/>
          </a:xfrm>
          <a:prstGeom prst="rect">
            <a:avLst/>
          </a:prstGeom>
          <a:noFill/>
          <a:ln/>
        </p:spPr>
        <p:txBody>
          <a:bodyPr wrap="square" lIns="25400" tIns="25400" rIns="25400" bIns="25400" rtlCol="0" anchor="ctr">
            <a:normAutofit/>
          </a:bodyPr>
          <a:lstStyle/>
          <a:p>
            <a:pPr marL="0" indent="0" algn="l">
              <a:buNone/>
            </a:pPr>
            <a:r>
              <a:rPr lang="en-US" sz="2175" dirty="0">
                <a:solidFill>
                  <a:srgbClr val="2C333C"/>
                </a:solidFill>
                <a:latin typeface="Arial" pitchFamily="34" charset="0"/>
                <a:ea typeface="Arial" pitchFamily="34" charset="-122"/>
                <a:cs typeface="Arial" pitchFamily="34" charset="-120"/>
              </a:rPr>
              <a:t>茨城・水戸内原</a:t>
            </a:r>
            <a:endParaRPr lang="en-US" sz="2175" dirty="0"/>
          </a:p>
        </p:txBody>
      </p:sp>
      <p:sp>
        <p:nvSpPr>
          <p:cNvPr id="37" name="Text 35"/>
          <p:cNvSpPr/>
          <p:nvPr/>
        </p:nvSpPr>
        <p:spPr>
          <a:xfrm>
            <a:off x="4832350" y="6764040"/>
            <a:ext cx="4722309" cy="444500"/>
          </a:xfrm>
          <a:prstGeom prst="rect">
            <a:avLst/>
          </a:prstGeom>
          <a:noFill/>
          <a:ln/>
        </p:spPr>
        <p:txBody>
          <a:bodyPr wrap="square" lIns="25400" tIns="25400" rIns="25400" bIns="25400" rtlCol="0" anchor="ctr">
            <a:normAutofit/>
          </a:bodyPr>
          <a:lstStyle/>
          <a:p>
            <a:pPr marL="0" indent="0" algn="l">
              <a:buNone/>
            </a:pPr>
            <a:r>
              <a:rPr lang="en-US" sz="2175" dirty="0">
                <a:solidFill>
                  <a:srgbClr val="5A6470"/>
                </a:solidFill>
                <a:latin typeface="Arial" pitchFamily="34" charset="0"/>
                <a:ea typeface="Arial" pitchFamily="34" charset="-122"/>
                <a:cs typeface="Arial" pitchFamily="34" charset="-120"/>
              </a:rPr>
              <a:t>ツルハドラッグ水戸内原店</a:t>
            </a:r>
            <a:endParaRPr lang="en-US" sz="2175" dirty="0"/>
          </a:p>
        </p:txBody>
      </p:sp>
      <p:sp>
        <p:nvSpPr>
          <p:cNvPr id="38" name="Text 36"/>
          <p:cNvSpPr/>
          <p:nvPr/>
        </p:nvSpPr>
        <p:spPr>
          <a:xfrm>
            <a:off x="9673828" y="6764040"/>
            <a:ext cx="1047750" cy="444500"/>
          </a:xfrm>
          <a:prstGeom prst="rect">
            <a:avLst/>
          </a:prstGeom>
          <a:noFill/>
          <a:ln/>
        </p:spPr>
        <p:txBody>
          <a:bodyPr wrap="square" lIns="25400" tIns="25400" rIns="25400" bIns="25400" rtlCol="0" anchor="ctr">
            <a:normAutofit/>
          </a:bodyPr>
          <a:lstStyle/>
          <a:p>
            <a:pPr marL="0" indent="0" algn="ctr">
              <a:buNone/>
            </a:pPr>
            <a:r>
              <a:rPr lang="en-US" sz="2175" dirty="0">
                <a:solidFill>
                  <a:srgbClr val="97928A"/>
                </a:solidFill>
                <a:latin typeface="Arial" pitchFamily="34" charset="0"/>
                <a:ea typeface="Arial" pitchFamily="34" charset="-122"/>
                <a:cs typeface="Arial" pitchFamily="34" charset="-120"/>
              </a:rPr>
              <a:t>×</a:t>
            </a:r>
            <a:endParaRPr lang="en-US" sz="2175" dirty="0"/>
          </a:p>
        </p:txBody>
      </p:sp>
      <p:sp>
        <p:nvSpPr>
          <p:cNvPr id="39" name="Text 37"/>
          <p:cNvSpPr/>
          <p:nvPr/>
        </p:nvSpPr>
        <p:spPr>
          <a:xfrm>
            <a:off x="10988278" y="6764040"/>
            <a:ext cx="6292846" cy="444500"/>
          </a:xfrm>
          <a:prstGeom prst="rect">
            <a:avLst/>
          </a:prstGeom>
          <a:noFill/>
          <a:ln/>
        </p:spPr>
        <p:txBody>
          <a:bodyPr wrap="square" lIns="25400" tIns="25400" rIns="25400" bIns="25400" rtlCol="0" anchor="ctr">
            <a:normAutofit/>
          </a:bodyPr>
          <a:lstStyle/>
          <a:p>
            <a:pPr marL="0" indent="0" algn="l">
              <a:buNone/>
            </a:pPr>
            <a:r>
              <a:rPr lang="en-US" sz="2175" dirty="0">
                <a:solidFill>
                  <a:srgbClr val="5A6470"/>
                </a:solidFill>
                <a:latin typeface="Arial" pitchFamily="34" charset="0"/>
                <a:ea typeface="Arial" pitchFamily="34" charset="-122"/>
                <a:cs typeface="Arial" pitchFamily="34" charset="-120"/>
              </a:rPr>
              <a:t>過大計上（家電量販店・調剤薬局）</a:t>
            </a:r>
            <a:endParaRPr lang="en-US" sz="2175" dirty="0"/>
          </a:p>
        </p:txBody>
      </p:sp>
      <p:sp>
        <p:nvSpPr>
          <p:cNvPr id="40" name="Shape 38"/>
          <p:cNvSpPr/>
          <p:nvPr/>
        </p:nvSpPr>
        <p:spPr>
          <a:xfrm>
            <a:off x="1028700" y="8084840"/>
            <a:ext cx="16230600" cy="9525"/>
          </a:xfrm>
          <a:prstGeom prst="rect">
            <a:avLst/>
          </a:prstGeom>
          <a:solidFill>
            <a:srgbClr val="E4E0D7"/>
          </a:solidFill>
          <a:ln/>
        </p:spPr>
      </p:sp>
      <p:sp>
        <p:nvSpPr>
          <p:cNvPr id="41" name="Text 39"/>
          <p:cNvSpPr/>
          <p:nvPr/>
        </p:nvSpPr>
        <p:spPr>
          <a:xfrm>
            <a:off x="1066800" y="7513340"/>
            <a:ext cx="495300" cy="444500"/>
          </a:xfrm>
          <a:prstGeom prst="rect">
            <a:avLst/>
          </a:prstGeom>
          <a:noFill/>
          <a:ln/>
        </p:spPr>
        <p:txBody>
          <a:bodyPr wrap="square" lIns="25400" tIns="25400" rIns="25400" bIns="25400" rtlCol="0" anchor="ctr">
            <a:normAutofit/>
          </a:bodyPr>
          <a:lstStyle/>
          <a:p>
            <a:pPr marL="0" indent="0" algn="ctr">
              <a:buNone/>
            </a:pPr>
            <a:r>
              <a:rPr lang="en-US" sz="2175" dirty="0">
                <a:solidFill>
                  <a:srgbClr val="97928A"/>
                </a:solidFill>
                <a:latin typeface="Courier New" pitchFamily="34" charset="0"/>
                <a:ea typeface="Courier New" pitchFamily="34" charset="-122"/>
                <a:cs typeface="Courier New" pitchFamily="34" charset="-120"/>
              </a:rPr>
              <a:t>05</a:t>
            </a:r>
            <a:endParaRPr lang="en-US" sz="2175" dirty="0"/>
          </a:p>
        </p:txBody>
      </p:sp>
      <p:sp>
        <p:nvSpPr>
          <p:cNvPr id="42" name="Text 40"/>
          <p:cNvSpPr/>
          <p:nvPr/>
        </p:nvSpPr>
        <p:spPr>
          <a:xfrm>
            <a:off x="1771650" y="7513340"/>
            <a:ext cx="2809621" cy="444500"/>
          </a:xfrm>
          <a:prstGeom prst="rect">
            <a:avLst/>
          </a:prstGeom>
          <a:noFill/>
          <a:ln/>
        </p:spPr>
        <p:txBody>
          <a:bodyPr wrap="square" lIns="25400" tIns="25400" rIns="25400" bIns="25400" rtlCol="0" anchor="ctr">
            <a:normAutofit/>
          </a:bodyPr>
          <a:lstStyle/>
          <a:p>
            <a:pPr marL="0" indent="0" algn="l">
              <a:buNone/>
            </a:pPr>
            <a:r>
              <a:rPr lang="en-US" sz="2175" dirty="0">
                <a:solidFill>
                  <a:srgbClr val="2C333C"/>
                </a:solidFill>
                <a:latin typeface="Arial" pitchFamily="34" charset="0"/>
                <a:ea typeface="Arial" pitchFamily="34" charset="-122"/>
                <a:cs typeface="Arial" pitchFamily="34" charset="-120"/>
              </a:rPr>
              <a:t>静岡・清水</a:t>
            </a:r>
            <a:endParaRPr lang="en-US" sz="2175" dirty="0"/>
          </a:p>
        </p:txBody>
      </p:sp>
      <p:sp>
        <p:nvSpPr>
          <p:cNvPr id="43" name="Text 41"/>
          <p:cNvSpPr/>
          <p:nvPr/>
        </p:nvSpPr>
        <p:spPr>
          <a:xfrm>
            <a:off x="4832350" y="7513340"/>
            <a:ext cx="4722309" cy="444500"/>
          </a:xfrm>
          <a:prstGeom prst="rect">
            <a:avLst/>
          </a:prstGeom>
          <a:noFill/>
          <a:ln/>
        </p:spPr>
        <p:txBody>
          <a:bodyPr wrap="square" lIns="25400" tIns="25400" rIns="25400" bIns="25400" rtlCol="0" anchor="ctr">
            <a:normAutofit/>
          </a:bodyPr>
          <a:lstStyle/>
          <a:p>
            <a:pPr marL="0" indent="0" algn="l">
              <a:buNone/>
            </a:pPr>
            <a:r>
              <a:rPr lang="en-US" sz="2175" dirty="0">
                <a:solidFill>
                  <a:srgbClr val="5A6470"/>
                </a:solidFill>
                <a:latin typeface="Arial" pitchFamily="34" charset="0"/>
                <a:ea typeface="Arial" pitchFamily="34" charset="-122"/>
                <a:cs typeface="Arial" pitchFamily="34" charset="-120"/>
              </a:rPr>
              <a:t>杏林堂薬局清水三保店</a:t>
            </a:r>
            <a:endParaRPr lang="en-US" sz="2175" dirty="0"/>
          </a:p>
        </p:txBody>
      </p:sp>
      <p:sp>
        <p:nvSpPr>
          <p:cNvPr id="44" name="Text 42"/>
          <p:cNvSpPr/>
          <p:nvPr/>
        </p:nvSpPr>
        <p:spPr>
          <a:xfrm>
            <a:off x="9673828" y="7513340"/>
            <a:ext cx="1047750" cy="444500"/>
          </a:xfrm>
          <a:prstGeom prst="rect">
            <a:avLst/>
          </a:prstGeom>
          <a:noFill/>
          <a:ln/>
        </p:spPr>
        <p:txBody>
          <a:bodyPr wrap="square" lIns="25400" tIns="25400" rIns="25400" bIns="25400" rtlCol="0" anchor="ctr">
            <a:normAutofit/>
          </a:bodyPr>
          <a:lstStyle/>
          <a:p>
            <a:pPr marL="0" indent="0" algn="ctr">
              <a:buNone/>
            </a:pPr>
            <a:r>
              <a:rPr lang="en-US" sz="2175" dirty="0">
                <a:solidFill>
                  <a:srgbClr val="97928A"/>
                </a:solidFill>
                <a:latin typeface="Arial" pitchFamily="34" charset="0"/>
                <a:ea typeface="Arial" pitchFamily="34" charset="-122"/>
                <a:cs typeface="Arial" pitchFamily="34" charset="-120"/>
              </a:rPr>
              <a:t>×</a:t>
            </a:r>
            <a:endParaRPr lang="en-US" sz="2175" dirty="0"/>
          </a:p>
        </p:txBody>
      </p:sp>
      <p:sp>
        <p:nvSpPr>
          <p:cNvPr id="45" name="Text 43"/>
          <p:cNvSpPr/>
          <p:nvPr/>
        </p:nvSpPr>
        <p:spPr>
          <a:xfrm>
            <a:off x="10988278" y="7513340"/>
            <a:ext cx="6292846" cy="444500"/>
          </a:xfrm>
          <a:prstGeom prst="rect">
            <a:avLst/>
          </a:prstGeom>
          <a:noFill/>
          <a:ln/>
        </p:spPr>
        <p:txBody>
          <a:bodyPr wrap="square" lIns="25400" tIns="25400" rIns="25400" bIns="25400" rtlCol="0" anchor="ctr">
            <a:normAutofit/>
          </a:bodyPr>
          <a:lstStyle/>
          <a:p>
            <a:pPr marL="0" indent="0" algn="l">
              <a:buNone/>
            </a:pPr>
            <a:r>
              <a:rPr lang="en-US" sz="2175" dirty="0">
                <a:solidFill>
                  <a:srgbClr val="5A6470"/>
                </a:solidFill>
                <a:latin typeface="Arial" pitchFamily="34" charset="0"/>
                <a:ea typeface="Arial" pitchFamily="34" charset="-122"/>
                <a:cs typeface="Arial" pitchFamily="34" charset="-120"/>
              </a:rPr>
              <a:t>過大計上（対岸の家電量販店等）</a:t>
            </a:r>
            <a:endParaRPr lang="en-US" sz="2175" dirty="0"/>
          </a:p>
        </p:txBody>
      </p:sp>
      <p:sp>
        <p:nvSpPr>
          <p:cNvPr id="46" name="Shape 44"/>
          <p:cNvSpPr/>
          <p:nvPr/>
        </p:nvSpPr>
        <p:spPr>
          <a:xfrm>
            <a:off x="1028700" y="9315450"/>
            <a:ext cx="16230600" cy="9525"/>
          </a:xfrm>
          <a:prstGeom prst="rect">
            <a:avLst/>
          </a:prstGeom>
          <a:solidFill>
            <a:srgbClr val="E4E0D7"/>
          </a:solidFill>
          <a:ln/>
        </p:spPr>
      </p:sp>
      <p:sp>
        <p:nvSpPr>
          <p:cNvPr id="47" name="Text 45"/>
          <p:cNvSpPr/>
          <p:nvPr/>
        </p:nvSpPr>
        <p:spPr>
          <a:xfrm>
            <a:off x="1028700" y="9455150"/>
            <a:ext cx="10351552" cy="393700"/>
          </a:xfrm>
          <a:prstGeom prst="rect">
            <a:avLst/>
          </a:prstGeom>
          <a:noFill/>
          <a:ln/>
        </p:spPr>
        <p:txBody>
          <a:bodyPr wrap="square" lIns="25400" tIns="25400" rIns="25400" bIns="25400" rtlCol="0" anchor="t">
            <a:normAutofit/>
          </a:bodyPr>
          <a:lstStyle/>
          <a:p>
            <a:pPr marL="0" indent="0" algn="l">
              <a:buNone/>
            </a:pPr>
            <a:r>
              <a:rPr lang="en-US" sz="1950" dirty="0">
                <a:solidFill>
                  <a:srgbClr val="97928A"/>
                </a:solidFill>
                <a:latin typeface="Arial" pitchFamily="34" charset="0"/>
                <a:ea typeface="Arial" pitchFamily="34" charset="-122"/>
                <a:cs typeface="Arial" pitchFamily="34" charset="-120"/>
              </a:rPr>
              <a:t>出典：公正取引委員会 審査結果詳細・経済分析報告書（令和7年4月30日）／別添表1</a:t>
            </a:r>
            <a:endParaRPr lang="en-US" sz="1950" dirty="0"/>
          </a:p>
        </p:txBody>
      </p:sp>
      <p:sp>
        <p:nvSpPr>
          <p:cNvPr id="48" name="Text 46"/>
          <p:cNvSpPr/>
          <p:nvPr/>
        </p:nvSpPr>
        <p:spPr>
          <a:xfrm>
            <a:off x="16115109" y="9471025"/>
            <a:ext cx="1220391" cy="361950"/>
          </a:xfrm>
          <a:prstGeom prst="rect">
            <a:avLst/>
          </a:prstGeom>
          <a:noFill/>
          <a:ln/>
        </p:spPr>
        <p:txBody>
          <a:bodyPr wrap="square" lIns="25400" tIns="25400" rIns="25400" bIns="25400" rtlCol="0" anchor="t">
            <a:normAutofit/>
          </a:bodyPr>
          <a:lstStyle/>
          <a:p>
            <a:pPr marL="0" indent="0" algn="l">
              <a:buNone/>
            </a:pPr>
            <a:r>
              <a:rPr lang="en-US" sz="1950" kern="0" spc="117" dirty="0">
                <a:solidFill>
                  <a:srgbClr val="97928A"/>
                </a:solidFill>
                <a:latin typeface="Courier New" pitchFamily="34" charset="0"/>
                <a:ea typeface="Courier New" pitchFamily="34" charset="-122"/>
                <a:cs typeface="Courier New" pitchFamily="34" charset="-120"/>
              </a:rPr>
              <a:t>12 / 27</a:t>
            </a:r>
            <a:endParaRPr lang="en-US" sz="1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6F2"/>
        </a:solidFill>
        <a:effectLst/>
      </p:bgPr>
    </p:bg>
    <p:spTree>
      <p:nvGrpSpPr>
        <p:cNvPr id="1" name=""/>
        <p:cNvGrpSpPr/>
        <p:nvPr/>
      </p:nvGrpSpPr>
      <p:grpSpPr>
        <a:xfrm>
          <a:off x="0" y="0"/>
          <a:ext cx="0" cy="0"/>
          <a:chOff x="0" y="0"/>
          <a:chExt cx="0" cy="0"/>
        </a:xfrm>
      </p:grpSpPr>
      <p:sp>
        <p:nvSpPr>
          <p:cNvPr id="2" name="Shape 0"/>
          <p:cNvSpPr/>
          <p:nvPr/>
        </p:nvSpPr>
        <p:spPr>
          <a:xfrm>
            <a:off x="1028700" y="833438"/>
            <a:ext cx="304800" cy="28575"/>
          </a:xfrm>
          <a:prstGeom prst="rect">
            <a:avLst/>
          </a:prstGeom>
          <a:solidFill>
            <a:srgbClr val="9A4A38"/>
          </a:solidFill>
          <a:ln/>
        </p:spPr>
      </p:sp>
      <p:sp>
        <p:nvSpPr>
          <p:cNvPr id="3" name="Text 1"/>
          <p:cNvSpPr/>
          <p:nvPr/>
        </p:nvSpPr>
        <p:spPr>
          <a:xfrm>
            <a:off x="1466850" y="660400"/>
            <a:ext cx="4546144" cy="412750"/>
          </a:xfrm>
          <a:prstGeom prst="rect">
            <a:avLst/>
          </a:prstGeom>
          <a:noFill/>
          <a:ln/>
        </p:spPr>
        <p:txBody>
          <a:bodyPr wrap="square" lIns="25400" tIns="25400" rIns="25400" bIns="25400" rtlCol="0" anchor="t">
            <a:normAutofit/>
          </a:bodyPr>
          <a:lstStyle/>
          <a:p>
            <a:pPr marL="0" indent="0" algn="l">
              <a:buNone/>
            </a:pPr>
            <a:r>
              <a:rPr lang="en-US" sz="2025" kern="0" spc="203" dirty="0">
                <a:solidFill>
                  <a:srgbClr val="5A6470"/>
                </a:solidFill>
                <a:latin typeface="Arial" pitchFamily="34" charset="0"/>
                <a:ea typeface="Arial" pitchFamily="34" charset="-122"/>
                <a:cs typeface="Arial" pitchFamily="34" charset="-120"/>
              </a:rPr>
              <a:t>第2部 再現① 地理的市場画定</a:t>
            </a:r>
            <a:endParaRPr lang="en-US" sz="2025" dirty="0"/>
          </a:p>
        </p:txBody>
      </p:sp>
      <p:sp>
        <p:nvSpPr>
          <p:cNvPr id="4" name="Shape 2"/>
          <p:cNvSpPr/>
          <p:nvPr/>
        </p:nvSpPr>
        <p:spPr>
          <a:xfrm>
            <a:off x="14687550" y="628650"/>
            <a:ext cx="2571750" cy="438150"/>
          </a:xfrm>
          <a:prstGeom prst="roundRect">
            <a:avLst>
              <a:gd name="adj" fmla="val 39130"/>
            </a:avLst>
          </a:prstGeom>
          <a:solidFill>
            <a:srgbClr val="F6ECE8"/>
          </a:solidFill>
          <a:ln/>
        </p:spPr>
      </p:sp>
      <p:sp>
        <p:nvSpPr>
          <p:cNvPr id="5" name="Text 3"/>
          <p:cNvSpPr/>
          <p:nvPr/>
        </p:nvSpPr>
        <p:spPr>
          <a:xfrm>
            <a:off x="14859000" y="685800"/>
            <a:ext cx="2306003" cy="361950"/>
          </a:xfrm>
          <a:prstGeom prst="rect">
            <a:avLst/>
          </a:prstGeom>
          <a:noFill/>
          <a:ln/>
        </p:spPr>
        <p:txBody>
          <a:bodyPr wrap="square" lIns="25400" tIns="25400" rIns="25400" bIns="25400" rtlCol="0" anchor="t">
            <a:normAutofit/>
          </a:bodyPr>
          <a:lstStyle/>
          <a:p>
            <a:pPr marL="0" indent="0" algn="l">
              <a:buNone/>
            </a:pPr>
            <a:r>
              <a:rPr lang="en-US" sz="1950" dirty="0">
                <a:solidFill>
                  <a:srgbClr val="9A4A38"/>
                </a:solidFill>
                <a:latin typeface="Courier New" pitchFamily="34" charset="0"/>
                <a:ea typeface="Courier New" pitchFamily="34" charset="-122"/>
                <a:cs typeface="Courier New" pitchFamily="34" charset="-120"/>
              </a:rPr>
              <a:t>後半 06–10 / 10</a:t>
            </a:r>
            <a:endParaRPr lang="en-US" sz="1950" dirty="0"/>
          </a:p>
        </p:txBody>
      </p:sp>
      <p:sp>
        <p:nvSpPr>
          <p:cNvPr id="6" name="Text 4"/>
          <p:cNvSpPr/>
          <p:nvPr/>
        </p:nvSpPr>
        <p:spPr>
          <a:xfrm>
            <a:off x="1028700" y="1200150"/>
            <a:ext cx="17853660" cy="624384"/>
          </a:xfrm>
          <a:prstGeom prst="rect">
            <a:avLst/>
          </a:prstGeom>
          <a:noFill/>
          <a:ln/>
        </p:spPr>
        <p:txBody>
          <a:bodyPr wrap="square" lIns="25400" tIns="25400" rIns="25400" bIns="25400" rtlCol="0" anchor="t">
            <a:normAutofit/>
          </a:bodyPr>
          <a:lstStyle/>
          <a:p>
            <a:pPr marL="0" indent="0" algn="l">
              <a:lnSpc>
                <a:spcPct val="114000"/>
              </a:lnSpc>
              <a:buNone/>
            </a:pPr>
            <a:r>
              <a:rPr lang="en-US" sz="4050" b="1" dirty="0">
                <a:solidFill>
                  <a:srgbClr val="1F2730"/>
                </a:solidFill>
                <a:latin typeface="Arial" pitchFamily="34" charset="0"/>
                <a:ea typeface="Arial" pitchFamily="34" charset="-122"/>
                <a:cs typeface="Arial" pitchFamily="34" charset="-120"/>
              </a:rPr>
              <a:t>結果：公取委10商圏との対照（後半）</a:t>
            </a:r>
            <a:endParaRPr lang="en-US" sz="4050" dirty="0"/>
          </a:p>
        </p:txBody>
      </p:sp>
      <p:sp>
        <p:nvSpPr>
          <p:cNvPr id="7" name="Text 5"/>
          <p:cNvSpPr/>
          <p:nvPr/>
        </p:nvSpPr>
        <p:spPr>
          <a:xfrm>
            <a:off x="1028700" y="1900734"/>
            <a:ext cx="16344900" cy="483195"/>
          </a:xfrm>
          <a:prstGeom prst="rect">
            <a:avLst/>
          </a:prstGeom>
          <a:noFill/>
          <a:ln/>
        </p:spPr>
        <p:txBody>
          <a:bodyPr wrap="square" lIns="25400" tIns="25400" rIns="25400" bIns="25400" rtlCol="0" anchor="t">
            <a:normAutofit/>
          </a:bodyPr>
          <a:lstStyle/>
          <a:p>
            <a:pPr marL="0" indent="0" algn="l">
              <a:lnSpc>
                <a:spcPct val="140000"/>
              </a:lnSpc>
              <a:buNone/>
            </a:pPr>
            <a:r>
              <a:rPr lang="en-US" sz="2325" dirty="0">
                <a:solidFill>
                  <a:srgbClr val="4A5560"/>
                </a:solidFill>
                <a:latin typeface="Arial" pitchFamily="34" charset="0"/>
                <a:ea typeface="Arial" pitchFamily="34" charset="-122"/>
                <a:cs typeface="Arial" pitchFamily="34" charset="-120"/>
              </a:rPr>
              <a:t>的中は </a:t>
            </a:r>
            <a:r>
              <a:rPr lang="en-US" sz="2325" b="1" dirty="0">
                <a:solidFill>
                  <a:srgbClr val="9A4A38"/>
                </a:solidFill>
                <a:latin typeface="Arial" pitchFamily="34" charset="0"/>
                <a:ea typeface="Arial" pitchFamily="34" charset="-122"/>
                <a:cs typeface="Arial" pitchFamily="34" charset="-120"/>
              </a:rPr>
              <a:t>2商圏のみ</a:t>
            </a:r>
            <a:r>
              <a:rPr lang="en-US" sz="2325" dirty="0">
                <a:solidFill>
                  <a:srgbClr val="4A5560"/>
                </a:solidFill>
                <a:latin typeface="Arial" pitchFamily="34" charset="0"/>
                <a:ea typeface="Arial" pitchFamily="34" charset="-122"/>
                <a:cs typeface="Arial" pitchFamily="34" charset="-120"/>
              </a:rPr>
              <a:t>（08・10）。機械的判定15商圏との照合結果を集計する。</a:t>
            </a:r>
            <a:endParaRPr lang="en-US" sz="2325" dirty="0"/>
          </a:p>
        </p:txBody>
      </p:sp>
      <p:sp>
        <p:nvSpPr>
          <p:cNvPr id="8" name="Shape 6"/>
          <p:cNvSpPr/>
          <p:nvPr/>
        </p:nvSpPr>
        <p:spPr>
          <a:xfrm>
            <a:off x="1028700" y="3103265"/>
            <a:ext cx="16230600" cy="704850"/>
          </a:xfrm>
          <a:prstGeom prst="rect">
            <a:avLst/>
          </a:prstGeom>
          <a:solidFill>
            <a:srgbClr val="2E3B45"/>
          </a:solidFill>
          <a:ln/>
        </p:spPr>
      </p:sp>
      <p:sp>
        <p:nvSpPr>
          <p:cNvPr id="9" name="Text 7"/>
          <p:cNvSpPr/>
          <p:nvPr/>
        </p:nvSpPr>
        <p:spPr>
          <a:xfrm>
            <a:off x="1066800" y="3255665"/>
            <a:ext cx="495300" cy="438150"/>
          </a:xfrm>
          <a:prstGeom prst="rect">
            <a:avLst/>
          </a:prstGeom>
          <a:noFill/>
          <a:ln/>
        </p:spPr>
        <p:txBody>
          <a:bodyPr wrap="square" lIns="25400" tIns="25400" rIns="25400" bIns="25400" rtlCol="0" anchor="ctr">
            <a:normAutofit/>
          </a:bodyPr>
          <a:lstStyle/>
          <a:p>
            <a:pPr marL="0" indent="0" algn="ctr">
              <a:buNone/>
            </a:pPr>
            <a:r>
              <a:rPr lang="en-US" sz="2175" dirty="0">
                <a:solidFill>
                  <a:srgbClr val="EDEAE2"/>
                </a:solidFill>
                <a:latin typeface="Arial" pitchFamily="34" charset="0"/>
                <a:ea typeface="Arial" pitchFamily="34" charset="-122"/>
                <a:cs typeface="Arial" pitchFamily="34" charset="-120"/>
              </a:rPr>
              <a:t>#</a:t>
            </a:r>
            <a:endParaRPr lang="en-US" sz="2175" dirty="0"/>
          </a:p>
        </p:txBody>
      </p:sp>
      <p:sp>
        <p:nvSpPr>
          <p:cNvPr id="10" name="Text 8"/>
          <p:cNvSpPr/>
          <p:nvPr/>
        </p:nvSpPr>
        <p:spPr>
          <a:xfrm>
            <a:off x="1771650" y="3255665"/>
            <a:ext cx="3795499" cy="438150"/>
          </a:xfrm>
          <a:prstGeom prst="rect">
            <a:avLst/>
          </a:prstGeom>
          <a:noFill/>
          <a:ln/>
        </p:spPr>
        <p:txBody>
          <a:bodyPr wrap="square" lIns="25400" tIns="25400" rIns="25400" bIns="25400" rtlCol="0" anchor="ctr">
            <a:normAutofit/>
          </a:bodyPr>
          <a:lstStyle/>
          <a:p>
            <a:pPr marL="0" indent="0" algn="l">
              <a:buNone/>
            </a:pPr>
            <a:r>
              <a:rPr lang="en-US" sz="2175" dirty="0">
                <a:solidFill>
                  <a:srgbClr val="EDEAE2"/>
                </a:solidFill>
                <a:latin typeface="Arial" pitchFamily="34" charset="0"/>
                <a:ea typeface="Arial" pitchFamily="34" charset="-122"/>
                <a:cs typeface="Arial" pitchFamily="34" charset="-120"/>
              </a:rPr>
              <a:t>商圏（県・市）</a:t>
            </a:r>
            <a:endParaRPr lang="en-US" sz="2175" dirty="0"/>
          </a:p>
        </p:txBody>
      </p:sp>
      <p:sp>
        <p:nvSpPr>
          <p:cNvPr id="11" name="Text 9"/>
          <p:cNvSpPr/>
          <p:nvPr/>
        </p:nvSpPr>
        <p:spPr>
          <a:xfrm>
            <a:off x="5789513" y="3255665"/>
            <a:ext cx="4899924" cy="438150"/>
          </a:xfrm>
          <a:prstGeom prst="rect">
            <a:avLst/>
          </a:prstGeom>
          <a:noFill/>
          <a:ln/>
        </p:spPr>
        <p:txBody>
          <a:bodyPr wrap="square" lIns="25400" tIns="25400" rIns="25400" bIns="25400" rtlCol="0" anchor="ctr">
            <a:normAutofit/>
          </a:bodyPr>
          <a:lstStyle/>
          <a:p>
            <a:pPr marL="0" indent="0" algn="l">
              <a:buNone/>
            </a:pPr>
            <a:r>
              <a:rPr lang="en-US" sz="2175" dirty="0">
                <a:solidFill>
                  <a:srgbClr val="EDEAE2"/>
                </a:solidFill>
                <a:latin typeface="Arial" pitchFamily="34" charset="0"/>
                <a:ea typeface="Arial" pitchFamily="34" charset="-122"/>
                <a:cs typeface="Arial" pitchFamily="34" charset="-120"/>
              </a:rPr>
              <a:t>ツルハ系店舗</a:t>
            </a:r>
            <a:endParaRPr lang="en-US" sz="2175" dirty="0"/>
          </a:p>
        </p:txBody>
      </p:sp>
      <p:sp>
        <p:nvSpPr>
          <p:cNvPr id="12" name="Text 10"/>
          <p:cNvSpPr/>
          <p:nvPr/>
        </p:nvSpPr>
        <p:spPr>
          <a:xfrm>
            <a:off x="10803434" y="3255665"/>
            <a:ext cx="1143000" cy="438150"/>
          </a:xfrm>
          <a:prstGeom prst="rect">
            <a:avLst/>
          </a:prstGeom>
          <a:noFill/>
          <a:ln/>
        </p:spPr>
        <p:txBody>
          <a:bodyPr wrap="square" lIns="25400" tIns="25400" rIns="25400" bIns="25400" rtlCol="0" anchor="ctr">
            <a:normAutofit/>
          </a:bodyPr>
          <a:lstStyle/>
          <a:p>
            <a:pPr marL="0" indent="0" algn="ctr">
              <a:buNone/>
            </a:pPr>
            <a:r>
              <a:rPr lang="en-US" sz="2175" dirty="0">
                <a:solidFill>
                  <a:srgbClr val="EDEAE2"/>
                </a:solidFill>
                <a:latin typeface="Arial" pitchFamily="34" charset="0"/>
                <a:ea typeface="Arial" pitchFamily="34" charset="-122"/>
                <a:cs typeface="Arial" pitchFamily="34" charset="-120"/>
              </a:rPr>
              <a:t>判定</a:t>
            </a:r>
            <a:endParaRPr lang="en-US" sz="2175" dirty="0"/>
          </a:p>
        </p:txBody>
      </p:sp>
      <p:sp>
        <p:nvSpPr>
          <p:cNvPr id="13" name="Text 11"/>
          <p:cNvSpPr/>
          <p:nvPr/>
        </p:nvSpPr>
        <p:spPr>
          <a:xfrm>
            <a:off x="12213134" y="3255665"/>
            <a:ext cx="5031245" cy="438150"/>
          </a:xfrm>
          <a:prstGeom prst="rect">
            <a:avLst/>
          </a:prstGeom>
          <a:noFill/>
          <a:ln/>
        </p:spPr>
        <p:txBody>
          <a:bodyPr wrap="square" lIns="25400" tIns="25400" rIns="25400" bIns="25400" rtlCol="0" anchor="ctr">
            <a:normAutofit/>
          </a:bodyPr>
          <a:lstStyle/>
          <a:p>
            <a:pPr marL="0" indent="0" algn="l">
              <a:buNone/>
            </a:pPr>
            <a:r>
              <a:rPr lang="en-US" sz="2175" dirty="0">
                <a:solidFill>
                  <a:srgbClr val="EDEAE2"/>
                </a:solidFill>
                <a:latin typeface="Arial" pitchFamily="34" charset="0"/>
                <a:ea typeface="Arial" pitchFamily="34" charset="-122"/>
                <a:cs typeface="Arial" pitchFamily="34" charset="-120"/>
              </a:rPr>
              <a:t>取りこぼし要因</a:t>
            </a:r>
            <a:endParaRPr lang="en-US" sz="2175" dirty="0"/>
          </a:p>
        </p:txBody>
      </p:sp>
      <p:sp>
        <p:nvSpPr>
          <p:cNvPr id="14" name="Shape 12"/>
          <p:cNvSpPr/>
          <p:nvPr/>
        </p:nvSpPr>
        <p:spPr>
          <a:xfrm>
            <a:off x="1028700" y="4490740"/>
            <a:ext cx="16230600" cy="9525"/>
          </a:xfrm>
          <a:prstGeom prst="rect">
            <a:avLst/>
          </a:prstGeom>
          <a:solidFill>
            <a:srgbClr val="E4E0D7"/>
          </a:solidFill>
          <a:ln/>
        </p:spPr>
      </p:sp>
      <p:sp>
        <p:nvSpPr>
          <p:cNvPr id="15" name="Text 13"/>
          <p:cNvSpPr/>
          <p:nvPr/>
        </p:nvSpPr>
        <p:spPr>
          <a:xfrm>
            <a:off x="1066800" y="3950990"/>
            <a:ext cx="495300" cy="441325"/>
          </a:xfrm>
          <a:prstGeom prst="rect">
            <a:avLst/>
          </a:prstGeom>
          <a:noFill/>
          <a:ln/>
        </p:spPr>
        <p:txBody>
          <a:bodyPr wrap="square" lIns="25400" tIns="25400" rIns="25400" bIns="25400" rtlCol="0" anchor="ctr">
            <a:normAutofit/>
          </a:bodyPr>
          <a:lstStyle/>
          <a:p>
            <a:pPr marL="0" indent="0" algn="ctr">
              <a:buNone/>
            </a:pPr>
            <a:r>
              <a:rPr lang="en-US" sz="2175" dirty="0">
                <a:solidFill>
                  <a:srgbClr val="97928A"/>
                </a:solidFill>
                <a:latin typeface="Courier New" pitchFamily="34" charset="0"/>
                <a:ea typeface="Courier New" pitchFamily="34" charset="-122"/>
                <a:cs typeface="Courier New" pitchFamily="34" charset="-120"/>
              </a:rPr>
              <a:t>06</a:t>
            </a:r>
            <a:endParaRPr lang="en-US" sz="2175" dirty="0"/>
          </a:p>
        </p:txBody>
      </p:sp>
      <p:sp>
        <p:nvSpPr>
          <p:cNvPr id="16" name="Text 14"/>
          <p:cNvSpPr/>
          <p:nvPr/>
        </p:nvSpPr>
        <p:spPr>
          <a:xfrm>
            <a:off x="1771650" y="3950990"/>
            <a:ext cx="3795499" cy="441325"/>
          </a:xfrm>
          <a:prstGeom prst="rect">
            <a:avLst/>
          </a:prstGeom>
          <a:noFill/>
          <a:ln/>
        </p:spPr>
        <p:txBody>
          <a:bodyPr wrap="square" lIns="25400" tIns="25400" rIns="25400" bIns="25400" rtlCol="0" anchor="ctr">
            <a:normAutofit/>
          </a:bodyPr>
          <a:lstStyle/>
          <a:p>
            <a:pPr marL="0" indent="0" algn="l">
              <a:buNone/>
            </a:pPr>
            <a:r>
              <a:rPr lang="en-US" sz="2175" dirty="0">
                <a:solidFill>
                  <a:srgbClr val="2C333C"/>
                </a:solidFill>
                <a:latin typeface="Arial" pitchFamily="34" charset="0"/>
                <a:ea typeface="Arial" pitchFamily="34" charset="-122"/>
                <a:cs typeface="Arial" pitchFamily="34" charset="-120"/>
              </a:rPr>
              <a:t>静岡・磐田</a:t>
            </a:r>
            <a:endParaRPr lang="en-US" sz="2175" dirty="0"/>
          </a:p>
        </p:txBody>
      </p:sp>
      <p:sp>
        <p:nvSpPr>
          <p:cNvPr id="17" name="Text 15"/>
          <p:cNvSpPr/>
          <p:nvPr/>
        </p:nvSpPr>
        <p:spPr>
          <a:xfrm>
            <a:off x="5789513" y="3950990"/>
            <a:ext cx="4899924" cy="441325"/>
          </a:xfrm>
          <a:prstGeom prst="rect">
            <a:avLst/>
          </a:prstGeom>
          <a:noFill/>
          <a:ln/>
        </p:spPr>
        <p:txBody>
          <a:bodyPr wrap="square" lIns="25400" tIns="25400" rIns="25400" bIns="25400" rtlCol="0" anchor="ctr">
            <a:normAutofit/>
          </a:bodyPr>
          <a:lstStyle/>
          <a:p>
            <a:pPr marL="0" indent="0" algn="l">
              <a:buNone/>
            </a:pPr>
            <a:r>
              <a:rPr lang="en-US" sz="2175" dirty="0">
                <a:solidFill>
                  <a:srgbClr val="5A6470"/>
                </a:solidFill>
                <a:latin typeface="Arial" pitchFamily="34" charset="0"/>
                <a:ea typeface="Arial" pitchFamily="34" charset="-122"/>
                <a:cs typeface="Arial" pitchFamily="34" charset="-120"/>
              </a:rPr>
              <a:t>杏林堂ドラッグストア竜洋店</a:t>
            </a:r>
            <a:endParaRPr lang="en-US" sz="2175" dirty="0"/>
          </a:p>
        </p:txBody>
      </p:sp>
      <p:sp>
        <p:nvSpPr>
          <p:cNvPr id="18" name="Text 16"/>
          <p:cNvSpPr/>
          <p:nvPr/>
        </p:nvSpPr>
        <p:spPr>
          <a:xfrm>
            <a:off x="10803434" y="3950990"/>
            <a:ext cx="1143000" cy="441325"/>
          </a:xfrm>
          <a:prstGeom prst="rect">
            <a:avLst/>
          </a:prstGeom>
          <a:noFill/>
          <a:ln/>
        </p:spPr>
        <p:txBody>
          <a:bodyPr wrap="square" lIns="25400" tIns="25400" rIns="25400" bIns="25400" rtlCol="0" anchor="ctr">
            <a:normAutofit/>
          </a:bodyPr>
          <a:lstStyle/>
          <a:p>
            <a:pPr marL="0" indent="0" algn="ctr">
              <a:buNone/>
            </a:pPr>
            <a:r>
              <a:rPr lang="en-US" sz="2175" dirty="0">
                <a:solidFill>
                  <a:srgbClr val="97928A"/>
                </a:solidFill>
                <a:latin typeface="Arial" pitchFamily="34" charset="0"/>
                <a:ea typeface="Arial" pitchFamily="34" charset="-122"/>
                <a:cs typeface="Arial" pitchFamily="34" charset="-120"/>
              </a:rPr>
              <a:t>×</a:t>
            </a:r>
            <a:endParaRPr lang="en-US" sz="2175" dirty="0"/>
          </a:p>
        </p:txBody>
      </p:sp>
      <p:sp>
        <p:nvSpPr>
          <p:cNvPr id="19" name="Text 17"/>
          <p:cNvSpPr/>
          <p:nvPr/>
        </p:nvSpPr>
        <p:spPr>
          <a:xfrm>
            <a:off x="12213134" y="3950990"/>
            <a:ext cx="5031245" cy="441325"/>
          </a:xfrm>
          <a:prstGeom prst="rect">
            <a:avLst/>
          </a:prstGeom>
          <a:noFill/>
          <a:ln/>
        </p:spPr>
        <p:txBody>
          <a:bodyPr wrap="square" lIns="25400" tIns="25400" rIns="25400" bIns="25400" rtlCol="0" anchor="ctr">
            <a:normAutofit/>
          </a:bodyPr>
          <a:lstStyle/>
          <a:p>
            <a:pPr marL="0" indent="0" algn="l">
              <a:buNone/>
            </a:pPr>
            <a:r>
              <a:rPr lang="en-US" sz="2175" dirty="0">
                <a:solidFill>
                  <a:srgbClr val="5A6470"/>
                </a:solidFill>
                <a:latin typeface="Arial" pitchFamily="34" charset="0"/>
                <a:ea typeface="Arial" pitchFamily="34" charset="-122"/>
                <a:cs typeface="Arial" pitchFamily="34" charset="-120"/>
              </a:rPr>
              <a:t>データ漏れ</a:t>
            </a:r>
            <a:endParaRPr lang="en-US" sz="2175" dirty="0"/>
          </a:p>
        </p:txBody>
      </p:sp>
      <p:sp>
        <p:nvSpPr>
          <p:cNvPr id="20" name="Shape 18"/>
          <p:cNvSpPr/>
          <p:nvPr/>
        </p:nvSpPr>
        <p:spPr>
          <a:xfrm>
            <a:off x="1028700" y="4497090"/>
            <a:ext cx="16230600" cy="692150"/>
          </a:xfrm>
          <a:prstGeom prst="rect">
            <a:avLst/>
          </a:prstGeom>
          <a:solidFill>
            <a:srgbClr val="FBFAF7"/>
          </a:solidFill>
          <a:ln/>
        </p:spPr>
      </p:sp>
      <p:sp>
        <p:nvSpPr>
          <p:cNvPr id="21" name="Shape 19"/>
          <p:cNvSpPr/>
          <p:nvPr/>
        </p:nvSpPr>
        <p:spPr>
          <a:xfrm>
            <a:off x="1028700" y="5182890"/>
            <a:ext cx="16230600" cy="9525"/>
          </a:xfrm>
          <a:prstGeom prst="rect">
            <a:avLst/>
          </a:prstGeom>
          <a:solidFill>
            <a:srgbClr val="E4E0D7"/>
          </a:solidFill>
          <a:ln/>
        </p:spPr>
      </p:sp>
      <p:sp>
        <p:nvSpPr>
          <p:cNvPr id="22" name="Text 20"/>
          <p:cNvSpPr/>
          <p:nvPr/>
        </p:nvSpPr>
        <p:spPr>
          <a:xfrm>
            <a:off x="1066800" y="4639965"/>
            <a:ext cx="495300" cy="444500"/>
          </a:xfrm>
          <a:prstGeom prst="rect">
            <a:avLst/>
          </a:prstGeom>
          <a:noFill/>
          <a:ln/>
        </p:spPr>
        <p:txBody>
          <a:bodyPr wrap="square" lIns="25400" tIns="25400" rIns="25400" bIns="25400" rtlCol="0" anchor="ctr">
            <a:normAutofit/>
          </a:bodyPr>
          <a:lstStyle/>
          <a:p>
            <a:pPr marL="0" indent="0" algn="ctr">
              <a:buNone/>
            </a:pPr>
            <a:r>
              <a:rPr lang="en-US" sz="2175" dirty="0">
                <a:solidFill>
                  <a:srgbClr val="97928A"/>
                </a:solidFill>
                <a:latin typeface="Courier New" pitchFamily="34" charset="0"/>
                <a:ea typeface="Courier New" pitchFamily="34" charset="-122"/>
                <a:cs typeface="Courier New" pitchFamily="34" charset="-120"/>
              </a:rPr>
              <a:t>07</a:t>
            </a:r>
            <a:endParaRPr lang="en-US" sz="2175" dirty="0"/>
          </a:p>
        </p:txBody>
      </p:sp>
      <p:sp>
        <p:nvSpPr>
          <p:cNvPr id="23" name="Text 21"/>
          <p:cNvSpPr/>
          <p:nvPr/>
        </p:nvSpPr>
        <p:spPr>
          <a:xfrm>
            <a:off x="1771650" y="4639965"/>
            <a:ext cx="3795499" cy="444500"/>
          </a:xfrm>
          <a:prstGeom prst="rect">
            <a:avLst/>
          </a:prstGeom>
          <a:noFill/>
          <a:ln/>
        </p:spPr>
        <p:txBody>
          <a:bodyPr wrap="square" lIns="25400" tIns="25400" rIns="25400" bIns="25400" rtlCol="0" anchor="ctr">
            <a:normAutofit/>
          </a:bodyPr>
          <a:lstStyle/>
          <a:p>
            <a:pPr marL="0" indent="0" algn="l">
              <a:buNone/>
            </a:pPr>
            <a:r>
              <a:rPr lang="en-US" sz="2175" dirty="0">
                <a:solidFill>
                  <a:srgbClr val="2C333C"/>
                </a:solidFill>
                <a:latin typeface="Arial" pitchFamily="34" charset="0"/>
                <a:ea typeface="Arial" pitchFamily="34" charset="-122"/>
                <a:cs typeface="Arial" pitchFamily="34" charset="-120"/>
              </a:rPr>
              <a:t>鳥取・米子（日吉津）</a:t>
            </a:r>
            <a:endParaRPr lang="en-US" sz="2175" dirty="0"/>
          </a:p>
        </p:txBody>
      </p:sp>
      <p:sp>
        <p:nvSpPr>
          <p:cNvPr id="24" name="Text 22"/>
          <p:cNvSpPr/>
          <p:nvPr/>
        </p:nvSpPr>
        <p:spPr>
          <a:xfrm>
            <a:off x="5789513" y="4639965"/>
            <a:ext cx="4899924" cy="444500"/>
          </a:xfrm>
          <a:prstGeom prst="rect">
            <a:avLst/>
          </a:prstGeom>
          <a:noFill/>
          <a:ln/>
        </p:spPr>
        <p:txBody>
          <a:bodyPr wrap="square" lIns="25400" tIns="25400" rIns="25400" bIns="25400" rtlCol="0" anchor="ctr">
            <a:normAutofit/>
          </a:bodyPr>
          <a:lstStyle/>
          <a:p>
            <a:pPr marL="0" indent="0" algn="l">
              <a:buNone/>
            </a:pPr>
            <a:r>
              <a:rPr lang="en-US" sz="2175" dirty="0">
                <a:solidFill>
                  <a:srgbClr val="5A6470"/>
                </a:solidFill>
                <a:latin typeface="Arial" pitchFamily="34" charset="0"/>
                <a:ea typeface="Arial" pitchFamily="34" charset="-122"/>
                <a:cs typeface="Arial" pitchFamily="34" charset="-120"/>
              </a:rPr>
              <a:t>ウェルネスみのかや店</a:t>
            </a:r>
            <a:endParaRPr lang="en-US" sz="2175" dirty="0"/>
          </a:p>
        </p:txBody>
      </p:sp>
      <p:sp>
        <p:nvSpPr>
          <p:cNvPr id="25" name="Text 23"/>
          <p:cNvSpPr/>
          <p:nvPr/>
        </p:nvSpPr>
        <p:spPr>
          <a:xfrm>
            <a:off x="10803434" y="4639965"/>
            <a:ext cx="1143000" cy="444500"/>
          </a:xfrm>
          <a:prstGeom prst="rect">
            <a:avLst/>
          </a:prstGeom>
          <a:noFill/>
          <a:ln/>
        </p:spPr>
        <p:txBody>
          <a:bodyPr wrap="square" lIns="25400" tIns="25400" rIns="25400" bIns="25400" rtlCol="0" anchor="ctr">
            <a:normAutofit/>
          </a:bodyPr>
          <a:lstStyle/>
          <a:p>
            <a:pPr marL="0" indent="0" algn="ctr">
              <a:buNone/>
            </a:pPr>
            <a:r>
              <a:rPr lang="en-US" sz="2175" dirty="0">
                <a:solidFill>
                  <a:srgbClr val="97928A"/>
                </a:solidFill>
                <a:latin typeface="Arial" pitchFamily="34" charset="0"/>
                <a:ea typeface="Arial" pitchFamily="34" charset="-122"/>
                <a:cs typeface="Arial" pitchFamily="34" charset="-120"/>
              </a:rPr>
              <a:t>×</a:t>
            </a:r>
            <a:endParaRPr lang="en-US" sz="2175" dirty="0"/>
          </a:p>
        </p:txBody>
      </p:sp>
      <p:sp>
        <p:nvSpPr>
          <p:cNvPr id="26" name="Text 24"/>
          <p:cNvSpPr/>
          <p:nvPr/>
        </p:nvSpPr>
        <p:spPr>
          <a:xfrm>
            <a:off x="12213134" y="4639965"/>
            <a:ext cx="5031245" cy="444500"/>
          </a:xfrm>
          <a:prstGeom prst="rect">
            <a:avLst/>
          </a:prstGeom>
          <a:noFill/>
          <a:ln/>
        </p:spPr>
        <p:txBody>
          <a:bodyPr wrap="square" lIns="25400" tIns="25400" rIns="25400" bIns="25400" rtlCol="0" anchor="ctr">
            <a:normAutofit/>
          </a:bodyPr>
          <a:lstStyle/>
          <a:p>
            <a:pPr marL="0" indent="0" algn="l">
              <a:buNone/>
            </a:pPr>
            <a:r>
              <a:rPr lang="en-US" sz="2175" dirty="0">
                <a:solidFill>
                  <a:srgbClr val="5A6470"/>
                </a:solidFill>
                <a:latin typeface="Arial" pitchFamily="34" charset="0"/>
                <a:ea typeface="Arial" pitchFamily="34" charset="-122"/>
                <a:cs typeface="Arial" pitchFamily="34" charset="-120"/>
              </a:rPr>
              <a:t>過大計上（スーパー・HC等）</a:t>
            </a:r>
            <a:endParaRPr lang="en-US" sz="2175" dirty="0"/>
          </a:p>
        </p:txBody>
      </p:sp>
      <p:sp>
        <p:nvSpPr>
          <p:cNvPr id="27" name="Shape 25"/>
          <p:cNvSpPr/>
          <p:nvPr/>
        </p:nvSpPr>
        <p:spPr>
          <a:xfrm>
            <a:off x="1028700" y="5189240"/>
            <a:ext cx="16230600" cy="692150"/>
          </a:xfrm>
          <a:prstGeom prst="rect">
            <a:avLst/>
          </a:prstGeom>
          <a:solidFill>
            <a:srgbClr val="F6ECE8"/>
          </a:solidFill>
          <a:ln/>
        </p:spPr>
      </p:sp>
      <p:sp>
        <p:nvSpPr>
          <p:cNvPr id="28" name="Shape 26"/>
          <p:cNvSpPr/>
          <p:nvPr/>
        </p:nvSpPr>
        <p:spPr>
          <a:xfrm>
            <a:off x="1028700" y="5875040"/>
            <a:ext cx="16230600" cy="9525"/>
          </a:xfrm>
          <a:prstGeom prst="rect">
            <a:avLst/>
          </a:prstGeom>
          <a:solidFill>
            <a:srgbClr val="EAD9D3"/>
          </a:solidFill>
          <a:ln/>
        </p:spPr>
      </p:sp>
      <p:sp>
        <p:nvSpPr>
          <p:cNvPr id="29" name="Text 27"/>
          <p:cNvSpPr/>
          <p:nvPr/>
        </p:nvSpPr>
        <p:spPr>
          <a:xfrm>
            <a:off x="1066800" y="5332115"/>
            <a:ext cx="495300" cy="444500"/>
          </a:xfrm>
          <a:prstGeom prst="rect">
            <a:avLst/>
          </a:prstGeom>
          <a:noFill/>
          <a:ln/>
        </p:spPr>
        <p:txBody>
          <a:bodyPr wrap="square" lIns="25400" tIns="25400" rIns="25400" bIns="25400" rtlCol="0" anchor="ctr">
            <a:normAutofit/>
          </a:bodyPr>
          <a:lstStyle/>
          <a:p>
            <a:pPr marL="0" indent="0" algn="ctr">
              <a:buNone/>
            </a:pPr>
            <a:r>
              <a:rPr lang="en-US" sz="2175" dirty="0">
                <a:solidFill>
                  <a:srgbClr val="9A4A38"/>
                </a:solidFill>
                <a:latin typeface="Courier New" pitchFamily="34" charset="0"/>
                <a:ea typeface="Courier New" pitchFamily="34" charset="-122"/>
                <a:cs typeface="Courier New" pitchFamily="34" charset="-120"/>
              </a:rPr>
              <a:t>08</a:t>
            </a:r>
            <a:endParaRPr lang="en-US" sz="2175" dirty="0"/>
          </a:p>
        </p:txBody>
      </p:sp>
      <p:sp>
        <p:nvSpPr>
          <p:cNvPr id="30" name="Text 28"/>
          <p:cNvSpPr/>
          <p:nvPr/>
        </p:nvSpPr>
        <p:spPr>
          <a:xfrm>
            <a:off x="1771650" y="5332115"/>
            <a:ext cx="3795499" cy="444500"/>
          </a:xfrm>
          <a:prstGeom prst="rect">
            <a:avLst/>
          </a:prstGeom>
          <a:noFill/>
          <a:ln/>
        </p:spPr>
        <p:txBody>
          <a:bodyPr wrap="square" lIns="25400" tIns="25400" rIns="25400" bIns="25400" rtlCol="0" anchor="ctr">
            <a:normAutofit/>
          </a:bodyPr>
          <a:lstStyle/>
          <a:p>
            <a:pPr marL="0" indent="0" algn="l">
              <a:buNone/>
            </a:pPr>
            <a:r>
              <a:rPr lang="en-US" sz="2175" dirty="0">
                <a:solidFill>
                  <a:srgbClr val="2C333C"/>
                </a:solidFill>
                <a:latin typeface="Arial" pitchFamily="34" charset="0"/>
                <a:ea typeface="Arial" pitchFamily="34" charset="-122"/>
                <a:cs typeface="Arial" pitchFamily="34" charset="-120"/>
              </a:rPr>
              <a:t>鳥取・米子</a:t>
            </a:r>
            <a:endParaRPr lang="en-US" sz="2175" dirty="0"/>
          </a:p>
        </p:txBody>
      </p:sp>
      <p:sp>
        <p:nvSpPr>
          <p:cNvPr id="31" name="Text 29"/>
          <p:cNvSpPr/>
          <p:nvPr/>
        </p:nvSpPr>
        <p:spPr>
          <a:xfrm>
            <a:off x="5789513" y="5332115"/>
            <a:ext cx="4899924" cy="444500"/>
          </a:xfrm>
          <a:prstGeom prst="rect">
            <a:avLst/>
          </a:prstGeom>
          <a:noFill/>
          <a:ln/>
        </p:spPr>
        <p:txBody>
          <a:bodyPr wrap="square" lIns="25400" tIns="25400" rIns="25400" bIns="25400" rtlCol="0" anchor="ctr">
            <a:normAutofit/>
          </a:bodyPr>
          <a:lstStyle/>
          <a:p>
            <a:pPr marL="0" indent="0" algn="l">
              <a:buNone/>
            </a:pPr>
            <a:r>
              <a:rPr lang="en-US" sz="2175" dirty="0">
                <a:solidFill>
                  <a:srgbClr val="7A4438"/>
                </a:solidFill>
                <a:latin typeface="Arial" pitchFamily="34" charset="0"/>
                <a:ea typeface="Arial" pitchFamily="34" charset="-122"/>
                <a:cs typeface="Arial" pitchFamily="34" charset="-120"/>
              </a:rPr>
              <a:t>ウェルネス夜見店</a:t>
            </a:r>
            <a:endParaRPr lang="en-US" sz="2175" dirty="0"/>
          </a:p>
        </p:txBody>
      </p:sp>
      <p:sp>
        <p:nvSpPr>
          <p:cNvPr id="32" name="Text 30"/>
          <p:cNvSpPr/>
          <p:nvPr/>
        </p:nvSpPr>
        <p:spPr>
          <a:xfrm>
            <a:off x="10803434" y="5332115"/>
            <a:ext cx="1143000" cy="444500"/>
          </a:xfrm>
          <a:prstGeom prst="rect">
            <a:avLst/>
          </a:prstGeom>
          <a:noFill/>
          <a:ln/>
        </p:spPr>
        <p:txBody>
          <a:bodyPr wrap="square" lIns="25400" tIns="25400" rIns="25400" bIns="25400" rtlCol="0" anchor="ctr">
            <a:normAutofit/>
          </a:bodyPr>
          <a:lstStyle/>
          <a:p>
            <a:pPr marL="0" indent="0" algn="ctr">
              <a:buNone/>
            </a:pPr>
            <a:r>
              <a:rPr lang="en-US" sz="2175" b="1" dirty="0">
                <a:solidFill>
                  <a:srgbClr val="9A4A38"/>
                </a:solidFill>
                <a:latin typeface="Arial" pitchFamily="34" charset="0"/>
                <a:ea typeface="Arial" pitchFamily="34" charset="-122"/>
                <a:cs typeface="Arial" pitchFamily="34" charset="-120"/>
              </a:rPr>
              <a:t>○ 的中</a:t>
            </a:r>
            <a:endParaRPr lang="en-US" sz="2175" dirty="0"/>
          </a:p>
        </p:txBody>
      </p:sp>
      <p:sp>
        <p:nvSpPr>
          <p:cNvPr id="33" name="Text 31"/>
          <p:cNvSpPr/>
          <p:nvPr/>
        </p:nvSpPr>
        <p:spPr>
          <a:xfrm>
            <a:off x="12213134" y="5332115"/>
            <a:ext cx="5031245" cy="444500"/>
          </a:xfrm>
          <a:prstGeom prst="rect">
            <a:avLst/>
          </a:prstGeom>
          <a:noFill/>
          <a:ln/>
        </p:spPr>
        <p:txBody>
          <a:bodyPr wrap="square" lIns="25400" tIns="25400" rIns="25400" bIns="25400" rtlCol="0" anchor="ctr">
            <a:normAutofit/>
          </a:bodyPr>
          <a:lstStyle/>
          <a:p>
            <a:pPr marL="0" indent="0" algn="l">
              <a:buNone/>
            </a:pPr>
            <a:r>
              <a:rPr lang="en-US" sz="2175" dirty="0">
                <a:solidFill>
                  <a:srgbClr val="9A8076"/>
                </a:solidFill>
                <a:latin typeface="Arial" pitchFamily="34" charset="0"/>
                <a:ea typeface="Arial" pitchFamily="34" charset="-122"/>
                <a:cs typeface="Arial" pitchFamily="34" charset="-120"/>
              </a:rPr>
              <a:t>―</a:t>
            </a:r>
            <a:endParaRPr lang="en-US" sz="2175" dirty="0"/>
          </a:p>
        </p:txBody>
      </p:sp>
      <p:sp>
        <p:nvSpPr>
          <p:cNvPr id="34" name="Shape 32"/>
          <p:cNvSpPr/>
          <p:nvPr/>
        </p:nvSpPr>
        <p:spPr>
          <a:xfrm>
            <a:off x="1028700" y="6567190"/>
            <a:ext cx="16230600" cy="9525"/>
          </a:xfrm>
          <a:prstGeom prst="rect">
            <a:avLst/>
          </a:prstGeom>
          <a:solidFill>
            <a:srgbClr val="E4E0D7"/>
          </a:solidFill>
          <a:ln/>
        </p:spPr>
      </p:sp>
      <p:sp>
        <p:nvSpPr>
          <p:cNvPr id="35" name="Text 33"/>
          <p:cNvSpPr/>
          <p:nvPr/>
        </p:nvSpPr>
        <p:spPr>
          <a:xfrm>
            <a:off x="1066800" y="6024265"/>
            <a:ext cx="495300" cy="444500"/>
          </a:xfrm>
          <a:prstGeom prst="rect">
            <a:avLst/>
          </a:prstGeom>
          <a:noFill/>
          <a:ln/>
        </p:spPr>
        <p:txBody>
          <a:bodyPr wrap="square" lIns="25400" tIns="25400" rIns="25400" bIns="25400" rtlCol="0" anchor="ctr">
            <a:normAutofit/>
          </a:bodyPr>
          <a:lstStyle/>
          <a:p>
            <a:pPr marL="0" indent="0" algn="ctr">
              <a:buNone/>
            </a:pPr>
            <a:r>
              <a:rPr lang="en-US" sz="2175" dirty="0">
                <a:solidFill>
                  <a:srgbClr val="97928A"/>
                </a:solidFill>
                <a:latin typeface="Courier New" pitchFamily="34" charset="0"/>
                <a:ea typeface="Courier New" pitchFamily="34" charset="-122"/>
                <a:cs typeface="Courier New" pitchFamily="34" charset="-120"/>
              </a:rPr>
              <a:t>09</a:t>
            </a:r>
            <a:endParaRPr lang="en-US" sz="2175" dirty="0"/>
          </a:p>
        </p:txBody>
      </p:sp>
      <p:sp>
        <p:nvSpPr>
          <p:cNvPr id="36" name="Text 34"/>
          <p:cNvSpPr/>
          <p:nvPr/>
        </p:nvSpPr>
        <p:spPr>
          <a:xfrm>
            <a:off x="1771650" y="6024265"/>
            <a:ext cx="3795499" cy="444500"/>
          </a:xfrm>
          <a:prstGeom prst="rect">
            <a:avLst/>
          </a:prstGeom>
          <a:noFill/>
          <a:ln/>
        </p:spPr>
        <p:txBody>
          <a:bodyPr wrap="square" lIns="25400" tIns="25400" rIns="25400" bIns="25400" rtlCol="0" anchor="ctr">
            <a:normAutofit/>
          </a:bodyPr>
          <a:lstStyle/>
          <a:p>
            <a:pPr marL="0" indent="0" algn="l">
              <a:buNone/>
            </a:pPr>
            <a:r>
              <a:rPr lang="en-US" sz="2175" dirty="0">
                <a:solidFill>
                  <a:srgbClr val="2C333C"/>
                </a:solidFill>
                <a:latin typeface="Arial" pitchFamily="34" charset="0"/>
                <a:ea typeface="Arial" pitchFamily="34" charset="-122"/>
                <a:cs typeface="Arial" pitchFamily="34" charset="-120"/>
              </a:rPr>
              <a:t>島根・川本</a:t>
            </a:r>
            <a:endParaRPr lang="en-US" sz="2175" dirty="0"/>
          </a:p>
        </p:txBody>
      </p:sp>
      <p:sp>
        <p:nvSpPr>
          <p:cNvPr id="37" name="Text 35"/>
          <p:cNvSpPr/>
          <p:nvPr/>
        </p:nvSpPr>
        <p:spPr>
          <a:xfrm>
            <a:off x="5789513" y="6024265"/>
            <a:ext cx="4899924" cy="444500"/>
          </a:xfrm>
          <a:prstGeom prst="rect">
            <a:avLst/>
          </a:prstGeom>
          <a:noFill/>
          <a:ln/>
        </p:spPr>
        <p:txBody>
          <a:bodyPr wrap="square" lIns="25400" tIns="25400" rIns="25400" bIns="25400" rtlCol="0" anchor="ctr">
            <a:normAutofit/>
          </a:bodyPr>
          <a:lstStyle/>
          <a:p>
            <a:pPr marL="0" indent="0" algn="l">
              <a:buNone/>
            </a:pPr>
            <a:r>
              <a:rPr lang="en-US" sz="2175" dirty="0">
                <a:solidFill>
                  <a:srgbClr val="5A6470"/>
                </a:solidFill>
                <a:latin typeface="Arial" pitchFamily="34" charset="0"/>
                <a:ea typeface="Arial" pitchFamily="34" charset="-122"/>
                <a:cs typeface="Arial" pitchFamily="34" charset="-120"/>
              </a:rPr>
              <a:t>ウェルネス川本店</a:t>
            </a:r>
            <a:endParaRPr lang="en-US" sz="2175" dirty="0"/>
          </a:p>
        </p:txBody>
      </p:sp>
      <p:sp>
        <p:nvSpPr>
          <p:cNvPr id="38" name="Text 36"/>
          <p:cNvSpPr/>
          <p:nvPr/>
        </p:nvSpPr>
        <p:spPr>
          <a:xfrm>
            <a:off x="10803434" y="6024265"/>
            <a:ext cx="1143000" cy="444500"/>
          </a:xfrm>
          <a:prstGeom prst="rect">
            <a:avLst/>
          </a:prstGeom>
          <a:noFill/>
          <a:ln/>
        </p:spPr>
        <p:txBody>
          <a:bodyPr wrap="square" lIns="25400" tIns="25400" rIns="25400" bIns="25400" rtlCol="0" anchor="ctr">
            <a:normAutofit/>
          </a:bodyPr>
          <a:lstStyle/>
          <a:p>
            <a:pPr marL="0" indent="0" algn="ctr">
              <a:buNone/>
            </a:pPr>
            <a:r>
              <a:rPr lang="en-US" sz="2175" dirty="0">
                <a:solidFill>
                  <a:srgbClr val="97928A"/>
                </a:solidFill>
                <a:latin typeface="Arial" pitchFamily="34" charset="0"/>
                <a:ea typeface="Arial" pitchFamily="34" charset="-122"/>
                <a:cs typeface="Arial" pitchFamily="34" charset="-120"/>
              </a:rPr>
              <a:t>×</a:t>
            </a:r>
            <a:endParaRPr lang="en-US" sz="2175" dirty="0"/>
          </a:p>
        </p:txBody>
      </p:sp>
      <p:sp>
        <p:nvSpPr>
          <p:cNvPr id="39" name="Text 37"/>
          <p:cNvSpPr/>
          <p:nvPr/>
        </p:nvSpPr>
        <p:spPr>
          <a:xfrm>
            <a:off x="12213134" y="6024265"/>
            <a:ext cx="5031245" cy="444500"/>
          </a:xfrm>
          <a:prstGeom prst="rect">
            <a:avLst/>
          </a:prstGeom>
          <a:noFill/>
          <a:ln/>
        </p:spPr>
        <p:txBody>
          <a:bodyPr wrap="square" lIns="25400" tIns="25400" rIns="25400" bIns="25400" rtlCol="0" anchor="ctr">
            <a:normAutofit/>
          </a:bodyPr>
          <a:lstStyle/>
          <a:p>
            <a:pPr marL="0" indent="0" algn="l">
              <a:buNone/>
            </a:pPr>
            <a:r>
              <a:rPr lang="en-US" sz="2175" dirty="0">
                <a:solidFill>
                  <a:srgbClr val="5A6470"/>
                </a:solidFill>
                <a:latin typeface="Arial" pitchFamily="34" charset="0"/>
                <a:ea typeface="Arial" pitchFamily="34" charset="-122"/>
                <a:cs typeface="Arial" pitchFamily="34" charset="-120"/>
              </a:rPr>
              <a:t>過大計上（HC・スーパー）</a:t>
            </a:r>
            <a:endParaRPr lang="en-US" sz="2175" dirty="0"/>
          </a:p>
        </p:txBody>
      </p:sp>
      <p:sp>
        <p:nvSpPr>
          <p:cNvPr id="40" name="Shape 38"/>
          <p:cNvSpPr/>
          <p:nvPr/>
        </p:nvSpPr>
        <p:spPr>
          <a:xfrm>
            <a:off x="1028700" y="6573540"/>
            <a:ext cx="16230600" cy="692150"/>
          </a:xfrm>
          <a:prstGeom prst="rect">
            <a:avLst/>
          </a:prstGeom>
          <a:solidFill>
            <a:srgbClr val="F6ECE8"/>
          </a:solidFill>
          <a:ln/>
        </p:spPr>
      </p:sp>
      <p:sp>
        <p:nvSpPr>
          <p:cNvPr id="41" name="Shape 39"/>
          <p:cNvSpPr/>
          <p:nvPr/>
        </p:nvSpPr>
        <p:spPr>
          <a:xfrm>
            <a:off x="1028700" y="7259340"/>
            <a:ext cx="16230600" cy="9525"/>
          </a:xfrm>
          <a:prstGeom prst="rect">
            <a:avLst/>
          </a:prstGeom>
          <a:solidFill>
            <a:srgbClr val="EAD9D3"/>
          </a:solidFill>
          <a:ln/>
        </p:spPr>
      </p:sp>
      <p:sp>
        <p:nvSpPr>
          <p:cNvPr id="42" name="Text 40"/>
          <p:cNvSpPr/>
          <p:nvPr/>
        </p:nvSpPr>
        <p:spPr>
          <a:xfrm>
            <a:off x="1066800" y="6716415"/>
            <a:ext cx="495300" cy="444500"/>
          </a:xfrm>
          <a:prstGeom prst="rect">
            <a:avLst/>
          </a:prstGeom>
          <a:noFill/>
          <a:ln/>
        </p:spPr>
        <p:txBody>
          <a:bodyPr wrap="square" lIns="25400" tIns="25400" rIns="25400" bIns="25400" rtlCol="0" anchor="ctr">
            <a:normAutofit/>
          </a:bodyPr>
          <a:lstStyle/>
          <a:p>
            <a:pPr marL="0" indent="0" algn="ctr">
              <a:buNone/>
            </a:pPr>
            <a:r>
              <a:rPr lang="en-US" sz="2175" dirty="0">
                <a:solidFill>
                  <a:srgbClr val="9A4A38"/>
                </a:solidFill>
                <a:latin typeface="Courier New" pitchFamily="34" charset="0"/>
                <a:ea typeface="Courier New" pitchFamily="34" charset="-122"/>
                <a:cs typeface="Courier New" pitchFamily="34" charset="-120"/>
              </a:rPr>
              <a:t>10</a:t>
            </a:r>
            <a:endParaRPr lang="en-US" sz="2175" dirty="0"/>
          </a:p>
        </p:txBody>
      </p:sp>
      <p:sp>
        <p:nvSpPr>
          <p:cNvPr id="43" name="Text 41"/>
          <p:cNvSpPr/>
          <p:nvPr/>
        </p:nvSpPr>
        <p:spPr>
          <a:xfrm>
            <a:off x="1771650" y="6716415"/>
            <a:ext cx="3795499" cy="444500"/>
          </a:xfrm>
          <a:prstGeom prst="rect">
            <a:avLst/>
          </a:prstGeom>
          <a:noFill/>
          <a:ln/>
        </p:spPr>
        <p:txBody>
          <a:bodyPr wrap="square" lIns="25400" tIns="25400" rIns="25400" bIns="25400" rtlCol="0" anchor="ctr">
            <a:normAutofit/>
          </a:bodyPr>
          <a:lstStyle/>
          <a:p>
            <a:pPr marL="0" indent="0" algn="l">
              <a:buNone/>
            </a:pPr>
            <a:r>
              <a:rPr lang="en-US" sz="2175" dirty="0">
                <a:solidFill>
                  <a:srgbClr val="2C333C"/>
                </a:solidFill>
                <a:latin typeface="Arial" pitchFamily="34" charset="0"/>
                <a:ea typeface="Arial" pitchFamily="34" charset="-122"/>
                <a:cs typeface="Arial" pitchFamily="34" charset="-120"/>
              </a:rPr>
              <a:t>愛媛・今治</a:t>
            </a:r>
            <a:endParaRPr lang="en-US" sz="2175" dirty="0"/>
          </a:p>
        </p:txBody>
      </p:sp>
      <p:sp>
        <p:nvSpPr>
          <p:cNvPr id="44" name="Text 42"/>
          <p:cNvSpPr/>
          <p:nvPr/>
        </p:nvSpPr>
        <p:spPr>
          <a:xfrm>
            <a:off x="5789513" y="6716415"/>
            <a:ext cx="4899924" cy="444500"/>
          </a:xfrm>
          <a:prstGeom prst="rect">
            <a:avLst/>
          </a:prstGeom>
          <a:noFill/>
          <a:ln/>
        </p:spPr>
        <p:txBody>
          <a:bodyPr wrap="square" lIns="25400" tIns="25400" rIns="25400" bIns="25400" rtlCol="0" anchor="ctr">
            <a:normAutofit/>
          </a:bodyPr>
          <a:lstStyle/>
          <a:p>
            <a:pPr marL="0" indent="0" algn="l">
              <a:buNone/>
            </a:pPr>
            <a:r>
              <a:rPr lang="en-US" sz="2175" dirty="0">
                <a:solidFill>
                  <a:srgbClr val="7A4438"/>
                </a:solidFill>
                <a:latin typeface="Arial" pitchFamily="34" charset="0"/>
                <a:ea typeface="Arial" pitchFamily="34" charset="-122"/>
                <a:cs typeface="Arial" pitchFamily="34" charset="-120"/>
              </a:rPr>
              <a:t>くすりのレデイ波止浜店</a:t>
            </a:r>
            <a:endParaRPr lang="en-US" sz="2175" dirty="0"/>
          </a:p>
        </p:txBody>
      </p:sp>
      <p:sp>
        <p:nvSpPr>
          <p:cNvPr id="45" name="Text 43"/>
          <p:cNvSpPr/>
          <p:nvPr/>
        </p:nvSpPr>
        <p:spPr>
          <a:xfrm>
            <a:off x="10803434" y="6716415"/>
            <a:ext cx="1143000" cy="444500"/>
          </a:xfrm>
          <a:prstGeom prst="rect">
            <a:avLst/>
          </a:prstGeom>
          <a:noFill/>
          <a:ln/>
        </p:spPr>
        <p:txBody>
          <a:bodyPr wrap="square" lIns="25400" tIns="25400" rIns="25400" bIns="25400" rtlCol="0" anchor="ctr">
            <a:normAutofit/>
          </a:bodyPr>
          <a:lstStyle/>
          <a:p>
            <a:pPr marL="0" indent="0" algn="ctr">
              <a:buNone/>
            </a:pPr>
            <a:r>
              <a:rPr lang="en-US" sz="2175" b="1" dirty="0">
                <a:solidFill>
                  <a:srgbClr val="9A4A38"/>
                </a:solidFill>
                <a:latin typeface="Arial" pitchFamily="34" charset="0"/>
                <a:ea typeface="Arial" pitchFamily="34" charset="-122"/>
                <a:cs typeface="Arial" pitchFamily="34" charset="-120"/>
              </a:rPr>
              <a:t>○ 的中</a:t>
            </a:r>
            <a:endParaRPr lang="en-US" sz="2175" dirty="0"/>
          </a:p>
        </p:txBody>
      </p:sp>
      <p:sp>
        <p:nvSpPr>
          <p:cNvPr id="46" name="Text 44"/>
          <p:cNvSpPr/>
          <p:nvPr/>
        </p:nvSpPr>
        <p:spPr>
          <a:xfrm>
            <a:off x="12213134" y="6716415"/>
            <a:ext cx="5031245" cy="444500"/>
          </a:xfrm>
          <a:prstGeom prst="rect">
            <a:avLst/>
          </a:prstGeom>
          <a:noFill/>
          <a:ln/>
        </p:spPr>
        <p:txBody>
          <a:bodyPr wrap="square" lIns="25400" tIns="25400" rIns="25400" bIns="25400" rtlCol="0" anchor="ctr">
            <a:normAutofit/>
          </a:bodyPr>
          <a:lstStyle/>
          <a:p>
            <a:pPr marL="0" indent="0" algn="l">
              <a:buNone/>
            </a:pPr>
            <a:r>
              <a:rPr lang="en-US" sz="2175" dirty="0">
                <a:solidFill>
                  <a:srgbClr val="9A8076"/>
                </a:solidFill>
                <a:latin typeface="Arial" pitchFamily="34" charset="0"/>
                <a:ea typeface="Arial" pitchFamily="34" charset="-122"/>
                <a:cs typeface="Arial" pitchFamily="34" charset="-120"/>
              </a:rPr>
              <a:t>―</a:t>
            </a:r>
            <a:endParaRPr lang="en-US" sz="2175" dirty="0"/>
          </a:p>
        </p:txBody>
      </p:sp>
      <p:sp>
        <p:nvSpPr>
          <p:cNvPr id="47" name="Shape 45"/>
          <p:cNvSpPr/>
          <p:nvPr/>
        </p:nvSpPr>
        <p:spPr>
          <a:xfrm>
            <a:off x="1028700" y="7440315"/>
            <a:ext cx="4613771" cy="1136650"/>
          </a:xfrm>
          <a:prstGeom prst="roundRect">
            <a:avLst>
              <a:gd name="adj" fmla="val 6704"/>
            </a:avLst>
          </a:prstGeom>
          <a:solidFill>
            <a:srgbClr val="9A4A38"/>
          </a:solidFill>
          <a:ln/>
        </p:spPr>
      </p:sp>
      <p:sp>
        <p:nvSpPr>
          <p:cNvPr id="48" name="Text 46"/>
          <p:cNvSpPr/>
          <p:nvPr/>
        </p:nvSpPr>
        <p:spPr>
          <a:xfrm>
            <a:off x="1276350" y="7611765"/>
            <a:ext cx="339229" cy="476250"/>
          </a:xfrm>
          <a:prstGeom prst="rect">
            <a:avLst/>
          </a:prstGeom>
          <a:noFill/>
          <a:ln/>
        </p:spPr>
        <p:txBody>
          <a:bodyPr wrap="square" lIns="25400" tIns="25400" rIns="25400" bIns="25400" rtlCol="0" anchor="t">
            <a:normAutofit/>
          </a:bodyPr>
          <a:lstStyle/>
          <a:p>
            <a:pPr marL="0" indent="0" algn="l">
              <a:lnSpc>
                <a:spcPct val="100000"/>
              </a:lnSpc>
              <a:buNone/>
            </a:pPr>
            <a:r>
              <a:rPr lang="en-US" sz="3450" b="1" dirty="0">
                <a:solidFill>
                  <a:srgbClr val="FFFFFF"/>
                </a:solidFill>
                <a:latin typeface="Courier New" pitchFamily="34" charset="0"/>
                <a:ea typeface="Courier New" pitchFamily="34" charset="-122"/>
                <a:cs typeface="Courier New" pitchFamily="34" charset="-120"/>
              </a:rPr>
              <a:t>2</a:t>
            </a:r>
            <a:endParaRPr lang="en-US" sz="3450" dirty="0"/>
          </a:p>
        </p:txBody>
      </p:sp>
      <p:sp>
        <p:nvSpPr>
          <p:cNvPr id="49" name="Text 47"/>
          <p:cNvSpPr/>
          <p:nvPr/>
        </p:nvSpPr>
        <p:spPr>
          <a:xfrm>
            <a:off x="1672729" y="7643515"/>
            <a:ext cx="1092101" cy="412750"/>
          </a:xfrm>
          <a:prstGeom prst="rect">
            <a:avLst/>
          </a:prstGeom>
          <a:noFill/>
          <a:ln/>
        </p:spPr>
        <p:txBody>
          <a:bodyPr wrap="square" lIns="25400" tIns="25400" rIns="25400" bIns="25400" rtlCol="0" anchor="t">
            <a:normAutofit/>
          </a:bodyPr>
          <a:lstStyle/>
          <a:p>
            <a:pPr marL="0" indent="0" algn="l">
              <a:buNone/>
            </a:pPr>
            <a:r>
              <a:rPr lang="en-US" sz="2025" dirty="0">
                <a:solidFill>
                  <a:srgbClr val="EAD2CA"/>
                </a:solidFill>
                <a:latin typeface="Arial" pitchFamily="34" charset="0"/>
                <a:ea typeface="Arial" pitchFamily="34" charset="-122"/>
                <a:cs typeface="Arial" pitchFamily="34" charset="-120"/>
              </a:rPr>
              <a:t>的中 / 10</a:t>
            </a:r>
            <a:endParaRPr lang="en-US" sz="2025" dirty="0"/>
          </a:p>
        </p:txBody>
      </p:sp>
      <p:sp>
        <p:nvSpPr>
          <p:cNvPr id="50" name="Shape 48"/>
          <p:cNvSpPr/>
          <p:nvPr/>
        </p:nvSpPr>
        <p:spPr>
          <a:xfrm>
            <a:off x="5794871" y="7440315"/>
            <a:ext cx="6273800" cy="1136650"/>
          </a:xfrm>
          <a:prstGeom prst="roundRect">
            <a:avLst>
              <a:gd name="adj" fmla="val 6704"/>
            </a:avLst>
          </a:prstGeom>
          <a:solidFill>
            <a:srgbClr val="FFFFFF"/>
          </a:solidFill>
          <a:ln w="6350">
            <a:solidFill>
              <a:srgbClr val="E0DCD2"/>
            </a:solidFill>
            <a:prstDash val="solid"/>
          </a:ln>
        </p:spPr>
      </p:sp>
      <p:sp>
        <p:nvSpPr>
          <p:cNvPr id="51" name="Text 49"/>
          <p:cNvSpPr/>
          <p:nvPr/>
        </p:nvSpPr>
        <p:spPr>
          <a:xfrm>
            <a:off x="6048871" y="7618115"/>
            <a:ext cx="339229" cy="476250"/>
          </a:xfrm>
          <a:prstGeom prst="rect">
            <a:avLst/>
          </a:prstGeom>
          <a:noFill/>
          <a:ln/>
        </p:spPr>
        <p:txBody>
          <a:bodyPr wrap="square" lIns="25400" tIns="25400" rIns="25400" bIns="25400" rtlCol="0" anchor="t">
            <a:normAutofit/>
          </a:bodyPr>
          <a:lstStyle/>
          <a:p>
            <a:pPr marL="0" indent="0" algn="l">
              <a:lnSpc>
                <a:spcPct val="100000"/>
              </a:lnSpc>
              <a:buNone/>
            </a:pPr>
            <a:r>
              <a:rPr lang="en-US" sz="3450" b="1" dirty="0">
                <a:solidFill>
                  <a:srgbClr val="3A4A56"/>
                </a:solidFill>
                <a:latin typeface="Courier New" pitchFamily="34" charset="0"/>
                <a:ea typeface="Courier New" pitchFamily="34" charset="-122"/>
                <a:cs typeface="Courier New" pitchFamily="34" charset="-120"/>
              </a:rPr>
              <a:t>8</a:t>
            </a:r>
            <a:endParaRPr lang="en-US" sz="3450" dirty="0"/>
          </a:p>
        </p:txBody>
      </p:sp>
      <p:sp>
        <p:nvSpPr>
          <p:cNvPr id="52" name="Text 50"/>
          <p:cNvSpPr/>
          <p:nvPr/>
        </p:nvSpPr>
        <p:spPr>
          <a:xfrm>
            <a:off x="6445250" y="7649865"/>
            <a:ext cx="5530504" cy="787400"/>
          </a:xfrm>
          <a:prstGeom prst="rect">
            <a:avLst/>
          </a:prstGeom>
          <a:noFill/>
          <a:ln/>
        </p:spPr>
        <p:txBody>
          <a:bodyPr wrap="square" lIns="25400" tIns="25400" rIns="25400" bIns="25400" rtlCol="0" anchor="t">
            <a:normAutofit/>
          </a:bodyPr>
          <a:lstStyle/>
          <a:p>
            <a:pPr marL="0" indent="0" algn="l">
              <a:buNone/>
            </a:pPr>
            <a:r>
              <a:rPr lang="en-US" sz="2025" dirty="0">
                <a:solidFill>
                  <a:srgbClr val="5A6470"/>
                </a:solidFill>
                <a:latin typeface="Arial" pitchFamily="34" charset="0"/>
                <a:ea typeface="Arial" pitchFamily="34" charset="-122"/>
                <a:cs typeface="Arial" pitchFamily="34" charset="-120"/>
              </a:rPr>
              <a:t>取りこぼし </a:t>
            </a:r>
            <a:r>
              <a:rPr lang="en-US" sz="1875" dirty="0">
                <a:solidFill>
                  <a:srgbClr val="97928A"/>
                </a:solidFill>
                <a:latin typeface="Arial" pitchFamily="34" charset="0"/>
                <a:ea typeface="Arial" pitchFamily="34" charset="-122"/>
                <a:cs typeface="Arial" pitchFamily="34" charset="-120"/>
              </a:rPr>
              <a:t>（データ漏れ3・過大計上4・措置後1）</a:t>
            </a:r>
            <a:endParaRPr lang="en-US" sz="2025" dirty="0"/>
          </a:p>
        </p:txBody>
      </p:sp>
      <p:sp>
        <p:nvSpPr>
          <p:cNvPr id="53" name="Shape 51"/>
          <p:cNvSpPr/>
          <p:nvPr/>
        </p:nvSpPr>
        <p:spPr>
          <a:xfrm>
            <a:off x="12221071" y="7440315"/>
            <a:ext cx="5038229" cy="1136650"/>
          </a:xfrm>
          <a:prstGeom prst="roundRect">
            <a:avLst>
              <a:gd name="adj" fmla="val 6704"/>
            </a:avLst>
          </a:prstGeom>
          <a:solidFill>
            <a:srgbClr val="FFFFFF"/>
          </a:solidFill>
          <a:ln w="6350">
            <a:solidFill>
              <a:srgbClr val="E0DCD2"/>
            </a:solidFill>
            <a:prstDash val="solid"/>
          </a:ln>
        </p:spPr>
      </p:sp>
      <p:sp>
        <p:nvSpPr>
          <p:cNvPr id="54" name="Text 52"/>
          <p:cNvSpPr/>
          <p:nvPr/>
        </p:nvSpPr>
        <p:spPr>
          <a:xfrm>
            <a:off x="12475071" y="7618115"/>
            <a:ext cx="602159" cy="476250"/>
          </a:xfrm>
          <a:prstGeom prst="rect">
            <a:avLst/>
          </a:prstGeom>
          <a:noFill/>
          <a:ln/>
        </p:spPr>
        <p:txBody>
          <a:bodyPr wrap="square" lIns="25400" tIns="25400" rIns="25400" bIns="25400" rtlCol="0" anchor="t">
            <a:normAutofit/>
          </a:bodyPr>
          <a:lstStyle/>
          <a:p>
            <a:pPr marL="0" indent="0" algn="l">
              <a:lnSpc>
                <a:spcPct val="100000"/>
              </a:lnSpc>
              <a:buNone/>
            </a:pPr>
            <a:r>
              <a:rPr lang="en-US" sz="3450" b="1" dirty="0">
                <a:solidFill>
                  <a:srgbClr val="3A4A56"/>
                </a:solidFill>
                <a:latin typeface="Courier New" pitchFamily="34" charset="0"/>
                <a:ea typeface="Courier New" pitchFamily="34" charset="-122"/>
                <a:cs typeface="Courier New" pitchFamily="34" charset="-120"/>
              </a:rPr>
              <a:t>13</a:t>
            </a:r>
            <a:endParaRPr lang="en-US" sz="3450" dirty="0"/>
          </a:p>
        </p:txBody>
      </p:sp>
      <p:sp>
        <p:nvSpPr>
          <p:cNvPr id="55" name="Text 53"/>
          <p:cNvSpPr/>
          <p:nvPr/>
        </p:nvSpPr>
        <p:spPr>
          <a:xfrm>
            <a:off x="13134380" y="7649865"/>
            <a:ext cx="2546033" cy="412750"/>
          </a:xfrm>
          <a:prstGeom prst="rect">
            <a:avLst/>
          </a:prstGeom>
          <a:noFill/>
          <a:ln/>
        </p:spPr>
        <p:txBody>
          <a:bodyPr wrap="square" lIns="25400" tIns="25400" rIns="25400" bIns="25400" rtlCol="0" anchor="t">
            <a:normAutofit/>
          </a:bodyPr>
          <a:lstStyle/>
          <a:p>
            <a:pPr marL="0" indent="0" algn="l">
              <a:buNone/>
            </a:pPr>
            <a:r>
              <a:rPr lang="en-US" sz="2025" dirty="0">
                <a:solidFill>
                  <a:srgbClr val="5A6470"/>
                </a:solidFill>
                <a:latin typeface="Arial" pitchFamily="34" charset="0"/>
                <a:ea typeface="Arial" pitchFamily="34" charset="-122"/>
                <a:cs typeface="Arial" pitchFamily="34" charset="-120"/>
              </a:rPr>
              <a:t>新規検出（偽陽性）</a:t>
            </a:r>
            <a:endParaRPr lang="en-US" sz="2025" dirty="0"/>
          </a:p>
        </p:txBody>
      </p:sp>
      <p:sp>
        <p:nvSpPr>
          <p:cNvPr id="56" name="Shape 54"/>
          <p:cNvSpPr/>
          <p:nvPr/>
        </p:nvSpPr>
        <p:spPr>
          <a:xfrm>
            <a:off x="1028700" y="9315450"/>
            <a:ext cx="16230600" cy="9525"/>
          </a:xfrm>
          <a:prstGeom prst="rect">
            <a:avLst/>
          </a:prstGeom>
          <a:solidFill>
            <a:srgbClr val="E4E0D7"/>
          </a:solidFill>
          <a:ln/>
        </p:spPr>
      </p:sp>
      <p:sp>
        <p:nvSpPr>
          <p:cNvPr id="57" name="Text 55"/>
          <p:cNvSpPr/>
          <p:nvPr/>
        </p:nvSpPr>
        <p:spPr>
          <a:xfrm>
            <a:off x="1028700" y="9455150"/>
            <a:ext cx="10351552" cy="393700"/>
          </a:xfrm>
          <a:prstGeom prst="rect">
            <a:avLst/>
          </a:prstGeom>
          <a:noFill/>
          <a:ln/>
        </p:spPr>
        <p:txBody>
          <a:bodyPr wrap="square" lIns="25400" tIns="25400" rIns="25400" bIns="25400" rtlCol="0" anchor="t">
            <a:normAutofit/>
          </a:bodyPr>
          <a:lstStyle/>
          <a:p>
            <a:pPr marL="0" indent="0" algn="l">
              <a:buNone/>
            </a:pPr>
            <a:r>
              <a:rPr lang="en-US" sz="1950" dirty="0">
                <a:solidFill>
                  <a:srgbClr val="97928A"/>
                </a:solidFill>
                <a:latin typeface="Arial" pitchFamily="34" charset="0"/>
                <a:ea typeface="Arial" pitchFamily="34" charset="-122"/>
                <a:cs typeface="Arial" pitchFamily="34" charset="-120"/>
              </a:rPr>
              <a:t>出典：公正取引委員会 審査結果詳細・経済分析報告書（令和7年4月30日）／別添表1</a:t>
            </a:r>
            <a:endParaRPr lang="en-US" sz="1950" dirty="0"/>
          </a:p>
        </p:txBody>
      </p:sp>
      <p:sp>
        <p:nvSpPr>
          <p:cNvPr id="58" name="Text 56"/>
          <p:cNvSpPr/>
          <p:nvPr/>
        </p:nvSpPr>
        <p:spPr>
          <a:xfrm>
            <a:off x="16115109" y="9471025"/>
            <a:ext cx="1220391" cy="361950"/>
          </a:xfrm>
          <a:prstGeom prst="rect">
            <a:avLst/>
          </a:prstGeom>
          <a:noFill/>
          <a:ln/>
        </p:spPr>
        <p:txBody>
          <a:bodyPr wrap="square" lIns="25400" tIns="25400" rIns="25400" bIns="25400" rtlCol="0" anchor="t">
            <a:normAutofit/>
          </a:bodyPr>
          <a:lstStyle/>
          <a:p>
            <a:pPr marL="0" indent="0" algn="l">
              <a:buNone/>
            </a:pPr>
            <a:r>
              <a:rPr lang="en-US" sz="1950" kern="0" spc="117" dirty="0">
                <a:solidFill>
                  <a:srgbClr val="97928A"/>
                </a:solidFill>
                <a:latin typeface="Courier New" pitchFamily="34" charset="0"/>
                <a:ea typeface="Courier New" pitchFamily="34" charset="-122"/>
                <a:cs typeface="Courier New" pitchFamily="34" charset="-120"/>
              </a:rPr>
              <a:t>13 / 27</a:t>
            </a:r>
            <a:endParaRPr lang="en-US" sz="1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6F2"/>
        </a:solidFill>
        <a:effectLst/>
      </p:bgPr>
    </p:bg>
    <p:spTree>
      <p:nvGrpSpPr>
        <p:cNvPr id="1" name=""/>
        <p:cNvGrpSpPr/>
        <p:nvPr/>
      </p:nvGrpSpPr>
      <p:grpSpPr>
        <a:xfrm>
          <a:off x="0" y="0"/>
          <a:ext cx="0" cy="0"/>
          <a:chOff x="0" y="0"/>
          <a:chExt cx="0" cy="0"/>
        </a:xfrm>
      </p:grpSpPr>
      <p:sp>
        <p:nvSpPr>
          <p:cNvPr id="2" name="Shape 0"/>
          <p:cNvSpPr/>
          <p:nvPr/>
        </p:nvSpPr>
        <p:spPr>
          <a:xfrm>
            <a:off x="1028700" y="801688"/>
            <a:ext cx="304800" cy="28575"/>
          </a:xfrm>
          <a:prstGeom prst="rect">
            <a:avLst/>
          </a:prstGeom>
          <a:solidFill>
            <a:srgbClr val="9A4A38"/>
          </a:solidFill>
          <a:ln/>
        </p:spPr>
      </p:sp>
      <p:sp>
        <p:nvSpPr>
          <p:cNvPr id="3" name="Text 1"/>
          <p:cNvSpPr/>
          <p:nvPr/>
        </p:nvSpPr>
        <p:spPr>
          <a:xfrm>
            <a:off x="1466850" y="628650"/>
            <a:ext cx="4546144" cy="412750"/>
          </a:xfrm>
          <a:prstGeom prst="rect">
            <a:avLst/>
          </a:prstGeom>
          <a:noFill/>
          <a:ln/>
        </p:spPr>
        <p:txBody>
          <a:bodyPr wrap="square" lIns="25400" tIns="25400" rIns="25400" bIns="25400" rtlCol="0" anchor="t">
            <a:normAutofit/>
          </a:bodyPr>
          <a:lstStyle/>
          <a:p>
            <a:pPr marL="0" indent="0" algn="l">
              <a:buNone/>
            </a:pPr>
            <a:r>
              <a:rPr lang="en-US" sz="2025" kern="0" spc="203" dirty="0">
                <a:solidFill>
                  <a:srgbClr val="5A6470"/>
                </a:solidFill>
                <a:latin typeface="Arial" pitchFamily="34" charset="0"/>
                <a:ea typeface="Arial" pitchFamily="34" charset="-122"/>
                <a:cs typeface="Arial" pitchFamily="34" charset="-120"/>
              </a:rPr>
              <a:t>第2部 再現① 地理的市場画定</a:t>
            </a:r>
            <a:endParaRPr lang="en-US" sz="2025" dirty="0"/>
          </a:p>
        </p:txBody>
      </p:sp>
      <p:sp>
        <p:nvSpPr>
          <p:cNvPr id="4" name="Text 2"/>
          <p:cNvSpPr/>
          <p:nvPr/>
        </p:nvSpPr>
        <p:spPr>
          <a:xfrm>
            <a:off x="1028700" y="1174750"/>
            <a:ext cx="17853660" cy="624384"/>
          </a:xfrm>
          <a:prstGeom prst="rect">
            <a:avLst/>
          </a:prstGeom>
          <a:noFill/>
          <a:ln/>
        </p:spPr>
        <p:txBody>
          <a:bodyPr wrap="square" lIns="25400" tIns="25400" rIns="25400" bIns="25400" rtlCol="0" anchor="t">
            <a:normAutofit/>
          </a:bodyPr>
          <a:lstStyle/>
          <a:p>
            <a:pPr marL="0" indent="0" algn="l">
              <a:lnSpc>
                <a:spcPct val="114000"/>
              </a:lnSpc>
              <a:buNone/>
            </a:pPr>
            <a:r>
              <a:rPr lang="en-US" sz="4050" b="1" dirty="0">
                <a:solidFill>
                  <a:srgbClr val="1F2730"/>
                </a:solidFill>
                <a:latin typeface="Arial" pitchFamily="34" charset="0"/>
                <a:ea typeface="Arial" pitchFamily="34" charset="-122"/>
                <a:cs typeface="Arial" pitchFamily="34" charset="-120"/>
              </a:rPr>
              <a:t>含意：機械的判定は個別審査を代替しない</a:t>
            </a:r>
            <a:endParaRPr lang="en-US" sz="4050" dirty="0"/>
          </a:p>
        </p:txBody>
      </p:sp>
      <p:sp>
        <p:nvSpPr>
          <p:cNvPr id="5" name="Text 3"/>
          <p:cNvSpPr/>
          <p:nvPr/>
        </p:nvSpPr>
        <p:spPr>
          <a:xfrm>
            <a:off x="1028700" y="1894384"/>
            <a:ext cx="16344900" cy="519212"/>
          </a:xfrm>
          <a:prstGeom prst="rect">
            <a:avLst/>
          </a:prstGeom>
          <a:noFill/>
          <a:ln/>
        </p:spPr>
        <p:txBody>
          <a:bodyPr wrap="square" lIns="25400" tIns="25400" rIns="25400" bIns="25400" rtlCol="0" anchor="t">
            <a:normAutofit/>
          </a:bodyPr>
          <a:lstStyle/>
          <a:p>
            <a:pPr marL="0" indent="0" algn="l">
              <a:lnSpc>
                <a:spcPct val="145000"/>
              </a:lnSpc>
              <a:buNone/>
            </a:pPr>
            <a:r>
              <a:rPr lang="en-US" sz="2475" dirty="0">
                <a:solidFill>
                  <a:srgbClr val="4A5560"/>
                </a:solidFill>
                <a:latin typeface="Arial" pitchFamily="34" charset="0"/>
                <a:ea typeface="Arial" pitchFamily="34" charset="-122"/>
                <a:cs typeface="Arial" pitchFamily="34" charset="-120"/>
              </a:rPr>
              <a:t>的中2割・偽陽性13という</a:t>
            </a:r>
            <a:r>
              <a:rPr lang="en-US" sz="2475" b="1" dirty="0">
                <a:solidFill>
                  <a:srgbClr val="4A5560"/>
                </a:solidFill>
                <a:latin typeface="Arial" pitchFamily="34" charset="0"/>
                <a:ea typeface="Arial" pitchFamily="34" charset="-122"/>
                <a:cs typeface="Arial" pitchFamily="34" charset="-120"/>
              </a:rPr>
              <a:t>乖離そのもの</a:t>
            </a:r>
            <a:r>
              <a:rPr lang="en-US" sz="2475" dirty="0">
                <a:solidFill>
                  <a:srgbClr val="4A5560"/>
                </a:solidFill>
                <a:latin typeface="Arial" pitchFamily="34" charset="0"/>
                <a:ea typeface="Arial" pitchFamily="34" charset="-122"/>
                <a:cs typeface="Arial" pitchFamily="34" charset="-120"/>
              </a:rPr>
              <a:t>が、公取委が個別審査を要した理由を裏づける。</a:t>
            </a:r>
            <a:endParaRPr lang="en-US" sz="2475" dirty="0"/>
          </a:p>
        </p:txBody>
      </p:sp>
      <p:sp>
        <p:nvSpPr>
          <p:cNvPr id="6" name="Shape 4"/>
          <p:cNvSpPr/>
          <p:nvPr/>
        </p:nvSpPr>
        <p:spPr>
          <a:xfrm>
            <a:off x="1028700" y="2585045"/>
            <a:ext cx="6622951" cy="6501805"/>
          </a:xfrm>
          <a:prstGeom prst="roundRect">
            <a:avLst>
              <a:gd name="adj" fmla="val 1758"/>
            </a:avLst>
          </a:prstGeom>
          <a:solidFill>
            <a:srgbClr val="2E3B45"/>
          </a:solidFill>
          <a:ln/>
        </p:spPr>
      </p:sp>
      <p:sp>
        <p:nvSpPr>
          <p:cNvPr id="7" name="Text 5"/>
          <p:cNvSpPr/>
          <p:nvPr/>
        </p:nvSpPr>
        <p:spPr>
          <a:xfrm>
            <a:off x="1390650" y="4205585"/>
            <a:ext cx="647799" cy="895350"/>
          </a:xfrm>
          <a:prstGeom prst="rect">
            <a:avLst/>
          </a:prstGeom>
          <a:noFill/>
          <a:ln/>
        </p:spPr>
        <p:txBody>
          <a:bodyPr wrap="square" lIns="25400" tIns="25400" rIns="25400" bIns="25400" rtlCol="0" anchor="t">
            <a:normAutofit/>
          </a:bodyPr>
          <a:lstStyle/>
          <a:p>
            <a:pPr marL="0" indent="0" algn="l">
              <a:lnSpc>
                <a:spcPct val="90000"/>
              </a:lnSpc>
              <a:buNone/>
            </a:pPr>
            <a:r>
              <a:rPr lang="en-US" sz="7500" b="1" dirty="0">
                <a:solidFill>
                  <a:srgbClr val="CC7159"/>
                </a:solidFill>
                <a:latin typeface="Courier New" pitchFamily="34" charset="0"/>
                <a:ea typeface="Courier New" pitchFamily="34" charset="-122"/>
                <a:cs typeface="Courier New" pitchFamily="34" charset="-120"/>
              </a:rPr>
              <a:t>2</a:t>
            </a:r>
            <a:endParaRPr lang="en-US" sz="7500" dirty="0"/>
          </a:p>
        </p:txBody>
      </p:sp>
      <p:sp>
        <p:nvSpPr>
          <p:cNvPr id="8" name="Text 6"/>
          <p:cNvSpPr/>
          <p:nvPr/>
        </p:nvSpPr>
        <p:spPr>
          <a:xfrm>
            <a:off x="2057499" y="4472285"/>
            <a:ext cx="1036340" cy="558800"/>
          </a:xfrm>
          <a:prstGeom prst="rect">
            <a:avLst/>
          </a:prstGeom>
          <a:noFill/>
          <a:ln/>
        </p:spPr>
        <p:txBody>
          <a:bodyPr wrap="square" lIns="25400" tIns="25400" rIns="25400" bIns="25400" rtlCol="0" anchor="t">
            <a:normAutofit/>
          </a:bodyPr>
          <a:lstStyle/>
          <a:p>
            <a:pPr marL="0" indent="0" algn="l">
              <a:buNone/>
            </a:pPr>
            <a:r>
              <a:rPr lang="en-US" sz="3150" dirty="0">
                <a:solidFill>
                  <a:srgbClr val="9FA8AE"/>
                </a:solidFill>
                <a:latin typeface="Courier New" pitchFamily="34" charset="0"/>
                <a:ea typeface="Courier New" pitchFamily="34" charset="-122"/>
                <a:cs typeface="Courier New" pitchFamily="34" charset="-120"/>
              </a:rPr>
              <a:t>/ 10</a:t>
            </a:r>
            <a:endParaRPr lang="en-US" sz="3150" dirty="0"/>
          </a:p>
        </p:txBody>
      </p:sp>
      <p:sp>
        <p:nvSpPr>
          <p:cNvPr id="9" name="Text 7"/>
          <p:cNvSpPr/>
          <p:nvPr/>
        </p:nvSpPr>
        <p:spPr>
          <a:xfrm>
            <a:off x="1390650" y="5139035"/>
            <a:ext cx="6488956" cy="425450"/>
          </a:xfrm>
          <a:prstGeom prst="rect">
            <a:avLst/>
          </a:prstGeom>
          <a:noFill/>
          <a:ln/>
        </p:spPr>
        <p:txBody>
          <a:bodyPr wrap="square" lIns="25400" tIns="25400" rIns="25400" bIns="25400" rtlCol="0" anchor="t">
            <a:normAutofit/>
          </a:bodyPr>
          <a:lstStyle/>
          <a:p>
            <a:pPr marL="0" indent="0" algn="l">
              <a:buNone/>
            </a:pPr>
            <a:r>
              <a:rPr lang="en-US" sz="2100" dirty="0">
                <a:solidFill>
                  <a:srgbClr val="B9C0C5"/>
                </a:solidFill>
                <a:latin typeface="Arial" pitchFamily="34" charset="0"/>
                <a:ea typeface="Arial" pitchFamily="34" charset="-122"/>
                <a:cs typeface="Arial" pitchFamily="34" charset="-120"/>
              </a:rPr>
              <a:t>公取委の懸念に対する再現率（約20%）</a:t>
            </a:r>
            <a:endParaRPr lang="en-US" sz="2100" dirty="0"/>
          </a:p>
        </p:txBody>
      </p:sp>
      <p:sp>
        <p:nvSpPr>
          <p:cNvPr id="10" name="Shape 8"/>
          <p:cNvSpPr/>
          <p:nvPr/>
        </p:nvSpPr>
        <p:spPr>
          <a:xfrm>
            <a:off x="1390650" y="5831185"/>
            <a:ext cx="5899051" cy="9525"/>
          </a:xfrm>
          <a:prstGeom prst="rect">
            <a:avLst/>
          </a:prstGeom>
          <a:solidFill>
            <a:srgbClr val="FFFFFF">
              <a:alpha val="14000"/>
            </a:srgbClr>
          </a:solidFill>
          <a:ln/>
        </p:spPr>
      </p:sp>
      <p:sp>
        <p:nvSpPr>
          <p:cNvPr id="11" name="Text 9"/>
          <p:cNvSpPr/>
          <p:nvPr/>
        </p:nvSpPr>
        <p:spPr>
          <a:xfrm>
            <a:off x="1390650" y="6145510"/>
            <a:ext cx="1219398" cy="895350"/>
          </a:xfrm>
          <a:prstGeom prst="rect">
            <a:avLst/>
          </a:prstGeom>
          <a:noFill/>
          <a:ln/>
        </p:spPr>
        <p:txBody>
          <a:bodyPr wrap="square" lIns="25400" tIns="25400" rIns="25400" bIns="25400" rtlCol="0" anchor="t">
            <a:normAutofit/>
          </a:bodyPr>
          <a:lstStyle/>
          <a:p>
            <a:pPr marL="0" indent="0" algn="l">
              <a:lnSpc>
                <a:spcPct val="90000"/>
              </a:lnSpc>
              <a:buNone/>
            </a:pPr>
            <a:r>
              <a:rPr lang="en-US" sz="7500" b="1" dirty="0">
                <a:solidFill>
                  <a:srgbClr val="F2EFE8"/>
                </a:solidFill>
                <a:latin typeface="Courier New" pitchFamily="34" charset="0"/>
                <a:ea typeface="Courier New" pitchFamily="34" charset="-122"/>
                <a:cs typeface="Courier New" pitchFamily="34" charset="-120"/>
              </a:rPr>
              <a:t>13</a:t>
            </a:r>
            <a:endParaRPr lang="en-US" sz="7500" dirty="0"/>
          </a:p>
        </p:txBody>
      </p:sp>
      <p:sp>
        <p:nvSpPr>
          <p:cNvPr id="12" name="Text 10"/>
          <p:cNvSpPr/>
          <p:nvPr/>
        </p:nvSpPr>
        <p:spPr>
          <a:xfrm>
            <a:off x="2648149" y="6469360"/>
            <a:ext cx="685800" cy="482600"/>
          </a:xfrm>
          <a:prstGeom prst="rect">
            <a:avLst/>
          </a:prstGeom>
          <a:noFill/>
          <a:ln/>
        </p:spPr>
        <p:txBody>
          <a:bodyPr wrap="square" lIns="25400" tIns="25400" rIns="25400" bIns="25400" rtlCol="0" anchor="t">
            <a:normAutofit/>
          </a:bodyPr>
          <a:lstStyle/>
          <a:p>
            <a:pPr marL="0" indent="0" algn="l">
              <a:buNone/>
            </a:pPr>
            <a:r>
              <a:rPr lang="en-US" sz="2400" dirty="0">
                <a:solidFill>
                  <a:srgbClr val="9FA8AE"/>
                </a:solidFill>
                <a:latin typeface="Arial" pitchFamily="34" charset="0"/>
                <a:ea typeface="Arial" pitchFamily="34" charset="-122"/>
                <a:cs typeface="Arial" pitchFamily="34" charset="-120"/>
              </a:rPr>
              <a:t>商圏</a:t>
            </a:r>
            <a:endParaRPr lang="en-US" sz="2400" dirty="0"/>
          </a:p>
        </p:txBody>
      </p:sp>
      <p:sp>
        <p:nvSpPr>
          <p:cNvPr id="13" name="Text 11"/>
          <p:cNvSpPr/>
          <p:nvPr/>
        </p:nvSpPr>
        <p:spPr>
          <a:xfrm>
            <a:off x="1390650" y="7078960"/>
            <a:ext cx="6488956" cy="425450"/>
          </a:xfrm>
          <a:prstGeom prst="rect">
            <a:avLst/>
          </a:prstGeom>
          <a:noFill/>
          <a:ln/>
        </p:spPr>
        <p:txBody>
          <a:bodyPr wrap="square" lIns="25400" tIns="25400" rIns="25400" bIns="25400" rtlCol="0" anchor="t">
            <a:normAutofit/>
          </a:bodyPr>
          <a:lstStyle/>
          <a:p>
            <a:pPr marL="0" indent="0" algn="l">
              <a:buNone/>
            </a:pPr>
            <a:r>
              <a:rPr lang="en-US" sz="2100" dirty="0">
                <a:solidFill>
                  <a:srgbClr val="B9C0C5"/>
                </a:solidFill>
                <a:latin typeface="Arial" pitchFamily="34" charset="0"/>
                <a:ea typeface="Arial" pitchFamily="34" charset="-122"/>
                <a:cs typeface="Arial" pitchFamily="34" charset="-120"/>
              </a:rPr>
              <a:t>公取委の懸念に含まれない偽陽性</a:t>
            </a:r>
            <a:endParaRPr lang="en-US" sz="2100" dirty="0"/>
          </a:p>
        </p:txBody>
      </p:sp>
      <p:sp>
        <p:nvSpPr>
          <p:cNvPr id="14" name="Shape 12"/>
          <p:cNvSpPr/>
          <p:nvPr/>
        </p:nvSpPr>
        <p:spPr>
          <a:xfrm>
            <a:off x="8032651" y="3330873"/>
            <a:ext cx="9226650" cy="1911350"/>
          </a:xfrm>
          <a:prstGeom prst="roundRect">
            <a:avLst>
              <a:gd name="adj" fmla="val 4983"/>
            </a:avLst>
          </a:prstGeom>
          <a:solidFill>
            <a:srgbClr val="FFFFFF"/>
          </a:solidFill>
          <a:ln w="6350">
            <a:solidFill>
              <a:srgbClr val="E0DCD2"/>
            </a:solidFill>
            <a:prstDash val="solid"/>
          </a:ln>
        </p:spPr>
      </p:sp>
      <p:sp>
        <p:nvSpPr>
          <p:cNvPr id="15" name="Text 13"/>
          <p:cNvSpPr/>
          <p:nvPr/>
        </p:nvSpPr>
        <p:spPr>
          <a:xfrm>
            <a:off x="8343801" y="3686473"/>
            <a:ext cx="342900" cy="387350"/>
          </a:xfrm>
          <a:prstGeom prst="rect">
            <a:avLst/>
          </a:prstGeom>
          <a:noFill/>
          <a:ln/>
        </p:spPr>
        <p:txBody>
          <a:bodyPr wrap="square" lIns="25400" tIns="25400" rIns="25400" bIns="25400" rtlCol="0" anchor="t">
            <a:normAutofit/>
          </a:bodyPr>
          <a:lstStyle/>
          <a:p>
            <a:pPr marL="0" indent="0" algn="l">
              <a:buNone/>
            </a:pPr>
            <a:r>
              <a:rPr lang="en-US" sz="2100" dirty="0">
                <a:solidFill>
                  <a:srgbClr val="9A4A38"/>
                </a:solidFill>
                <a:latin typeface="Courier New" pitchFamily="34" charset="0"/>
                <a:ea typeface="Courier New" pitchFamily="34" charset="-122"/>
                <a:cs typeface="Courier New" pitchFamily="34" charset="-120"/>
              </a:rPr>
              <a:t>①</a:t>
            </a:r>
            <a:endParaRPr lang="en-US" sz="2100" dirty="0"/>
          </a:p>
        </p:txBody>
      </p:sp>
      <p:sp>
        <p:nvSpPr>
          <p:cNvPr id="16" name="Text 14"/>
          <p:cNvSpPr/>
          <p:nvPr/>
        </p:nvSpPr>
        <p:spPr>
          <a:xfrm>
            <a:off x="8743851" y="3603923"/>
            <a:ext cx="4693920" cy="482600"/>
          </a:xfrm>
          <a:prstGeom prst="rect">
            <a:avLst/>
          </a:prstGeom>
          <a:noFill/>
          <a:ln/>
        </p:spPr>
        <p:txBody>
          <a:bodyPr wrap="square" lIns="25400" tIns="25400" rIns="25400" bIns="25400" rtlCol="0" anchor="t">
            <a:normAutofit/>
          </a:bodyPr>
          <a:lstStyle/>
          <a:p>
            <a:pPr marL="0" indent="0" algn="l">
              <a:buNone/>
            </a:pPr>
            <a:r>
              <a:rPr lang="en-US" sz="2400" b="1" dirty="0">
                <a:solidFill>
                  <a:srgbClr val="1F2730"/>
                </a:solidFill>
                <a:latin typeface="Arial" pitchFamily="34" charset="0"/>
                <a:ea typeface="Arial" pitchFamily="34" charset="-122"/>
                <a:cs typeface="Arial" pitchFamily="34" charset="-120"/>
              </a:rPr>
              <a:t>データの完全性に決定的に依存</a:t>
            </a:r>
            <a:endParaRPr lang="en-US" sz="2400" dirty="0"/>
          </a:p>
        </p:txBody>
      </p:sp>
      <p:sp>
        <p:nvSpPr>
          <p:cNvPr id="17" name="Text 15"/>
          <p:cNvSpPr/>
          <p:nvPr/>
        </p:nvSpPr>
        <p:spPr>
          <a:xfrm>
            <a:off x="8343801" y="4143673"/>
            <a:ext cx="8862480" cy="863600"/>
          </a:xfrm>
          <a:prstGeom prst="rect">
            <a:avLst/>
          </a:prstGeom>
          <a:noFill/>
          <a:ln/>
        </p:spPr>
        <p:txBody>
          <a:bodyPr wrap="square" lIns="25400" tIns="25400" rIns="25400" bIns="25400" rtlCol="0" anchor="t">
            <a:normAutofit/>
          </a:bodyPr>
          <a:lstStyle/>
          <a:p>
            <a:pPr marL="0" indent="0" algn="l">
              <a:lnSpc>
                <a:spcPct val="150000"/>
              </a:lnSpc>
              <a:buNone/>
            </a:pPr>
            <a:r>
              <a:rPr lang="en-US" sz="2100" dirty="0">
                <a:solidFill>
                  <a:srgbClr val="5A6470"/>
                </a:solidFill>
                <a:latin typeface="Arial" pitchFamily="34" charset="0"/>
                <a:ea typeface="Arial" pitchFamily="34" charset="-122"/>
                <a:cs typeface="Arial" pitchFamily="34" charset="-120"/>
              </a:rPr>
              <a:t>店舗の欠落・誤マッピング・競争者の過大計上の</a:t>
            </a:r>
            <a:r>
              <a:rPr lang="en-US" sz="2100" b="1" dirty="0">
                <a:solidFill>
                  <a:srgbClr val="5A6470"/>
                </a:solidFill>
                <a:latin typeface="Arial" pitchFamily="34" charset="0"/>
                <a:ea typeface="Arial" pitchFamily="34" charset="-122"/>
                <a:cs typeface="Arial" pitchFamily="34" charset="-120"/>
              </a:rPr>
              <a:t>いずれもが判定を反転 </a:t>
            </a:r>
            <a:r>
              <a:rPr lang="en-US" sz="2100" dirty="0">
                <a:solidFill>
                  <a:srgbClr val="5A6470"/>
                </a:solidFill>
                <a:latin typeface="Arial" pitchFamily="34" charset="0"/>
                <a:ea typeface="Arial" pitchFamily="34" charset="-122"/>
                <a:cs typeface="Arial" pitchFamily="34" charset="-120"/>
              </a:rPr>
              <a:t>させる。</a:t>
            </a:r>
            <a:endParaRPr lang="en-US" sz="2100" dirty="0"/>
          </a:p>
        </p:txBody>
      </p:sp>
      <p:sp>
        <p:nvSpPr>
          <p:cNvPr id="18" name="Shape 16"/>
          <p:cNvSpPr/>
          <p:nvPr/>
        </p:nvSpPr>
        <p:spPr>
          <a:xfrm>
            <a:off x="8032651" y="5432723"/>
            <a:ext cx="9226650" cy="1885950"/>
          </a:xfrm>
          <a:prstGeom prst="roundRect">
            <a:avLst>
              <a:gd name="adj" fmla="val 5051"/>
            </a:avLst>
          </a:prstGeom>
          <a:solidFill>
            <a:srgbClr val="FFFFFF"/>
          </a:solidFill>
          <a:ln w="6350">
            <a:solidFill>
              <a:srgbClr val="E0DCD2"/>
            </a:solidFill>
            <a:prstDash val="solid"/>
          </a:ln>
        </p:spPr>
      </p:sp>
      <p:sp>
        <p:nvSpPr>
          <p:cNvPr id="19" name="Text 17"/>
          <p:cNvSpPr/>
          <p:nvPr/>
        </p:nvSpPr>
        <p:spPr>
          <a:xfrm>
            <a:off x="8343801" y="5788323"/>
            <a:ext cx="342900" cy="387350"/>
          </a:xfrm>
          <a:prstGeom prst="rect">
            <a:avLst/>
          </a:prstGeom>
          <a:noFill/>
          <a:ln/>
        </p:spPr>
        <p:txBody>
          <a:bodyPr wrap="square" lIns="25400" tIns="25400" rIns="25400" bIns="25400" rtlCol="0" anchor="t">
            <a:normAutofit/>
          </a:bodyPr>
          <a:lstStyle/>
          <a:p>
            <a:pPr marL="0" indent="0" algn="l">
              <a:buNone/>
            </a:pPr>
            <a:r>
              <a:rPr lang="en-US" sz="2100" dirty="0">
                <a:solidFill>
                  <a:srgbClr val="9A4A38"/>
                </a:solidFill>
                <a:latin typeface="Courier New" pitchFamily="34" charset="0"/>
                <a:ea typeface="Courier New" pitchFamily="34" charset="-122"/>
                <a:cs typeface="Courier New" pitchFamily="34" charset="-120"/>
              </a:rPr>
              <a:t>②</a:t>
            </a:r>
            <a:endParaRPr lang="en-US" sz="2100" dirty="0"/>
          </a:p>
        </p:txBody>
      </p:sp>
      <p:sp>
        <p:nvSpPr>
          <p:cNvPr id="20" name="Text 18"/>
          <p:cNvSpPr/>
          <p:nvPr/>
        </p:nvSpPr>
        <p:spPr>
          <a:xfrm>
            <a:off x="8743851" y="5705773"/>
            <a:ext cx="3688080" cy="482600"/>
          </a:xfrm>
          <a:prstGeom prst="rect">
            <a:avLst/>
          </a:prstGeom>
          <a:noFill/>
          <a:ln/>
        </p:spPr>
        <p:txBody>
          <a:bodyPr wrap="square" lIns="25400" tIns="25400" rIns="25400" bIns="25400" rtlCol="0" anchor="t">
            <a:normAutofit/>
          </a:bodyPr>
          <a:lstStyle/>
          <a:p>
            <a:pPr marL="0" indent="0" algn="l">
              <a:buNone/>
            </a:pPr>
            <a:r>
              <a:rPr lang="en-US" sz="2400" b="1" dirty="0">
                <a:solidFill>
                  <a:srgbClr val="1F2730"/>
                </a:solidFill>
                <a:latin typeface="Arial" pitchFamily="34" charset="0"/>
                <a:ea typeface="Arial" pitchFamily="34" charset="-122"/>
                <a:cs typeface="Arial" pitchFamily="34" charset="-120"/>
              </a:rPr>
              <a:t>個別事情を評価できない</a:t>
            </a:r>
            <a:endParaRPr lang="en-US" sz="2400" dirty="0"/>
          </a:p>
        </p:txBody>
      </p:sp>
      <p:sp>
        <p:nvSpPr>
          <p:cNvPr id="21" name="Text 19"/>
          <p:cNvSpPr/>
          <p:nvPr/>
        </p:nvSpPr>
        <p:spPr>
          <a:xfrm>
            <a:off x="8343801" y="6245523"/>
            <a:ext cx="8862480" cy="838200"/>
          </a:xfrm>
          <a:prstGeom prst="rect">
            <a:avLst/>
          </a:prstGeom>
          <a:noFill/>
          <a:ln/>
        </p:spPr>
        <p:txBody>
          <a:bodyPr wrap="square" lIns="25400" tIns="25400" rIns="25400" bIns="25400" rtlCol="0" anchor="t">
            <a:normAutofit/>
          </a:bodyPr>
          <a:lstStyle/>
          <a:p>
            <a:pPr marL="0" indent="0" algn="l">
              <a:lnSpc>
                <a:spcPct val="150000"/>
              </a:lnSpc>
              <a:buNone/>
            </a:pPr>
            <a:r>
              <a:rPr lang="en-US" sz="2100" dirty="0">
                <a:solidFill>
                  <a:srgbClr val="5A6470"/>
                </a:solidFill>
                <a:latin typeface="Arial" pitchFamily="34" charset="0"/>
                <a:ea typeface="Arial" pitchFamily="34" charset="-122"/>
                <a:cs typeface="Arial" pitchFamily="34" charset="-120"/>
              </a:rPr>
              <a:t>隣接商圏の競争者・商圏外圧力・人流・新規出店計画・措置の実行状況を捉えられない。</a:t>
            </a:r>
            <a:endParaRPr lang="en-US" sz="2100" dirty="0"/>
          </a:p>
        </p:txBody>
      </p:sp>
      <p:sp>
        <p:nvSpPr>
          <p:cNvPr id="22" name="Shape 20"/>
          <p:cNvSpPr/>
          <p:nvPr/>
        </p:nvSpPr>
        <p:spPr>
          <a:xfrm>
            <a:off x="8032651" y="7509173"/>
            <a:ext cx="9226650" cy="831850"/>
          </a:xfrm>
          <a:prstGeom prst="rect">
            <a:avLst/>
          </a:prstGeom>
          <a:solidFill>
            <a:srgbClr val="F1E7E3"/>
          </a:solidFill>
          <a:ln/>
        </p:spPr>
      </p:sp>
      <p:sp>
        <p:nvSpPr>
          <p:cNvPr id="23" name="Shape 21"/>
          <p:cNvSpPr/>
          <p:nvPr/>
        </p:nvSpPr>
        <p:spPr>
          <a:xfrm>
            <a:off x="8032651" y="7509173"/>
            <a:ext cx="44450" cy="831850"/>
          </a:xfrm>
          <a:prstGeom prst="rect">
            <a:avLst/>
          </a:prstGeom>
          <a:solidFill>
            <a:srgbClr val="9A4A38"/>
          </a:solidFill>
          <a:ln/>
        </p:spPr>
      </p:sp>
      <p:sp>
        <p:nvSpPr>
          <p:cNvPr id="24" name="Text 22"/>
          <p:cNvSpPr/>
          <p:nvPr/>
        </p:nvSpPr>
        <p:spPr>
          <a:xfrm>
            <a:off x="8362851" y="7718723"/>
            <a:ext cx="8887499" cy="450850"/>
          </a:xfrm>
          <a:prstGeom prst="rect">
            <a:avLst/>
          </a:prstGeom>
          <a:noFill/>
          <a:ln/>
        </p:spPr>
        <p:txBody>
          <a:bodyPr wrap="square" lIns="25400" tIns="25400" rIns="25400" bIns="25400" rtlCol="0" anchor="t">
            <a:normAutofit/>
          </a:bodyPr>
          <a:lstStyle/>
          <a:p>
            <a:pPr marL="0" indent="0" algn="l">
              <a:buNone/>
            </a:pPr>
            <a:r>
              <a:rPr lang="en-US" sz="2250" dirty="0">
                <a:solidFill>
                  <a:srgbClr val="3A2F2B"/>
                </a:solidFill>
                <a:highlight>
                  <a:srgbClr val="F1E7E3"/>
                </a:highlight>
                <a:latin typeface="Arial" pitchFamily="34" charset="0"/>
                <a:ea typeface="Arial" pitchFamily="34" charset="-122"/>
                <a:cs typeface="Arial" pitchFamily="34" charset="-120"/>
              </a:rPr>
              <a:t>ゆえに機械的判定は、公取委の最終判断を</a:t>
            </a:r>
            <a:r>
              <a:rPr lang="en-US" sz="2250" b="1" dirty="0">
                <a:solidFill>
                  <a:srgbClr val="9A4A38"/>
                </a:solidFill>
                <a:latin typeface="Arial" pitchFamily="34" charset="0"/>
                <a:ea typeface="Arial" pitchFamily="34" charset="-122"/>
                <a:cs typeface="Arial" pitchFamily="34" charset="-120"/>
              </a:rPr>
              <a:t>代替しない</a:t>
            </a:r>
            <a:r>
              <a:rPr lang="en-US" sz="2250" dirty="0">
                <a:solidFill>
                  <a:srgbClr val="3A2F2B"/>
                </a:solidFill>
                <a:highlight>
                  <a:srgbClr val="F1E7E3"/>
                </a:highlight>
                <a:latin typeface="Arial" pitchFamily="34" charset="0"/>
                <a:ea typeface="Arial" pitchFamily="34" charset="-122"/>
                <a:cs typeface="Arial" pitchFamily="34" charset="-120"/>
              </a:rPr>
              <a:t>。</a:t>
            </a:r>
            <a:endParaRPr lang="en-US" sz="2250" dirty="0"/>
          </a:p>
        </p:txBody>
      </p:sp>
      <p:sp>
        <p:nvSpPr>
          <p:cNvPr id="25" name="Shape 23"/>
          <p:cNvSpPr/>
          <p:nvPr/>
        </p:nvSpPr>
        <p:spPr>
          <a:xfrm>
            <a:off x="1028700" y="9296400"/>
            <a:ext cx="16230600" cy="9525"/>
          </a:xfrm>
          <a:prstGeom prst="rect">
            <a:avLst/>
          </a:prstGeom>
          <a:solidFill>
            <a:srgbClr val="E4E0D7"/>
          </a:solidFill>
          <a:ln/>
        </p:spPr>
      </p:sp>
      <p:sp>
        <p:nvSpPr>
          <p:cNvPr id="26" name="Text 24"/>
          <p:cNvSpPr/>
          <p:nvPr/>
        </p:nvSpPr>
        <p:spPr>
          <a:xfrm>
            <a:off x="1028700" y="9455150"/>
            <a:ext cx="6976378" cy="393700"/>
          </a:xfrm>
          <a:prstGeom prst="rect">
            <a:avLst/>
          </a:prstGeom>
          <a:noFill/>
          <a:ln/>
        </p:spPr>
        <p:txBody>
          <a:bodyPr wrap="square" lIns="25400" tIns="25400" rIns="25400" bIns="25400" rtlCol="0" anchor="t">
            <a:normAutofit/>
          </a:bodyPr>
          <a:lstStyle/>
          <a:p>
            <a:pPr marL="0" indent="0" algn="l">
              <a:buNone/>
            </a:pPr>
            <a:r>
              <a:rPr lang="en-US" sz="1950" dirty="0">
                <a:solidFill>
                  <a:srgbClr val="97928A"/>
                </a:solidFill>
                <a:latin typeface="Arial" pitchFamily="34" charset="0"/>
                <a:ea typeface="Arial" pitchFamily="34" charset="-122"/>
                <a:cs typeface="Arial" pitchFamily="34" charset="-120"/>
              </a:rPr>
              <a:t>永田 稔人 ｜ 中里ゼミ（経済法） ｜ 2026年6月30日</a:t>
            </a:r>
            <a:endParaRPr lang="en-US" sz="1950" dirty="0"/>
          </a:p>
        </p:txBody>
      </p:sp>
      <p:sp>
        <p:nvSpPr>
          <p:cNvPr id="27" name="Text 25"/>
          <p:cNvSpPr/>
          <p:nvPr/>
        </p:nvSpPr>
        <p:spPr>
          <a:xfrm>
            <a:off x="16115109" y="9471025"/>
            <a:ext cx="1220391" cy="361950"/>
          </a:xfrm>
          <a:prstGeom prst="rect">
            <a:avLst/>
          </a:prstGeom>
          <a:noFill/>
          <a:ln/>
        </p:spPr>
        <p:txBody>
          <a:bodyPr wrap="square" lIns="25400" tIns="25400" rIns="25400" bIns="25400" rtlCol="0" anchor="t">
            <a:normAutofit/>
          </a:bodyPr>
          <a:lstStyle/>
          <a:p>
            <a:pPr marL="0" indent="0" algn="l">
              <a:buNone/>
            </a:pPr>
            <a:r>
              <a:rPr lang="en-US" sz="1950" kern="0" spc="117" dirty="0">
                <a:solidFill>
                  <a:srgbClr val="97928A"/>
                </a:solidFill>
                <a:latin typeface="Courier New" pitchFamily="34" charset="0"/>
                <a:ea typeface="Courier New" pitchFamily="34" charset="-122"/>
                <a:cs typeface="Courier New" pitchFamily="34" charset="-120"/>
              </a:rPr>
              <a:t>14 / 27</a:t>
            </a:r>
            <a:endParaRPr lang="en-US" sz="1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2303A"/>
        </a:solidFill>
        <a:effectLst/>
      </p:bgPr>
    </p:bg>
    <p:spTree>
      <p:nvGrpSpPr>
        <p:cNvPr id="1" name=""/>
        <p:cNvGrpSpPr/>
        <p:nvPr/>
      </p:nvGrpSpPr>
      <p:grpSpPr>
        <a:xfrm>
          <a:off x="0" y="0"/>
          <a:ext cx="0" cy="0"/>
          <a:chOff x="0" y="0"/>
          <a:chExt cx="0" cy="0"/>
        </a:xfrm>
      </p:grpSpPr>
      <p:sp>
        <p:nvSpPr>
          <p:cNvPr id="2" name="Text 0"/>
          <p:cNvSpPr/>
          <p:nvPr/>
        </p:nvSpPr>
        <p:spPr>
          <a:xfrm>
            <a:off x="1257300" y="3234333"/>
            <a:ext cx="1528951" cy="431800"/>
          </a:xfrm>
          <a:prstGeom prst="rect">
            <a:avLst/>
          </a:prstGeom>
          <a:noFill/>
          <a:ln/>
        </p:spPr>
        <p:txBody>
          <a:bodyPr wrap="square" lIns="25400" tIns="25400" rIns="25400" bIns="25400" rtlCol="0" anchor="t">
            <a:normAutofit/>
          </a:bodyPr>
          <a:lstStyle/>
          <a:p>
            <a:pPr marL="0" indent="0" algn="l">
              <a:buNone/>
            </a:pPr>
            <a:r>
              <a:rPr lang="en-US" sz="2400" kern="0" spc="384" dirty="0">
                <a:solidFill>
                  <a:srgbClr val="CC7159"/>
                </a:solidFill>
                <a:latin typeface="Courier New" pitchFamily="34" charset="0"/>
                <a:ea typeface="Courier New" pitchFamily="34" charset="-122"/>
                <a:cs typeface="Courier New" pitchFamily="34" charset="-120"/>
              </a:rPr>
              <a:t>PART 3</a:t>
            </a:r>
            <a:endParaRPr lang="en-US" sz="2400" dirty="0"/>
          </a:p>
        </p:txBody>
      </p:sp>
      <p:sp>
        <p:nvSpPr>
          <p:cNvPr id="3" name="Shape 1"/>
          <p:cNvSpPr/>
          <p:nvPr/>
        </p:nvSpPr>
        <p:spPr>
          <a:xfrm>
            <a:off x="2818706" y="3199408"/>
            <a:ext cx="1445320" cy="463550"/>
          </a:xfrm>
          <a:prstGeom prst="roundRect">
            <a:avLst>
              <a:gd name="adj" fmla="val 41096"/>
            </a:avLst>
          </a:prstGeom>
          <a:solidFill>
            <a:srgbClr val="CC7159">
              <a:alpha val="16000"/>
            </a:srgbClr>
          </a:solidFill>
          <a:ln w="6350">
            <a:solidFill>
              <a:srgbClr val="CC7159">
                <a:alpha val="50000"/>
              </a:srgbClr>
            </a:solidFill>
            <a:prstDash val="solid"/>
          </a:ln>
        </p:spPr>
      </p:sp>
      <p:sp>
        <p:nvSpPr>
          <p:cNvPr id="4" name="Text 2"/>
          <p:cNvSpPr/>
          <p:nvPr/>
        </p:nvSpPr>
        <p:spPr>
          <a:xfrm>
            <a:off x="2996506" y="3253383"/>
            <a:ext cx="1165920" cy="393700"/>
          </a:xfrm>
          <a:prstGeom prst="rect">
            <a:avLst/>
          </a:prstGeom>
          <a:noFill/>
          <a:ln/>
        </p:spPr>
        <p:txBody>
          <a:bodyPr wrap="square" lIns="25400" tIns="25400" rIns="25400" bIns="25400" rtlCol="0" anchor="t">
            <a:normAutofit/>
          </a:bodyPr>
          <a:lstStyle/>
          <a:p>
            <a:pPr marL="0" indent="0" algn="l">
              <a:buNone/>
            </a:pPr>
            <a:r>
              <a:rPr lang="en-US" sz="1950" kern="0" spc="195" dirty="0">
                <a:solidFill>
                  <a:srgbClr val="E2B4A4"/>
                </a:solidFill>
                <a:latin typeface="Arial" pitchFamily="34" charset="0"/>
                <a:ea typeface="Arial" pitchFamily="34" charset="-122"/>
                <a:cs typeface="Arial" pitchFamily="34" charset="-120"/>
              </a:rPr>
              <a:t>発表の核</a:t>
            </a:r>
            <a:endParaRPr lang="en-US" sz="1950" dirty="0"/>
          </a:p>
        </p:txBody>
      </p:sp>
      <p:sp>
        <p:nvSpPr>
          <p:cNvPr id="5" name="Text 3"/>
          <p:cNvSpPr/>
          <p:nvPr/>
        </p:nvSpPr>
        <p:spPr>
          <a:xfrm>
            <a:off x="1257300" y="3910608"/>
            <a:ext cx="17350740" cy="802382"/>
          </a:xfrm>
          <a:prstGeom prst="rect">
            <a:avLst/>
          </a:prstGeom>
          <a:noFill/>
          <a:ln/>
        </p:spPr>
        <p:txBody>
          <a:bodyPr wrap="square" lIns="25400" tIns="25400" rIns="25400" bIns="25400" rtlCol="0" anchor="t">
            <a:normAutofit/>
          </a:bodyPr>
          <a:lstStyle/>
          <a:p>
            <a:pPr marL="0" indent="0" algn="l">
              <a:lnSpc>
                <a:spcPct val="118000"/>
              </a:lnSpc>
              <a:buNone/>
            </a:pPr>
            <a:r>
              <a:rPr lang="en-US" sz="5100" b="1" dirty="0">
                <a:solidFill>
                  <a:srgbClr val="F4F1EA"/>
                </a:solidFill>
                <a:latin typeface="Arial" pitchFamily="34" charset="0"/>
                <a:ea typeface="Arial" pitchFamily="34" charset="-122"/>
                <a:cs typeface="Arial" pitchFamily="34" charset="-120"/>
              </a:rPr>
              <a:t>再現② 経済分析</a:t>
            </a:r>
            <a:endParaRPr lang="en-US" sz="5100" dirty="0"/>
          </a:p>
        </p:txBody>
      </p:sp>
      <p:sp>
        <p:nvSpPr>
          <p:cNvPr id="6" name="Shape 4"/>
          <p:cNvSpPr/>
          <p:nvPr/>
        </p:nvSpPr>
        <p:spPr>
          <a:xfrm>
            <a:off x="1257300" y="4998740"/>
            <a:ext cx="876300" cy="47625"/>
          </a:xfrm>
          <a:prstGeom prst="rect">
            <a:avLst/>
          </a:prstGeom>
          <a:solidFill>
            <a:srgbClr val="B0573F"/>
          </a:solidFill>
          <a:ln/>
        </p:spPr>
      </p:sp>
      <p:sp>
        <p:nvSpPr>
          <p:cNvPr id="7" name="Text 5"/>
          <p:cNvSpPr/>
          <p:nvPr/>
        </p:nvSpPr>
        <p:spPr>
          <a:xfrm>
            <a:off x="1257300" y="5332115"/>
            <a:ext cx="12361545" cy="1012428"/>
          </a:xfrm>
          <a:prstGeom prst="rect">
            <a:avLst/>
          </a:prstGeom>
          <a:noFill/>
          <a:ln/>
        </p:spPr>
        <p:txBody>
          <a:bodyPr wrap="square" lIns="25400" tIns="25400" rIns="25400" bIns="25400" rtlCol="0" anchor="t">
            <a:normAutofit/>
          </a:bodyPr>
          <a:lstStyle/>
          <a:p>
            <a:pPr marL="0" indent="0" algn="l">
              <a:lnSpc>
                <a:spcPct val="155000"/>
              </a:lnSpc>
              <a:buNone/>
            </a:pPr>
            <a:r>
              <a:rPr lang="en-US" sz="2475" dirty="0">
                <a:solidFill>
                  <a:srgbClr val="B9C0C5"/>
                </a:solidFill>
                <a:latin typeface="Arial" pitchFamily="34" charset="0"/>
                <a:ea typeface="Arial" pitchFamily="34" charset="-122"/>
                <a:cs typeface="Arial" pitchFamily="34" charset="-120"/>
              </a:rPr>
              <a:t>店舗固定効果パネルによる粗利益率回帰を読み解き、固定効果と内生性の働きをモンテカルロで示す。</a:t>
            </a:r>
            <a:endParaRPr lang="en-US" sz="2475" dirty="0"/>
          </a:p>
        </p:txBody>
      </p:sp>
      <p:sp>
        <p:nvSpPr>
          <p:cNvPr id="8" name="Text 6"/>
          <p:cNvSpPr/>
          <p:nvPr/>
        </p:nvSpPr>
        <p:spPr>
          <a:xfrm>
            <a:off x="1257300" y="6763643"/>
            <a:ext cx="3486934" cy="361950"/>
          </a:xfrm>
          <a:prstGeom prst="rect">
            <a:avLst/>
          </a:prstGeom>
          <a:noFill/>
          <a:ln/>
        </p:spPr>
        <p:txBody>
          <a:bodyPr wrap="square" lIns="25400" tIns="25400" rIns="25400" bIns="25400" rtlCol="0" anchor="t">
            <a:normAutofit/>
          </a:bodyPr>
          <a:lstStyle/>
          <a:p>
            <a:pPr marL="0" indent="0" algn="l">
              <a:buNone/>
            </a:pPr>
            <a:r>
              <a:rPr lang="en-US" sz="1950" dirty="0">
                <a:solidFill>
                  <a:srgbClr val="8B949A"/>
                </a:solidFill>
                <a:latin typeface="Courier New" pitchFamily="34" charset="0"/>
                <a:ea typeface="Courier New" pitchFamily="34" charset="-122"/>
                <a:cs typeface="Courier New" pitchFamily="34" charset="-120"/>
              </a:rPr>
              <a:t>16 粗利益率の固定効果回帰</a:t>
            </a:r>
            <a:endParaRPr lang="en-US" sz="1950" dirty="0"/>
          </a:p>
        </p:txBody>
      </p:sp>
      <p:sp>
        <p:nvSpPr>
          <p:cNvPr id="9" name="Text 7"/>
          <p:cNvSpPr/>
          <p:nvPr/>
        </p:nvSpPr>
        <p:spPr>
          <a:xfrm>
            <a:off x="4579640" y="6763643"/>
            <a:ext cx="224830" cy="361950"/>
          </a:xfrm>
          <a:prstGeom prst="rect">
            <a:avLst/>
          </a:prstGeom>
          <a:noFill/>
          <a:ln/>
        </p:spPr>
        <p:txBody>
          <a:bodyPr wrap="square" lIns="25400" tIns="25400" rIns="25400" bIns="25400" rtlCol="0" anchor="t">
            <a:normAutofit/>
          </a:bodyPr>
          <a:lstStyle/>
          <a:p>
            <a:pPr marL="0" indent="0" algn="l">
              <a:buNone/>
            </a:pPr>
            <a:r>
              <a:rPr lang="en-US" sz="1950" dirty="0">
                <a:solidFill>
                  <a:srgbClr val="8B949A">
                    <a:alpha val="40000"/>
                  </a:srgbClr>
                </a:solidFill>
                <a:latin typeface="Courier New" pitchFamily="34" charset="0"/>
                <a:ea typeface="Courier New" pitchFamily="34" charset="-122"/>
                <a:cs typeface="Courier New" pitchFamily="34" charset="-120"/>
              </a:rPr>
              <a:t>/</a:t>
            </a:r>
            <a:endParaRPr lang="en-US" sz="1950" dirty="0"/>
          </a:p>
        </p:txBody>
      </p:sp>
      <p:sp>
        <p:nvSpPr>
          <p:cNvPr id="10" name="Text 8"/>
          <p:cNvSpPr/>
          <p:nvPr/>
        </p:nvSpPr>
        <p:spPr>
          <a:xfrm>
            <a:off x="4880670" y="6763643"/>
            <a:ext cx="1264940" cy="361950"/>
          </a:xfrm>
          <a:prstGeom prst="rect">
            <a:avLst/>
          </a:prstGeom>
          <a:noFill/>
          <a:ln/>
        </p:spPr>
        <p:txBody>
          <a:bodyPr wrap="square" lIns="25400" tIns="25400" rIns="25400" bIns="25400" rtlCol="0" anchor="t">
            <a:normAutofit/>
          </a:bodyPr>
          <a:lstStyle/>
          <a:p>
            <a:pPr marL="0" indent="0" algn="l">
              <a:buNone/>
            </a:pPr>
            <a:r>
              <a:rPr lang="en-US" sz="1950" dirty="0">
                <a:solidFill>
                  <a:srgbClr val="8B949A"/>
                </a:solidFill>
                <a:latin typeface="Courier New" pitchFamily="34" charset="0"/>
                <a:ea typeface="Courier New" pitchFamily="34" charset="-122"/>
                <a:cs typeface="Courier New" pitchFamily="34" charset="-120"/>
              </a:rPr>
              <a:t>17 内生性</a:t>
            </a:r>
            <a:endParaRPr lang="en-US" sz="1950" dirty="0"/>
          </a:p>
        </p:txBody>
      </p:sp>
      <p:sp>
        <p:nvSpPr>
          <p:cNvPr id="11" name="Text 9"/>
          <p:cNvSpPr/>
          <p:nvPr/>
        </p:nvSpPr>
        <p:spPr>
          <a:xfrm>
            <a:off x="6221810" y="6763643"/>
            <a:ext cx="224830" cy="361950"/>
          </a:xfrm>
          <a:prstGeom prst="rect">
            <a:avLst/>
          </a:prstGeom>
          <a:noFill/>
          <a:ln/>
        </p:spPr>
        <p:txBody>
          <a:bodyPr wrap="square" lIns="25400" tIns="25400" rIns="25400" bIns="25400" rtlCol="0" anchor="t">
            <a:normAutofit/>
          </a:bodyPr>
          <a:lstStyle/>
          <a:p>
            <a:pPr marL="0" indent="0" algn="l">
              <a:buNone/>
            </a:pPr>
            <a:r>
              <a:rPr lang="en-US" sz="1950" dirty="0">
                <a:solidFill>
                  <a:srgbClr val="8B949A">
                    <a:alpha val="40000"/>
                  </a:srgbClr>
                </a:solidFill>
                <a:latin typeface="Courier New" pitchFamily="34" charset="0"/>
                <a:ea typeface="Courier New" pitchFamily="34" charset="-122"/>
                <a:cs typeface="Courier New" pitchFamily="34" charset="-120"/>
              </a:rPr>
              <a:t>/</a:t>
            </a:r>
            <a:endParaRPr lang="en-US" sz="1950" dirty="0"/>
          </a:p>
        </p:txBody>
      </p:sp>
      <p:sp>
        <p:nvSpPr>
          <p:cNvPr id="12" name="Text 10"/>
          <p:cNvSpPr/>
          <p:nvPr/>
        </p:nvSpPr>
        <p:spPr>
          <a:xfrm>
            <a:off x="6522839" y="6763643"/>
            <a:ext cx="2942104" cy="361950"/>
          </a:xfrm>
          <a:prstGeom prst="rect">
            <a:avLst/>
          </a:prstGeom>
          <a:noFill/>
          <a:ln/>
        </p:spPr>
        <p:txBody>
          <a:bodyPr wrap="square" lIns="25400" tIns="25400" rIns="25400" bIns="25400" rtlCol="0" anchor="t">
            <a:normAutofit/>
          </a:bodyPr>
          <a:lstStyle/>
          <a:p>
            <a:pPr marL="0" indent="0" algn="l">
              <a:buNone/>
            </a:pPr>
            <a:r>
              <a:rPr lang="en-US" sz="1950" dirty="0">
                <a:solidFill>
                  <a:srgbClr val="8B949A"/>
                </a:solidFill>
                <a:latin typeface="Courier New" pitchFamily="34" charset="0"/>
                <a:ea typeface="Courier New" pitchFamily="34" charset="-122"/>
                <a:cs typeface="Courier New" pitchFamily="34" charset="-120"/>
              </a:rPr>
              <a:t>18 モンテカルロの結果</a:t>
            </a:r>
            <a:endParaRPr lang="en-US" sz="1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6F2"/>
        </a:solidFill>
        <a:effectLst/>
      </p:bgPr>
    </p:bg>
    <p:spTree>
      <p:nvGrpSpPr>
        <p:cNvPr id="1" name=""/>
        <p:cNvGrpSpPr/>
        <p:nvPr/>
      </p:nvGrpSpPr>
      <p:grpSpPr>
        <a:xfrm>
          <a:off x="0" y="0"/>
          <a:ext cx="0" cy="0"/>
          <a:chOff x="0" y="0"/>
          <a:chExt cx="0" cy="0"/>
        </a:xfrm>
      </p:grpSpPr>
      <p:sp>
        <p:nvSpPr>
          <p:cNvPr id="2" name="Shape 0"/>
          <p:cNvSpPr/>
          <p:nvPr/>
        </p:nvSpPr>
        <p:spPr>
          <a:xfrm>
            <a:off x="1028700" y="801688"/>
            <a:ext cx="304800" cy="28575"/>
          </a:xfrm>
          <a:prstGeom prst="rect">
            <a:avLst/>
          </a:prstGeom>
          <a:solidFill>
            <a:srgbClr val="9A4A38"/>
          </a:solidFill>
          <a:ln/>
        </p:spPr>
      </p:sp>
      <p:sp>
        <p:nvSpPr>
          <p:cNvPr id="3" name="Text 1"/>
          <p:cNvSpPr/>
          <p:nvPr/>
        </p:nvSpPr>
        <p:spPr>
          <a:xfrm>
            <a:off x="1466850" y="628650"/>
            <a:ext cx="3612555" cy="412750"/>
          </a:xfrm>
          <a:prstGeom prst="rect">
            <a:avLst/>
          </a:prstGeom>
          <a:noFill/>
          <a:ln/>
        </p:spPr>
        <p:txBody>
          <a:bodyPr wrap="square" lIns="25400" tIns="25400" rIns="25400" bIns="25400" rtlCol="0" anchor="t">
            <a:normAutofit/>
          </a:bodyPr>
          <a:lstStyle/>
          <a:p>
            <a:pPr marL="0" indent="0" algn="l">
              <a:buNone/>
            </a:pPr>
            <a:r>
              <a:rPr lang="en-US" sz="2025" kern="0" spc="203" dirty="0">
                <a:solidFill>
                  <a:srgbClr val="5A6470"/>
                </a:solidFill>
                <a:latin typeface="Arial" pitchFamily="34" charset="0"/>
                <a:ea typeface="Arial" pitchFamily="34" charset="-122"/>
                <a:cs typeface="Arial" pitchFamily="34" charset="-120"/>
              </a:rPr>
              <a:t>第3部 再現② 経済分析</a:t>
            </a:r>
            <a:endParaRPr lang="en-US" sz="2025" dirty="0"/>
          </a:p>
        </p:txBody>
      </p:sp>
      <p:sp>
        <p:nvSpPr>
          <p:cNvPr id="4" name="Text 2"/>
          <p:cNvSpPr/>
          <p:nvPr/>
        </p:nvSpPr>
        <p:spPr>
          <a:xfrm>
            <a:off x="1028700" y="1174750"/>
            <a:ext cx="17853660" cy="624384"/>
          </a:xfrm>
          <a:prstGeom prst="rect">
            <a:avLst/>
          </a:prstGeom>
          <a:noFill/>
          <a:ln/>
        </p:spPr>
        <p:txBody>
          <a:bodyPr wrap="square" lIns="25400" tIns="25400" rIns="25400" bIns="25400" rtlCol="0" anchor="t">
            <a:normAutofit/>
          </a:bodyPr>
          <a:lstStyle/>
          <a:p>
            <a:pPr marL="0" indent="0" algn="l">
              <a:lnSpc>
                <a:spcPct val="114000"/>
              </a:lnSpc>
              <a:buNone/>
            </a:pPr>
            <a:r>
              <a:rPr lang="en-US" sz="4050" b="1" dirty="0">
                <a:solidFill>
                  <a:srgbClr val="1F2730"/>
                </a:solidFill>
                <a:latin typeface="Arial" pitchFamily="34" charset="0"/>
                <a:ea typeface="Arial" pitchFamily="34" charset="-122"/>
                <a:cs typeface="Arial" pitchFamily="34" charset="-120"/>
              </a:rPr>
              <a:t>粗利益率の固定効果回帰</a:t>
            </a:r>
            <a:endParaRPr lang="en-US" sz="4050" dirty="0"/>
          </a:p>
        </p:txBody>
      </p:sp>
      <p:sp>
        <p:nvSpPr>
          <p:cNvPr id="5" name="Text 3"/>
          <p:cNvSpPr/>
          <p:nvPr/>
        </p:nvSpPr>
        <p:spPr>
          <a:xfrm>
            <a:off x="1028700" y="1894384"/>
            <a:ext cx="16344900" cy="519212"/>
          </a:xfrm>
          <a:prstGeom prst="rect">
            <a:avLst/>
          </a:prstGeom>
          <a:noFill/>
          <a:ln/>
        </p:spPr>
        <p:txBody>
          <a:bodyPr wrap="square" lIns="25400" tIns="25400" rIns="25400" bIns="25400" rtlCol="0" anchor="t">
            <a:normAutofit/>
          </a:bodyPr>
          <a:lstStyle/>
          <a:p>
            <a:pPr marL="0" indent="0" algn="l">
              <a:lnSpc>
                <a:spcPct val="145000"/>
              </a:lnSpc>
              <a:buNone/>
            </a:pPr>
            <a:r>
              <a:rPr lang="en-US" sz="2475" dirty="0">
                <a:solidFill>
                  <a:srgbClr val="4A5560"/>
                </a:solidFill>
                <a:latin typeface="Arial" pitchFamily="34" charset="0"/>
                <a:ea typeface="Arial" pitchFamily="34" charset="-122"/>
                <a:cs typeface="Arial" pitchFamily="34" charset="-120"/>
              </a:rPr>
              <a:t>競合グループが1増えると粗利益率は有意に低下し、商圏が</a:t>
            </a:r>
            <a:r>
              <a:rPr lang="en-US" sz="2475" b="1" dirty="0">
                <a:solidFill>
                  <a:srgbClr val="4A5560"/>
                </a:solidFill>
                <a:latin typeface="Arial" pitchFamily="34" charset="0"/>
                <a:ea typeface="Arial" pitchFamily="34" charset="-122"/>
                <a:cs typeface="Arial" pitchFamily="34" charset="-120"/>
              </a:rPr>
              <a:t>狭いほど効果は強い</a:t>
            </a:r>
            <a:r>
              <a:rPr lang="en-US" sz="2475" dirty="0">
                <a:solidFill>
                  <a:srgbClr val="4A5560"/>
                </a:solidFill>
                <a:latin typeface="Arial" pitchFamily="34" charset="0"/>
                <a:ea typeface="Arial" pitchFamily="34" charset="-122"/>
                <a:cs typeface="Arial" pitchFamily="34" charset="-120"/>
              </a:rPr>
              <a:t>。</a:t>
            </a:r>
            <a:endParaRPr lang="en-US" sz="2475" dirty="0"/>
          </a:p>
        </p:txBody>
      </p:sp>
      <p:sp>
        <p:nvSpPr>
          <p:cNvPr id="6" name="Shape 4"/>
          <p:cNvSpPr/>
          <p:nvPr/>
        </p:nvSpPr>
        <p:spPr>
          <a:xfrm>
            <a:off x="1028700" y="2546945"/>
            <a:ext cx="8832751" cy="6558955"/>
          </a:xfrm>
          <a:prstGeom prst="roundRect">
            <a:avLst>
              <a:gd name="adj" fmla="val 1452"/>
            </a:avLst>
          </a:prstGeom>
          <a:solidFill>
            <a:srgbClr val="FFFFFF"/>
          </a:solidFill>
          <a:ln w="6350">
            <a:solidFill>
              <a:srgbClr val="E0DCD2"/>
            </a:solidFill>
            <a:prstDash val="solid"/>
          </a:ln>
        </p:spPr>
      </p:sp>
      <p:sp>
        <p:nvSpPr>
          <p:cNvPr id="7" name="Text 5"/>
          <p:cNvSpPr/>
          <p:nvPr/>
        </p:nvSpPr>
        <p:spPr>
          <a:xfrm>
            <a:off x="1454150" y="2839045"/>
            <a:ext cx="8780036" cy="393700"/>
          </a:xfrm>
          <a:prstGeom prst="rect">
            <a:avLst/>
          </a:prstGeom>
          <a:noFill/>
          <a:ln/>
        </p:spPr>
        <p:txBody>
          <a:bodyPr wrap="square" lIns="25400" tIns="25400" rIns="25400" bIns="25400" rtlCol="0" anchor="t">
            <a:normAutofit/>
          </a:bodyPr>
          <a:lstStyle/>
          <a:p>
            <a:pPr marL="0" indent="0" algn="l">
              <a:buNone/>
            </a:pPr>
            <a:r>
              <a:rPr lang="en-US" sz="1950" dirty="0">
                <a:solidFill>
                  <a:srgbClr val="5A6470"/>
                </a:solidFill>
                <a:latin typeface="Arial" pitchFamily="34" charset="0"/>
                <a:ea typeface="Arial" pitchFamily="34" charset="-122"/>
                <a:cs typeface="Arial" pitchFamily="34" charset="-120"/>
              </a:rPr>
              <a:t>粗利益率の変化（％ポイント）／ 競合グループ ＋1 あたり</a:t>
            </a:r>
            <a:endParaRPr lang="en-US" sz="1950" dirty="0"/>
          </a:p>
        </p:txBody>
      </p:sp>
      <p:sp>
        <p:nvSpPr>
          <p:cNvPr id="8" name="Shape 6"/>
          <p:cNvSpPr/>
          <p:nvPr/>
        </p:nvSpPr>
        <p:spPr>
          <a:xfrm>
            <a:off x="1454150" y="3613745"/>
            <a:ext cx="7981851" cy="19050"/>
          </a:xfrm>
          <a:prstGeom prst="rect">
            <a:avLst/>
          </a:prstGeom>
          <a:solidFill>
            <a:srgbClr val="C9C3B7"/>
          </a:solidFill>
          <a:ln/>
        </p:spPr>
      </p:sp>
      <p:sp>
        <p:nvSpPr>
          <p:cNvPr id="9" name="Text 7"/>
          <p:cNvSpPr/>
          <p:nvPr/>
        </p:nvSpPr>
        <p:spPr>
          <a:xfrm>
            <a:off x="1454150" y="3423245"/>
            <a:ext cx="224830" cy="361950"/>
          </a:xfrm>
          <a:prstGeom prst="rect">
            <a:avLst/>
          </a:prstGeom>
          <a:noFill/>
          <a:ln/>
        </p:spPr>
        <p:txBody>
          <a:bodyPr wrap="square" lIns="25400" tIns="25400" rIns="25400" bIns="25400" rtlCol="0" anchor="t">
            <a:normAutofit/>
          </a:bodyPr>
          <a:lstStyle/>
          <a:p>
            <a:pPr marL="0" indent="0" algn="l">
              <a:buNone/>
            </a:pPr>
            <a:r>
              <a:rPr lang="en-US" sz="1950" dirty="0">
                <a:solidFill>
                  <a:srgbClr val="97928A"/>
                </a:solidFill>
                <a:latin typeface="Courier New" pitchFamily="34" charset="0"/>
                <a:ea typeface="Courier New" pitchFamily="34" charset="-122"/>
                <a:cs typeface="Courier New" pitchFamily="34" charset="-120"/>
              </a:rPr>
              <a:t>0</a:t>
            </a:r>
            <a:endParaRPr lang="en-US" sz="1950" dirty="0"/>
          </a:p>
        </p:txBody>
      </p:sp>
      <p:sp>
        <p:nvSpPr>
          <p:cNvPr id="10" name="Shape 8"/>
          <p:cNvSpPr/>
          <p:nvPr/>
        </p:nvSpPr>
        <p:spPr>
          <a:xfrm>
            <a:off x="2679303" y="3613745"/>
            <a:ext cx="1181100" cy="990600"/>
          </a:xfrm>
          <a:prstGeom prst="rect">
            <a:avLst/>
          </a:prstGeom>
          <a:solidFill>
            <a:srgbClr val="3A4A56"/>
          </a:solidFill>
          <a:ln/>
        </p:spPr>
      </p:sp>
      <p:sp>
        <p:nvSpPr>
          <p:cNvPr id="11" name="Text 9"/>
          <p:cNvSpPr/>
          <p:nvPr/>
        </p:nvSpPr>
        <p:spPr>
          <a:xfrm>
            <a:off x="2641203" y="4756745"/>
            <a:ext cx="1383030" cy="584200"/>
          </a:xfrm>
          <a:prstGeom prst="rect">
            <a:avLst/>
          </a:prstGeom>
          <a:noFill/>
          <a:ln/>
        </p:spPr>
        <p:txBody>
          <a:bodyPr wrap="square" lIns="25400" tIns="25400" rIns="25400" bIns="25400" rtlCol="0" anchor="t">
            <a:normAutofit/>
          </a:bodyPr>
          <a:lstStyle/>
          <a:p>
            <a:pPr marL="0" indent="0" algn="l">
              <a:buNone/>
            </a:pPr>
            <a:r>
              <a:rPr lang="en-US" sz="3300" dirty="0">
                <a:solidFill>
                  <a:srgbClr val="232A33"/>
                </a:solidFill>
                <a:latin typeface="Courier New" pitchFamily="34" charset="0"/>
                <a:ea typeface="Courier New" pitchFamily="34" charset="-122"/>
                <a:cs typeface="Courier New" pitchFamily="34" charset="-120"/>
              </a:rPr>
              <a:t>−0.16</a:t>
            </a:r>
            <a:endParaRPr lang="en-US" sz="3300" dirty="0"/>
          </a:p>
        </p:txBody>
      </p:sp>
      <p:sp>
        <p:nvSpPr>
          <p:cNvPr id="12" name="Text 10"/>
          <p:cNvSpPr/>
          <p:nvPr/>
        </p:nvSpPr>
        <p:spPr>
          <a:xfrm>
            <a:off x="2674144" y="5359996"/>
            <a:ext cx="1267619" cy="438150"/>
          </a:xfrm>
          <a:prstGeom prst="rect">
            <a:avLst/>
          </a:prstGeom>
          <a:noFill/>
          <a:ln/>
        </p:spPr>
        <p:txBody>
          <a:bodyPr wrap="square" lIns="25400" tIns="25400" rIns="25400" bIns="25400" rtlCol="0" anchor="t">
            <a:normAutofit/>
          </a:bodyPr>
          <a:lstStyle/>
          <a:p>
            <a:pPr marL="0" indent="0" algn="l">
              <a:buNone/>
            </a:pPr>
            <a:r>
              <a:rPr lang="en-US" sz="2175" dirty="0">
                <a:solidFill>
                  <a:srgbClr val="3A4350"/>
                </a:solidFill>
                <a:latin typeface="Arial" pitchFamily="34" charset="0"/>
                <a:ea typeface="Arial" pitchFamily="34" charset="-122"/>
                <a:cs typeface="Arial" pitchFamily="34" charset="-120"/>
              </a:rPr>
              <a:t>2km 商圏</a:t>
            </a:r>
            <a:endParaRPr lang="en-US" sz="2175" dirty="0"/>
          </a:p>
        </p:txBody>
      </p:sp>
      <p:sp>
        <p:nvSpPr>
          <p:cNvPr id="13" name="Text 11"/>
          <p:cNvSpPr/>
          <p:nvPr/>
        </p:nvSpPr>
        <p:spPr>
          <a:xfrm>
            <a:off x="3022203" y="5798146"/>
            <a:ext cx="571500" cy="393700"/>
          </a:xfrm>
          <a:prstGeom prst="rect">
            <a:avLst/>
          </a:prstGeom>
          <a:noFill/>
          <a:ln/>
        </p:spPr>
        <p:txBody>
          <a:bodyPr wrap="square" lIns="25400" tIns="25400" rIns="25400" bIns="25400" rtlCol="0" anchor="t">
            <a:normAutofit/>
          </a:bodyPr>
          <a:lstStyle/>
          <a:p>
            <a:pPr marL="0" indent="0" algn="l">
              <a:buNone/>
            </a:pPr>
            <a:r>
              <a:rPr lang="en-US" sz="1950" dirty="0">
                <a:solidFill>
                  <a:srgbClr val="97928A"/>
                </a:solidFill>
                <a:latin typeface="Arial" pitchFamily="34" charset="0"/>
                <a:ea typeface="Arial" pitchFamily="34" charset="-122"/>
                <a:cs typeface="Arial" pitchFamily="34" charset="-120"/>
              </a:rPr>
              <a:t>有意</a:t>
            </a:r>
            <a:endParaRPr lang="en-US" sz="1950" dirty="0"/>
          </a:p>
        </p:txBody>
      </p:sp>
      <p:sp>
        <p:nvSpPr>
          <p:cNvPr id="14" name="Shape 12"/>
          <p:cNvSpPr/>
          <p:nvPr/>
        </p:nvSpPr>
        <p:spPr>
          <a:xfrm>
            <a:off x="6670179" y="3613745"/>
            <a:ext cx="1181100" cy="2552700"/>
          </a:xfrm>
          <a:prstGeom prst="rect">
            <a:avLst/>
          </a:prstGeom>
          <a:solidFill>
            <a:srgbClr val="9A4A38"/>
          </a:solidFill>
          <a:ln/>
          <a:effectLst>
            <a:outerShdw blurRad="190500" dist="76200" dir="5400000" algn="bl" rotWithShape="0">
              <a:srgbClr val="9A4A38">
                <a:alpha val="22000"/>
              </a:srgbClr>
            </a:outerShdw>
          </a:effectLst>
        </p:spPr>
      </p:sp>
      <p:sp>
        <p:nvSpPr>
          <p:cNvPr id="15" name="Text 13"/>
          <p:cNvSpPr/>
          <p:nvPr/>
        </p:nvSpPr>
        <p:spPr>
          <a:xfrm>
            <a:off x="6631980" y="6318846"/>
            <a:ext cx="1383357" cy="514350"/>
          </a:xfrm>
          <a:prstGeom prst="rect">
            <a:avLst/>
          </a:prstGeom>
          <a:noFill/>
          <a:ln/>
        </p:spPr>
        <p:txBody>
          <a:bodyPr wrap="square" lIns="25400" tIns="25400" rIns="25400" bIns="25400" rtlCol="0" anchor="t">
            <a:normAutofit/>
          </a:bodyPr>
          <a:lstStyle/>
          <a:p>
            <a:pPr marL="0" indent="0" algn="l">
              <a:buNone/>
            </a:pPr>
            <a:r>
              <a:rPr lang="en-US" sz="3300" b="1" dirty="0">
                <a:solidFill>
                  <a:srgbClr val="9A4A38"/>
                </a:solidFill>
                <a:latin typeface="Courier New" pitchFamily="34" charset="0"/>
                <a:ea typeface="Courier New" pitchFamily="34" charset="-122"/>
                <a:cs typeface="Courier New" pitchFamily="34" charset="-120"/>
              </a:rPr>
              <a:t>−0.41</a:t>
            </a:r>
            <a:endParaRPr lang="en-US" sz="3300" dirty="0"/>
          </a:p>
        </p:txBody>
      </p:sp>
      <p:sp>
        <p:nvSpPr>
          <p:cNvPr id="16" name="Text 14"/>
          <p:cNvSpPr/>
          <p:nvPr/>
        </p:nvSpPr>
        <p:spPr>
          <a:xfrm>
            <a:off x="6600627" y="6852246"/>
            <a:ext cx="1452225" cy="438150"/>
          </a:xfrm>
          <a:prstGeom prst="rect">
            <a:avLst/>
          </a:prstGeom>
          <a:noFill/>
          <a:ln/>
        </p:spPr>
        <p:txBody>
          <a:bodyPr wrap="square" lIns="25400" tIns="25400" rIns="25400" bIns="25400" rtlCol="0" anchor="t">
            <a:normAutofit/>
          </a:bodyPr>
          <a:lstStyle/>
          <a:p>
            <a:pPr marL="0" indent="0" algn="l">
              <a:buNone/>
            </a:pPr>
            <a:r>
              <a:rPr lang="en-US" sz="2175" b="1" dirty="0">
                <a:solidFill>
                  <a:srgbClr val="9A4A38"/>
                </a:solidFill>
                <a:latin typeface="Arial" pitchFamily="34" charset="0"/>
                <a:ea typeface="Arial" pitchFamily="34" charset="-122"/>
                <a:cs typeface="Arial" pitchFamily="34" charset="-120"/>
              </a:rPr>
              <a:t>500m 商圏</a:t>
            </a:r>
            <a:endParaRPr lang="en-US" sz="2175" dirty="0"/>
          </a:p>
        </p:txBody>
      </p:sp>
      <p:sp>
        <p:nvSpPr>
          <p:cNvPr id="17" name="Text 15"/>
          <p:cNvSpPr/>
          <p:nvPr/>
        </p:nvSpPr>
        <p:spPr>
          <a:xfrm>
            <a:off x="6272610" y="7290396"/>
            <a:ext cx="2173972" cy="393700"/>
          </a:xfrm>
          <a:prstGeom prst="rect">
            <a:avLst/>
          </a:prstGeom>
          <a:noFill/>
          <a:ln/>
        </p:spPr>
        <p:txBody>
          <a:bodyPr wrap="square" lIns="25400" tIns="25400" rIns="25400" bIns="25400" rtlCol="0" anchor="t">
            <a:normAutofit/>
          </a:bodyPr>
          <a:lstStyle/>
          <a:p>
            <a:pPr marL="0" indent="0" algn="l">
              <a:buNone/>
            </a:pPr>
            <a:r>
              <a:rPr lang="en-US" sz="1950" dirty="0">
                <a:solidFill>
                  <a:srgbClr val="B07A6C"/>
                </a:solidFill>
                <a:latin typeface="Arial" pitchFamily="34" charset="0"/>
                <a:ea typeface="Arial" pitchFamily="34" charset="-122"/>
                <a:cs typeface="Arial" pitchFamily="34" charset="-120"/>
              </a:rPr>
              <a:t>有意（より強い）</a:t>
            </a:r>
            <a:endParaRPr lang="en-US" sz="1950" dirty="0"/>
          </a:p>
        </p:txBody>
      </p:sp>
      <p:sp>
        <p:nvSpPr>
          <p:cNvPr id="18" name="Text 16"/>
          <p:cNvSpPr/>
          <p:nvPr/>
        </p:nvSpPr>
        <p:spPr>
          <a:xfrm>
            <a:off x="10318652" y="4025007"/>
            <a:ext cx="7634715" cy="412750"/>
          </a:xfrm>
          <a:prstGeom prst="rect">
            <a:avLst/>
          </a:prstGeom>
          <a:noFill/>
          <a:ln/>
        </p:spPr>
        <p:txBody>
          <a:bodyPr wrap="square" lIns="25400" tIns="25400" rIns="25400" bIns="25400" rtlCol="0" anchor="t">
            <a:normAutofit/>
          </a:bodyPr>
          <a:lstStyle/>
          <a:p>
            <a:pPr marL="0" indent="0" algn="l">
              <a:buNone/>
            </a:pPr>
            <a:r>
              <a:rPr lang="en-US" sz="2025" kern="0" spc="122" dirty="0">
                <a:solidFill>
                  <a:srgbClr val="9A4A38"/>
                </a:solidFill>
                <a:latin typeface="Arial" pitchFamily="34" charset="0"/>
                <a:ea typeface="Arial" pitchFamily="34" charset="-122"/>
                <a:cs typeface="Arial" pitchFamily="34" charset="-120"/>
              </a:rPr>
              <a:t>モデル</a:t>
            </a:r>
            <a:endParaRPr lang="en-US" sz="2025" dirty="0"/>
          </a:p>
        </p:txBody>
      </p:sp>
      <p:sp>
        <p:nvSpPr>
          <p:cNvPr id="19" name="Text 17"/>
          <p:cNvSpPr/>
          <p:nvPr/>
        </p:nvSpPr>
        <p:spPr>
          <a:xfrm>
            <a:off x="10318652" y="4571107"/>
            <a:ext cx="7148869" cy="892175"/>
          </a:xfrm>
          <a:prstGeom prst="rect">
            <a:avLst/>
          </a:prstGeom>
          <a:noFill/>
          <a:ln/>
        </p:spPr>
        <p:txBody>
          <a:bodyPr wrap="square" lIns="25400" tIns="25400" rIns="25400" bIns="25400" rtlCol="0" anchor="t">
            <a:normAutofit/>
          </a:bodyPr>
          <a:lstStyle/>
          <a:p>
            <a:pPr marL="0" indent="0" algn="l">
              <a:lnSpc>
                <a:spcPct val="150000"/>
              </a:lnSpc>
              <a:buNone/>
            </a:pPr>
            <a:r>
              <a:rPr lang="en-US" sz="2175" b="1" dirty="0">
                <a:solidFill>
                  <a:srgbClr val="2C333C"/>
                </a:solidFill>
                <a:latin typeface="Arial" pitchFamily="34" charset="0"/>
                <a:ea typeface="Arial" pitchFamily="34" charset="-122"/>
                <a:cs typeface="Arial" pitchFamily="34" charset="-120"/>
              </a:rPr>
              <a:t>店舗固定効果パネル回帰 </a:t>
            </a:r>
            <a:r>
              <a:rPr lang="en-US" sz="2175" dirty="0">
                <a:solidFill>
                  <a:srgbClr val="2C333C"/>
                </a:solidFill>
                <a:latin typeface="Arial" pitchFamily="34" charset="0"/>
                <a:ea typeface="Arial" pitchFamily="34" charset="-122"/>
                <a:cs typeface="Arial" pitchFamily="34" charset="-120"/>
              </a:rPr>
              <a:t>／被説明変数＝ツルハ各店の粗利益率</a:t>
            </a:r>
            <a:endParaRPr lang="en-US" sz="2175" dirty="0"/>
          </a:p>
        </p:txBody>
      </p:sp>
      <p:sp>
        <p:nvSpPr>
          <p:cNvPr id="20" name="Shape 18"/>
          <p:cNvSpPr/>
          <p:nvPr/>
        </p:nvSpPr>
        <p:spPr>
          <a:xfrm>
            <a:off x="10318652" y="5596632"/>
            <a:ext cx="6940650" cy="9525"/>
          </a:xfrm>
          <a:prstGeom prst="rect">
            <a:avLst/>
          </a:prstGeom>
          <a:solidFill>
            <a:srgbClr val="E4E0D7"/>
          </a:solidFill>
          <a:ln/>
        </p:spPr>
      </p:sp>
      <p:sp>
        <p:nvSpPr>
          <p:cNvPr id="21" name="Text 19"/>
          <p:cNvSpPr/>
          <p:nvPr/>
        </p:nvSpPr>
        <p:spPr>
          <a:xfrm>
            <a:off x="10318652" y="5777607"/>
            <a:ext cx="7148869" cy="864791"/>
          </a:xfrm>
          <a:prstGeom prst="rect">
            <a:avLst/>
          </a:prstGeom>
          <a:noFill/>
          <a:ln/>
        </p:spPr>
        <p:txBody>
          <a:bodyPr wrap="square" lIns="25400" tIns="25400" rIns="25400" bIns="25400" rtlCol="0" anchor="t">
            <a:normAutofit/>
          </a:bodyPr>
          <a:lstStyle/>
          <a:p>
            <a:pPr marL="0" indent="0" algn="l">
              <a:lnSpc>
                <a:spcPct val="155000"/>
              </a:lnSpc>
              <a:buNone/>
            </a:pPr>
            <a:r>
              <a:rPr lang="en-US" sz="2100" dirty="0">
                <a:solidFill>
                  <a:srgbClr val="5A6470"/>
                </a:solidFill>
                <a:latin typeface="Arial" pitchFamily="34" charset="0"/>
                <a:ea typeface="Arial" pitchFamily="34" charset="-122"/>
                <a:cs typeface="Arial" pitchFamily="34" charset="-120"/>
              </a:rPr>
              <a:t>統制：隣接業態（スーパー・HC・DS）の店舗数、需要シフター（人口・高齢化率・地方税）、年月ダミー。</a:t>
            </a:r>
            <a:endParaRPr lang="en-US" sz="2100" dirty="0"/>
          </a:p>
        </p:txBody>
      </p:sp>
      <p:sp>
        <p:nvSpPr>
          <p:cNvPr id="22" name="Text 20"/>
          <p:cNvSpPr/>
          <p:nvPr/>
        </p:nvSpPr>
        <p:spPr>
          <a:xfrm>
            <a:off x="10318652" y="6775748"/>
            <a:ext cx="7148869" cy="890191"/>
          </a:xfrm>
          <a:prstGeom prst="rect">
            <a:avLst/>
          </a:prstGeom>
          <a:noFill/>
          <a:ln/>
        </p:spPr>
        <p:txBody>
          <a:bodyPr wrap="square" lIns="25400" tIns="25400" rIns="25400" bIns="25400" rtlCol="0" anchor="t">
            <a:normAutofit/>
          </a:bodyPr>
          <a:lstStyle/>
          <a:p>
            <a:pPr marL="0" indent="0" algn="l">
              <a:lnSpc>
                <a:spcPct val="155000"/>
              </a:lnSpc>
              <a:buNone/>
            </a:pPr>
            <a:r>
              <a:rPr lang="en-US" sz="2100" dirty="0">
                <a:solidFill>
                  <a:srgbClr val="5A6470"/>
                </a:solidFill>
                <a:latin typeface="Arial" pitchFamily="34" charset="0"/>
                <a:ea typeface="Arial" pitchFamily="34" charset="-122"/>
                <a:cs typeface="Arial" pitchFamily="34" charset="-120"/>
              </a:rPr>
              <a:t>ダミー変数でも段階的に低下。</a:t>
            </a:r>
            <a:r>
              <a:rPr lang="en-US" sz="2100" b="1" dirty="0">
                <a:solidFill>
                  <a:srgbClr val="2C333C"/>
                </a:solidFill>
                <a:latin typeface="Arial" pitchFamily="34" charset="0"/>
                <a:ea typeface="Arial" pitchFamily="34" charset="-122"/>
                <a:cs typeface="Arial" pitchFamily="34" charset="-120"/>
              </a:rPr>
              <a:t>イオン系の出店 </a:t>
            </a:r>
            <a:r>
              <a:rPr lang="en-US" sz="2100" dirty="0">
                <a:solidFill>
                  <a:srgbClr val="5A6470"/>
                </a:solidFill>
                <a:latin typeface="Arial" pitchFamily="34" charset="0"/>
                <a:ea typeface="Arial" pitchFamily="34" charset="-122"/>
                <a:cs typeface="Arial" pitchFamily="34" charset="-120"/>
              </a:rPr>
              <a:t>も粗利益率を有意に引き下げた。</a:t>
            </a:r>
            <a:endParaRPr lang="en-US" sz="2100" dirty="0"/>
          </a:p>
        </p:txBody>
      </p:sp>
      <p:sp>
        <p:nvSpPr>
          <p:cNvPr id="23" name="Shape 21"/>
          <p:cNvSpPr/>
          <p:nvPr/>
        </p:nvSpPr>
        <p:spPr>
          <a:xfrm>
            <a:off x="1028700" y="9296400"/>
            <a:ext cx="16230600" cy="9525"/>
          </a:xfrm>
          <a:prstGeom prst="rect">
            <a:avLst/>
          </a:prstGeom>
          <a:solidFill>
            <a:srgbClr val="E4E0D7"/>
          </a:solidFill>
          <a:ln/>
        </p:spPr>
      </p:sp>
      <p:sp>
        <p:nvSpPr>
          <p:cNvPr id="24" name="Text 22"/>
          <p:cNvSpPr/>
          <p:nvPr/>
        </p:nvSpPr>
        <p:spPr>
          <a:xfrm>
            <a:off x="1028700" y="9455150"/>
            <a:ext cx="5781834" cy="393700"/>
          </a:xfrm>
          <a:prstGeom prst="rect">
            <a:avLst/>
          </a:prstGeom>
          <a:noFill/>
          <a:ln/>
        </p:spPr>
        <p:txBody>
          <a:bodyPr wrap="square" lIns="25400" tIns="25400" rIns="25400" bIns="25400" rtlCol="0" anchor="t">
            <a:normAutofit/>
          </a:bodyPr>
          <a:lstStyle/>
          <a:p>
            <a:pPr marL="0" indent="0" algn="l">
              <a:buNone/>
            </a:pPr>
            <a:r>
              <a:rPr lang="en-US" sz="1950" dirty="0">
                <a:solidFill>
                  <a:srgbClr val="97928A"/>
                </a:solidFill>
                <a:latin typeface="Arial" pitchFamily="34" charset="0"/>
                <a:ea typeface="Arial" pitchFamily="34" charset="-122"/>
                <a:cs typeface="Arial" pitchFamily="34" charset="-120"/>
              </a:rPr>
              <a:t>出典：公正取引委員会 経済分析報告書（別紙）</a:t>
            </a:r>
            <a:endParaRPr lang="en-US" sz="1950" dirty="0"/>
          </a:p>
        </p:txBody>
      </p:sp>
      <p:sp>
        <p:nvSpPr>
          <p:cNvPr id="25" name="Text 23"/>
          <p:cNvSpPr/>
          <p:nvPr/>
        </p:nvSpPr>
        <p:spPr>
          <a:xfrm>
            <a:off x="16115109" y="9471025"/>
            <a:ext cx="1220391" cy="361950"/>
          </a:xfrm>
          <a:prstGeom prst="rect">
            <a:avLst/>
          </a:prstGeom>
          <a:noFill/>
          <a:ln/>
        </p:spPr>
        <p:txBody>
          <a:bodyPr wrap="square" lIns="25400" tIns="25400" rIns="25400" bIns="25400" rtlCol="0" anchor="t">
            <a:normAutofit/>
          </a:bodyPr>
          <a:lstStyle/>
          <a:p>
            <a:pPr marL="0" indent="0" algn="l">
              <a:buNone/>
            </a:pPr>
            <a:r>
              <a:rPr lang="en-US" sz="1950" kern="0" spc="117" dirty="0">
                <a:solidFill>
                  <a:srgbClr val="97928A"/>
                </a:solidFill>
                <a:latin typeface="Courier New" pitchFamily="34" charset="0"/>
                <a:ea typeface="Courier New" pitchFamily="34" charset="-122"/>
                <a:cs typeface="Courier New" pitchFamily="34" charset="-120"/>
              </a:rPr>
              <a:t>16 / 27</a:t>
            </a:r>
            <a:endParaRPr lang="en-US" sz="1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6F2"/>
        </a:solidFill>
        <a:effectLst/>
      </p:bgPr>
    </p:bg>
    <p:spTree>
      <p:nvGrpSpPr>
        <p:cNvPr id="1" name=""/>
        <p:cNvGrpSpPr/>
        <p:nvPr/>
      </p:nvGrpSpPr>
      <p:grpSpPr>
        <a:xfrm>
          <a:off x="0" y="0"/>
          <a:ext cx="0" cy="0"/>
          <a:chOff x="0" y="0"/>
          <a:chExt cx="0" cy="0"/>
        </a:xfrm>
      </p:grpSpPr>
      <p:sp>
        <p:nvSpPr>
          <p:cNvPr id="2" name="Shape 0"/>
          <p:cNvSpPr/>
          <p:nvPr/>
        </p:nvSpPr>
        <p:spPr>
          <a:xfrm>
            <a:off x="1028700" y="744538"/>
            <a:ext cx="304800" cy="28575"/>
          </a:xfrm>
          <a:prstGeom prst="rect">
            <a:avLst/>
          </a:prstGeom>
          <a:solidFill>
            <a:srgbClr val="9A4A38"/>
          </a:solidFill>
          <a:ln/>
        </p:spPr>
      </p:sp>
      <p:sp>
        <p:nvSpPr>
          <p:cNvPr id="3" name="Text 1"/>
          <p:cNvSpPr/>
          <p:nvPr/>
        </p:nvSpPr>
        <p:spPr>
          <a:xfrm>
            <a:off x="1466850" y="571500"/>
            <a:ext cx="3612555" cy="412750"/>
          </a:xfrm>
          <a:prstGeom prst="rect">
            <a:avLst/>
          </a:prstGeom>
          <a:noFill/>
          <a:ln/>
        </p:spPr>
        <p:txBody>
          <a:bodyPr wrap="square" lIns="25400" tIns="25400" rIns="25400" bIns="25400" rtlCol="0" anchor="t">
            <a:normAutofit/>
          </a:bodyPr>
          <a:lstStyle/>
          <a:p>
            <a:pPr marL="0" indent="0" algn="l">
              <a:buNone/>
            </a:pPr>
            <a:r>
              <a:rPr lang="en-US" sz="2025" kern="0" spc="203" dirty="0">
                <a:solidFill>
                  <a:srgbClr val="5A6470"/>
                </a:solidFill>
                <a:latin typeface="Arial" pitchFamily="34" charset="0"/>
                <a:ea typeface="Arial" pitchFamily="34" charset="-122"/>
                <a:cs typeface="Arial" pitchFamily="34" charset="-120"/>
              </a:rPr>
              <a:t>第3部 再現② 経済分析</a:t>
            </a:r>
            <a:endParaRPr lang="en-US" sz="2025" dirty="0"/>
          </a:p>
        </p:txBody>
      </p:sp>
      <p:sp>
        <p:nvSpPr>
          <p:cNvPr id="4" name="Text 2"/>
          <p:cNvSpPr/>
          <p:nvPr/>
        </p:nvSpPr>
        <p:spPr>
          <a:xfrm>
            <a:off x="1028700" y="1098550"/>
            <a:ext cx="17853660" cy="624384"/>
          </a:xfrm>
          <a:prstGeom prst="rect">
            <a:avLst/>
          </a:prstGeom>
          <a:noFill/>
          <a:ln/>
        </p:spPr>
        <p:txBody>
          <a:bodyPr wrap="square" lIns="25400" tIns="25400" rIns="25400" bIns="25400" rtlCol="0" anchor="t">
            <a:normAutofit/>
          </a:bodyPr>
          <a:lstStyle/>
          <a:p>
            <a:pPr marL="0" indent="0" algn="l">
              <a:lnSpc>
                <a:spcPct val="114000"/>
              </a:lnSpc>
              <a:buNone/>
            </a:pPr>
            <a:r>
              <a:rPr lang="en-US" sz="4050" b="1" dirty="0">
                <a:solidFill>
                  <a:srgbClr val="1F2730"/>
                </a:solidFill>
                <a:latin typeface="Arial" pitchFamily="34" charset="0"/>
                <a:ea typeface="Arial" pitchFamily="34" charset="-122"/>
                <a:cs typeface="Arial" pitchFamily="34" charset="-120"/>
              </a:rPr>
              <a:t>内生性 ― 競合の数は「内生」である</a:t>
            </a:r>
            <a:endParaRPr lang="en-US" sz="4050" dirty="0"/>
          </a:p>
        </p:txBody>
      </p:sp>
      <p:sp>
        <p:nvSpPr>
          <p:cNvPr id="5" name="Text 3"/>
          <p:cNvSpPr/>
          <p:nvPr/>
        </p:nvSpPr>
        <p:spPr>
          <a:xfrm>
            <a:off x="1028700" y="1799134"/>
            <a:ext cx="15893415" cy="916781"/>
          </a:xfrm>
          <a:prstGeom prst="rect">
            <a:avLst/>
          </a:prstGeom>
          <a:noFill/>
          <a:ln/>
        </p:spPr>
        <p:txBody>
          <a:bodyPr wrap="square" lIns="25400" tIns="25400" rIns="25400" bIns="25400" rtlCol="0" anchor="t">
            <a:normAutofit/>
          </a:bodyPr>
          <a:lstStyle/>
          <a:p>
            <a:pPr marL="0" indent="0" algn="l">
              <a:lnSpc>
                <a:spcPct val="140000"/>
              </a:lnSpc>
              <a:buNone/>
            </a:pPr>
            <a:r>
              <a:rPr lang="en-US" sz="2400" dirty="0">
                <a:solidFill>
                  <a:srgbClr val="4A5560"/>
                </a:solidFill>
                <a:latin typeface="Arial" pitchFamily="34" charset="0"/>
                <a:ea typeface="Arial" pitchFamily="34" charset="-122"/>
                <a:cs typeface="Arial" pitchFamily="34" charset="-120"/>
              </a:rPr>
              <a:t>競合は儲かる立地を選んで出店する。「地域の需要」という共通原因が競合と利益率の両方を押し上げ、本当に知りたい効果 </a:t>
            </a:r>
            <a:r>
              <a:rPr lang="en-US" sz="2400" b="1" dirty="0">
                <a:solidFill>
                  <a:srgbClr val="9A4A38"/>
                </a:solidFill>
                <a:latin typeface="Arial" pitchFamily="34" charset="0"/>
                <a:ea typeface="Arial" pitchFamily="34" charset="-122"/>
                <a:cs typeface="Arial" pitchFamily="34" charset="-120"/>
              </a:rPr>
              <a:t>β </a:t>
            </a:r>
            <a:r>
              <a:rPr lang="en-US" sz="2400" dirty="0">
                <a:solidFill>
                  <a:srgbClr val="4A5560"/>
                </a:solidFill>
                <a:latin typeface="Arial" pitchFamily="34" charset="0"/>
                <a:ea typeface="Arial" pitchFamily="34" charset="-122"/>
                <a:cs typeface="Arial" pitchFamily="34" charset="-120"/>
              </a:rPr>
              <a:t>を覆い隠す。</a:t>
            </a:r>
            <a:endParaRPr lang="en-US" sz="2400" dirty="0"/>
          </a:p>
        </p:txBody>
      </p:sp>
      <p:sp>
        <p:nvSpPr>
          <p:cNvPr id="6" name="Shape 4"/>
          <p:cNvSpPr/>
          <p:nvPr/>
        </p:nvSpPr>
        <p:spPr>
          <a:xfrm>
            <a:off x="1028700" y="3911699"/>
            <a:ext cx="9236869" cy="4188817"/>
          </a:xfrm>
          <a:prstGeom prst="roundRect">
            <a:avLst>
              <a:gd name="adj" fmla="val 2729"/>
            </a:avLst>
          </a:prstGeom>
          <a:solidFill>
            <a:srgbClr val="FFFFFF"/>
          </a:solidFill>
          <a:ln w="6350">
            <a:solidFill>
              <a:srgbClr val="E0DCD2"/>
            </a:solidFill>
            <a:prstDash val="solid"/>
          </a:ln>
        </p:spPr>
      </p:sp>
      <p:pic>
        <p:nvPicPr>
          <p:cNvPr id="7" name="Image 0" descr="preencoded.png"/>
          <p:cNvPicPr>
            <a:picLocks noChangeAspect="1"/>
          </p:cNvPicPr>
          <p:nvPr/>
        </p:nvPicPr>
        <p:blipFill>
          <a:blip r:embed="rId3"/>
          <a:stretch>
            <a:fillRect/>
          </a:stretch>
        </p:blipFill>
        <p:spPr>
          <a:xfrm>
            <a:off x="1282700" y="4108549"/>
            <a:ext cx="8728869" cy="3795117"/>
          </a:xfrm>
          <a:prstGeom prst="rect">
            <a:avLst/>
          </a:prstGeom>
        </p:spPr>
      </p:pic>
      <p:sp>
        <p:nvSpPr>
          <p:cNvPr id="8" name="Text 5"/>
          <p:cNvSpPr/>
          <p:nvPr/>
        </p:nvSpPr>
        <p:spPr>
          <a:xfrm>
            <a:off x="10646569" y="3810992"/>
            <a:ext cx="7274004" cy="36830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9A4A38"/>
                </a:solidFill>
                <a:latin typeface="Arial" pitchFamily="34" charset="0"/>
                <a:ea typeface="Arial" pitchFamily="34" charset="-122"/>
                <a:cs typeface="Arial" pitchFamily="34" charset="-120"/>
              </a:rPr>
              <a:t>知りたいのは係数 β</a:t>
            </a:r>
            <a:endParaRPr lang="en-US" sz="1800" dirty="0"/>
          </a:p>
        </p:txBody>
      </p:sp>
      <p:sp>
        <p:nvSpPr>
          <p:cNvPr id="9" name="Text 6"/>
          <p:cNvSpPr/>
          <p:nvPr/>
        </p:nvSpPr>
        <p:spPr>
          <a:xfrm>
            <a:off x="10646569" y="4217392"/>
            <a:ext cx="6811113" cy="836811"/>
          </a:xfrm>
          <a:prstGeom prst="rect">
            <a:avLst/>
          </a:prstGeom>
          <a:noFill/>
          <a:ln/>
        </p:spPr>
        <p:txBody>
          <a:bodyPr wrap="square" lIns="25400" tIns="25400" rIns="25400" bIns="25400" rtlCol="0" anchor="t">
            <a:normAutofit/>
          </a:bodyPr>
          <a:lstStyle/>
          <a:p>
            <a:pPr marL="0" indent="0" algn="l">
              <a:lnSpc>
                <a:spcPct val="145000"/>
              </a:lnSpc>
              <a:buNone/>
            </a:pPr>
            <a:r>
              <a:rPr lang="en-US" sz="2100" dirty="0">
                <a:solidFill>
                  <a:srgbClr val="2C333C"/>
                </a:solidFill>
                <a:latin typeface="Arial" pitchFamily="34" charset="0"/>
                <a:ea typeface="Arial" pitchFamily="34" charset="-122"/>
                <a:cs typeface="Arial" pitchFamily="34" charset="-120"/>
              </a:rPr>
              <a:t>競合が1つ増えると粗利益率は何%pt 動くか。競争の常識では </a:t>
            </a:r>
            <a:r>
              <a:rPr lang="en-US" sz="2100" b="1" dirty="0">
                <a:solidFill>
                  <a:srgbClr val="2C333C"/>
                </a:solidFill>
                <a:latin typeface="Arial" pitchFamily="34" charset="0"/>
                <a:ea typeface="Arial" pitchFamily="34" charset="-122"/>
                <a:cs typeface="Arial" pitchFamily="34" charset="-120"/>
              </a:rPr>
              <a:t>マイナス </a:t>
            </a:r>
            <a:r>
              <a:rPr lang="en-US" sz="2100" dirty="0">
                <a:solidFill>
                  <a:srgbClr val="2C333C"/>
                </a:solidFill>
                <a:latin typeface="Arial" pitchFamily="34" charset="0"/>
                <a:ea typeface="Arial" pitchFamily="34" charset="-122"/>
                <a:cs typeface="Arial" pitchFamily="34" charset="-120"/>
              </a:rPr>
              <a:t>のはず。</a:t>
            </a:r>
            <a:endParaRPr lang="en-US" sz="2100" dirty="0"/>
          </a:p>
        </p:txBody>
      </p:sp>
      <p:sp>
        <p:nvSpPr>
          <p:cNvPr id="10" name="Shape 7"/>
          <p:cNvSpPr/>
          <p:nvPr/>
        </p:nvSpPr>
        <p:spPr>
          <a:xfrm>
            <a:off x="10646569" y="5168503"/>
            <a:ext cx="6612731" cy="9525"/>
          </a:xfrm>
          <a:prstGeom prst="rect">
            <a:avLst/>
          </a:prstGeom>
          <a:solidFill>
            <a:srgbClr val="E4E0D7"/>
          </a:solidFill>
          <a:ln/>
        </p:spPr>
      </p:sp>
      <p:sp>
        <p:nvSpPr>
          <p:cNvPr id="11" name="Text 8"/>
          <p:cNvSpPr/>
          <p:nvPr/>
        </p:nvSpPr>
        <p:spPr>
          <a:xfrm>
            <a:off x="10646569" y="5330428"/>
            <a:ext cx="7274004" cy="36830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9A4A38"/>
                </a:solidFill>
                <a:latin typeface="Arial" pitchFamily="34" charset="0"/>
                <a:ea typeface="Arial" pitchFamily="34" charset="-122"/>
                <a:cs typeface="Arial" pitchFamily="34" charset="-120"/>
              </a:rPr>
              <a:t>なぜ覆い隠されるか</a:t>
            </a:r>
            <a:endParaRPr lang="en-US" sz="1800" dirty="0"/>
          </a:p>
        </p:txBody>
      </p:sp>
      <p:sp>
        <p:nvSpPr>
          <p:cNvPr id="12" name="Text 9"/>
          <p:cNvSpPr/>
          <p:nvPr/>
        </p:nvSpPr>
        <p:spPr>
          <a:xfrm>
            <a:off x="10646569" y="5736828"/>
            <a:ext cx="6811113" cy="1223466"/>
          </a:xfrm>
          <a:prstGeom prst="rect">
            <a:avLst/>
          </a:prstGeom>
          <a:noFill/>
          <a:ln/>
        </p:spPr>
        <p:txBody>
          <a:bodyPr wrap="square" lIns="25400" tIns="25400" rIns="25400" bIns="25400" rtlCol="0" anchor="t">
            <a:normAutofit/>
          </a:bodyPr>
          <a:lstStyle/>
          <a:p>
            <a:pPr marL="0" indent="0" algn="l">
              <a:lnSpc>
                <a:spcPct val="145000"/>
              </a:lnSpc>
              <a:buNone/>
            </a:pPr>
            <a:r>
              <a:rPr lang="en-US" sz="2100" dirty="0">
                <a:solidFill>
                  <a:srgbClr val="2C333C"/>
                </a:solidFill>
                <a:latin typeface="Arial" pitchFamily="34" charset="0"/>
                <a:ea typeface="Arial" pitchFamily="34" charset="-122"/>
                <a:cs typeface="Arial" pitchFamily="34" charset="-120"/>
              </a:rPr>
              <a:t>競合は好立地を選ぶ →「競合が多い＝もともと儲かる場所」。 </a:t>
            </a:r>
            <a:r>
              <a:rPr lang="en-US" sz="2100" b="1" dirty="0">
                <a:solidFill>
                  <a:srgbClr val="2C333C"/>
                </a:solidFill>
                <a:latin typeface="Arial" pitchFamily="34" charset="0"/>
                <a:ea typeface="Arial" pitchFamily="34" charset="-122"/>
                <a:cs typeface="Arial" pitchFamily="34" charset="-120"/>
              </a:rPr>
              <a:t>消防車が多い現場ほど被害が大きい </a:t>
            </a:r>
            <a:r>
              <a:rPr lang="en-US" sz="2100" dirty="0">
                <a:solidFill>
                  <a:srgbClr val="2C333C"/>
                </a:solidFill>
                <a:latin typeface="Arial" pitchFamily="34" charset="0"/>
                <a:ea typeface="Arial" pitchFamily="34" charset="-122"/>
                <a:cs typeface="Arial" pitchFamily="34" charset="-120"/>
              </a:rPr>
              <a:t>のと同じで、共通原因が真の効果を覆う。</a:t>
            </a:r>
            <a:endParaRPr lang="en-US" sz="2100" dirty="0"/>
          </a:p>
        </p:txBody>
      </p:sp>
      <p:sp>
        <p:nvSpPr>
          <p:cNvPr id="13" name="Shape 10"/>
          <p:cNvSpPr/>
          <p:nvPr/>
        </p:nvSpPr>
        <p:spPr>
          <a:xfrm>
            <a:off x="10646569" y="7074595"/>
            <a:ext cx="6612731" cy="1126728"/>
          </a:xfrm>
          <a:prstGeom prst="rect">
            <a:avLst/>
          </a:prstGeom>
          <a:solidFill>
            <a:srgbClr val="F1E7E3"/>
          </a:solidFill>
          <a:ln/>
        </p:spPr>
      </p:sp>
      <p:sp>
        <p:nvSpPr>
          <p:cNvPr id="14" name="Shape 11"/>
          <p:cNvSpPr/>
          <p:nvPr/>
        </p:nvSpPr>
        <p:spPr>
          <a:xfrm>
            <a:off x="10646569" y="7074595"/>
            <a:ext cx="44450" cy="1126728"/>
          </a:xfrm>
          <a:prstGeom prst="rect">
            <a:avLst/>
          </a:prstGeom>
          <a:solidFill>
            <a:srgbClr val="9A4A38"/>
          </a:solidFill>
          <a:ln/>
        </p:spPr>
      </p:sp>
      <p:sp>
        <p:nvSpPr>
          <p:cNvPr id="15" name="Text 12"/>
          <p:cNvSpPr/>
          <p:nvPr/>
        </p:nvSpPr>
        <p:spPr>
          <a:xfrm>
            <a:off x="10938669" y="7246045"/>
            <a:ext cx="6271363" cy="821928"/>
          </a:xfrm>
          <a:prstGeom prst="rect">
            <a:avLst/>
          </a:prstGeom>
          <a:noFill/>
          <a:ln/>
        </p:spPr>
        <p:txBody>
          <a:bodyPr wrap="square" lIns="25400" tIns="25400" rIns="25400" bIns="25400" rtlCol="0" anchor="t">
            <a:normAutofit/>
          </a:bodyPr>
          <a:lstStyle/>
          <a:p>
            <a:pPr marL="0" indent="0" algn="l">
              <a:lnSpc>
                <a:spcPct val="145000"/>
              </a:lnSpc>
              <a:buNone/>
            </a:pPr>
            <a:r>
              <a:rPr lang="en-US" sz="2025" dirty="0">
                <a:solidFill>
                  <a:srgbClr val="3A2F2B"/>
                </a:solidFill>
                <a:highlight>
                  <a:srgbClr val="F1E7E3"/>
                </a:highlight>
                <a:latin typeface="Arial" pitchFamily="34" charset="0"/>
                <a:ea typeface="Arial" pitchFamily="34" charset="-122"/>
                <a:cs typeface="Arial" pitchFamily="34" charset="-120"/>
              </a:rPr>
              <a:t>素朴なプールドOLSでは </a:t>
            </a:r>
            <a:r>
              <a:rPr lang="en-US" sz="2025" b="1" dirty="0">
                <a:solidFill>
                  <a:srgbClr val="9A4A38"/>
                </a:solidFill>
                <a:latin typeface="Courier New" pitchFamily="34" charset="0"/>
                <a:ea typeface="Courier New" pitchFamily="34" charset="-122"/>
                <a:cs typeface="Courier New" pitchFamily="34" charset="-120"/>
              </a:rPr>
              <a:t>β=+0.79 </a:t>
            </a:r>
            <a:r>
              <a:rPr lang="en-US" sz="2025" dirty="0">
                <a:solidFill>
                  <a:srgbClr val="3A2F2B"/>
                </a:solidFill>
                <a:highlight>
                  <a:srgbClr val="F1E7E3"/>
                </a:highlight>
                <a:latin typeface="Arial" pitchFamily="34" charset="0"/>
                <a:ea typeface="Arial" pitchFamily="34" charset="-122"/>
                <a:cs typeface="Arial" pitchFamily="34" charset="-120"/>
              </a:rPr>
              <a:t>と</a:t>
            </a:r>
            <a:r>
              <a:rPr lang="en-US" sz="2025" b="1" dirty="0">
                <a:solidFill>
                  <a:srgbClr val="3A2F2B"/>
                </a:solidFill>
                <a:latin typeface="Arial" pitchFamily="34" charset="0"/>
                <a:ea typeface="Arial" pitchFamily="34" charset="-122"/>
                <a:cs typeface="Arial" pitchFamily="34" charset="-120"/>
              </a:rPr>
              <a:t>符号が逆転 </a:t>
            </a:r>
            <a:r>
              <a:rPr lang="en-US" sz="2025" dirty="0">
                <a:solidFill>
                  <a:srgbClr val="3A2F2B"/>
                </a:solidFill>
                <a:highlight>
                  <a:srgbClr val="F1E7E3"/>
                </a:highlight>
                <a:latin typeface="Arial" pitchFamily="34" charset="0"/>
                <a:ea typeface="Arial" pitchFamily="34" charset="-122"/>
                <a:cs typeface="Arial" pitchFamily="34" charset="-120"/>
              </a:rPr>
              <a:t>してしまう。</a:t>
            </a:r>
            <a:endParaRPr lang="en-US" sz="2025" dirty="0"/>
          </a:p>
        </p:txBody>
      </p:sp>
      <p:sp>
        <p:nvSpPr>
          <p:cNvPr id="16" name="Shape 13"/>
          <p:cNvSpPr/>
          <p:nvPr/>
        </p:nvSpPr>
        <p:spPr>
          <a:xfrm>
            <a:off x="1028700" y="9334500"/>
            <a:ext cx="16230600" cy="9525"/>
          </a:xfrm>
          <a:prstGeom prst="rect">
            <a:avLst/>
          </a:prstGeom>
          <a:solidFill>
            <a:srgbClr val="E4E0D7"/>
          </a:solidFill>
          <a:ln/>
        </p:spPr>
      </p:sp>
      <p:sp>
        <p:nvSpPr>
          <p:cNvPr id="17" name="Text 14"/>
          <p:cNvSpPr/>
          <p:nvPr/>
        </p:nvSpPr>
        <p:spPr>
          <a:xfrm>
            <a:off x="1028700" y="9474200"/>
            <a:ext cx="6976378" cy="393700"/>
          </a:xfrm>
          <a:prstGeom prst="rect">
            <a:avLst/>
          </a:prstGeom>
          <a:noFill/>
          <a:ln/>
        </p:spPr>
        <p:txBody>
          <a:bodyPr wrap="square" lIns="25400" tIns="25400" rIns="25400" bIns="25400" rtlCol="0" anchor="t">
            <a:normAutofit/>
          </a:bodyPr>
          <a:lstStyle/>
          <a:p>
            <a:pPr marL="0" indent="0" algn="l">
              <a:buNone/>
            </a:pPr>
            <a:r>
              <a:rPr lang="en-US" sz="1950" dirty="0">
                <a:solidFill>
                  <a:srgbClr val="97928A"/>
                </a:solidFill>
                <a:latin typeface="Arial" pitchFamily="34" charset="0"/>
                <a:ea typeface="Arial" pitchFamily="34" charset="-122"/>
                <a:cs typeface="Arial" pitchFamily="34" charset="-120"/>
              </a:rPr>
              <a:t>永田 稔人 ｜ 中里ゼミ（経済法） ｜ 2026年6月30日</a:t>
            </a:r>
            <a:endParaRPr lang="en-US" sz="1950" dirty="0"/>
          </a:p>
        </p:txBody>
      </p:sp>
      <p:sp>
        <p:nvSpPr>
          <p:cNvPr id="18" name="Text 15"/>
          <p:cNvSpPr/>
          <p:nvPr/>
        </p:nvSpPr>
        <p:spPr>
          <a:xfrm>
            <a:off x="16115109" y="9490075"/>
            <a:ext cx="1220391" cy="361950"/>
          </a:xfrm>
          <a:prstGeom prst="rect">
            <a:avLst/>
          </a:prstGeom>
          <a:noFill/>
          <a:ln/>
        </p:spPr>
        <p:txBody>
          <a:bodyPr wrap="square" lIns="25400" tIns="25400" rIns="25400" bIns="25400" rtlCol="0" anchor="t">
            <a:normAutofit/>
          </a:bodyPr>
          <a:lstStyle/>
          <a:p>
            <a:pPr marL="0" indent="0" algn="l">
              <a:buNone/>
            </a:pPr>
            <a:r>
              <a:rPr lang="en-US" sz="1950" kern="0" spc="117" dirty="0">
                <a:solidFill>
                  <a:srgbClr val="97928A"/>
                </a:solidFill>
                <a:latin typeface="Courier New" pitchFamily="34" charset="0"/>
                <a:ea typeface="Courier New" pitchFamily="34" charset="-122"/>
                <a:cs typeface="Courier New" pitchFamily="34" charset="-120"/>
              </a:rPr>
              <a:t>17 / 27</a:t>
            </a:r>
            <a:endParaRPr lang="en-US" sz="1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6F2"/>
        </a:solidFill>
        <a:effectLst/>
      </p:bgPr>
    </p:bg>
    <p:spTree>
      <p:nvGrpSpPr>
        <p:cNvPr id="1" name=""/>
        <p:cNvGrpSpPr/>
        <p:nvPr/>
      </p:nvGrpSpPr>
      <p:grpSpPr>
        <a:xfrm>
          <a:off x="0" y="0"/>
          <a:ext cx="0" cy="0"/>
          <a:chOff x="0" y="0"/>
          <a:chExt cx="0" cy="0"/>
        </a:xfrm>
      </p:grpSpPr>
      <p:sp>
        <p:nvSpPr>
          <p:cNvPr id="2" name="Shape 0"/>
          <p:cNvSpPr/>
          <p:nvPr/>
        </p:nvSpPr>
        <p:spPr>
          <a:xfrm>
            <a:off x="1028700" y="744538"/>
            <a:ext cx="304800" cy="28575"/>
          </a:xfrm>
          <a:prstGeom prst="rect">
            <a:avLst/>
          </a:prstGeom>
          <a:solidFill>
            <a:srgbClr val="9A4A38"/>
          </a:solidFill>
          <a:ln/>
        </p:spPr>
      </p:sp>
      <p:sp>
        <p:nvSpPr>
          <p:cNvPr id="3" name="Text 1"/>
          <p:cNvSpPr/>
          <p:nvPr/>
        </p:nvSpPr>
        <p:spPr>
          <a:xfrm>
            <a:off x="1466850" y="571500"/>
            <a:ext cx="3612555" cy="412750"/>
          </a:xfrm>
          <a:prstGeom prst="rect">
            <a:avLst/>
          </a:prstGeom>
          <a:noFill/>
          <a:ln/>
        </p:spPr>
        <p:txBody>
          <a:bodyPr wrap="square" lIns="25400" tIns="25400" rIns="25400" bIns="25400" rtlCol="0" anchor="t">
            <a:normAutofit/>
          </a:bodyPr>
          <a:lstStyle/>
          <a:p>
            <a:pPr marL="0" indent="0" algn="l">
              <a:buNone/>
            </a:pPr>
            <a:r>
              <a:rPr lang="en-US" sz="2025" kern="0" spc="203" dirty="0">
                <a:solidFill>
                  <a:srgbClr val="5A6470"/>
                </a:solidFill>
                <a:latin typeface="Arial" pitchFamily="34" charset="0"/>
                <a:ea typeface="Arial" pitchFamily="34" charset="-122"/>
                <a:cs typeface="Arial" pitchFamily="34" charset="-120"/>
              </a:rPr>
              <a:t>第3部 再現② 経済分析</a:t>
            </a:r>
            <a:endParaRPr lang="en-US" sz="2025" dirty="0"/>
          </a:p>
        </p:txBody>
      </p:sp>
      <p:sp>
        <p:nvSpPr>
          <p:cNvPr id="4" name="Text 2"/>
          <p:cNvSpPr/>
          <p:nvPr/>
        </p:nvSpPr>
        <p:spPr>
          <a:xfrm>
            <a:off x="1028700" y="1098550"/>
            <a:ext cx="17853660" cy="624384"/>
          </a:xfrm>
          <a:prstGeom prst="rect">
            <a:avLst/>
          </a:prstGeom>
          <a:noFill/>
          <a:ln/>
        </p:spPr>
        <p:txBody>
          <a:bodyPr wrap="square" lIns="25400" tIns="25400" rIns="25400" bIns="25400" rtlCol="0" anchor="t">
            <a:normAutofit/>
          </a:bodyPr>
          <a:lstStyle/>
          <a:p>
            <a:pPr marL="0" indent="0" algn="l">
              <a:lnSpc>
                <a:spcPct val="114000"/>
              </a:lnSpc>
              <a:buNone/>
            </a:pPr>
            <a:r>
              <a:rPr lang="en-US" sz="4050" b="1" dirty="0">
                <a:solidFill>
                  <a:srgbClr val="1F2730"/>
                </a:solidFill>
                <a:latin typeface="Arial" pitchFamily="34" charset="0"/>
                <a:ea typeface="Arial" pitchFamily="34" charset="-122"/>
                <a:cs typeface="Arial" pitchFamily="34" charset="-120"/>
              </a:rPr>
              <a:t>モンテカルロ：内生性は効果を覆い隠す</a:t>
            </a:r>
            <a:endParaRPr lang="en-US" sz="4050" dirty="0"/>
          </a:p>
        </p:txBody>
      </p:sp>
      <p:sp>
        <p:nvSpPr>
          <p:cNvPr id="5" name="Text 3"/>
          <p:cNvSpPr/>
          <p:nvPr/>
        </p:nvSpPr>
        <p:spPr>
          <a:xfrm>
            <a:off x="1028700" y="1799134"/>
            <a:ext cx="16973550" cy="515541"/>
          </a:xfrm>
          <a:prstGeom prst="rect">
            <a:avLst/>
          </a:prstGeom>
          <a:noFill/>
          <a:ln/>
        </p:spPr>
        <p:txBody>
          <a:bodyPr wrap="square" lIns="25400" tIns="25400" rIns="25400" bIns="25400" rtlCol="0" anchor="t">
            <a:normAutofit/>
          </a:bodyPr>
          <a:lstStyle/>
          <a:p>
            <a:pPr marL="0" indent="0" algn="l">
              <a:lnSpc>
                <a:spcPct val="140000"/>
              </a:lnSpc>
              <a:buNone/>
            </a:pPr>
            <a:r>
              <a:rPr lang="en-US" sz="2400" dirty="0">
                <a:solidFill>
                  <a:srgbClr val="4A5560"/>
                </a:solidFill>
                <a:latin typeface="Arial" pitchFamily="34" charset="0"/>
                <a:ea typeface="Arial" pitchFamily="34" charset="-122"/>
                <a:cs typeface="Arial" pitchFamily="34" charset="-120"/>
              </a:rPr>
              <a:t>競合が外生なら真値 </a:t>
            </a:r>
            <a:r>
              <a:rPr lang="en-US" sz="2400" b="1" dirty="0">
                <a:solidFill>
                  <a:srgbClr val="9A4A38"/>
                </a:solidFill>
                <a:latin typeface="Courier New" pitchFamily="34" charset="0"/>
                <a:ea typeface="Courier New" pitchFamily="34" charset="-122"/>
                <a:cs typeface="Courier New" pitchFamily="34" charset="-120"/>
              </a:rPr>
              <a:t>β=−0.16 </a:t>
            </a:r>
            <a:r>
              <a:rPr lang="en-US" sz="2400" dirty="0">
                <a:solidFill>
                  <a:srgbClr val="4A5560"/>
                </a:solidFill>
                <a:latin typeface="Arial" pitchFamily="34" charset="0"/>
                <a:ea typeface="Arial" pitchFamily="34" charset="-122"/>
                <a:cs typeface="Arial" pitchFamily="34" charset="-120"/>
              </a:rPr>
              <a:t>を回復。内生なら推定はゼロ付近へ大きく偏る。</a:t>
            </a:r>
            <a:endParaRPr lang="en-US" sz="2400" dirty="0"/>
          </a:p>
        </p:txBody>
      </p:sp>
      <p:sp>
        <p:nvSpPr>
          <p:cNvPr id="6" name="Shape 4"/>
          <p:cNvSpPr/>
          <p:nvPr/>
        </p:nvSpPr>
        <p:spPr>
          <a:xfrm>
            <a:off x="1028700" y="3127871"/>
            <a:ext cx="8713986" cy="5355332"/>
          </a:xfrm>
          <a:prstGeom prst="roundRect">
            <a:avLst>
              <a:gd name="adj" fmla="val 2134"/>
            </a:avLst>
          </a:prstGeom>
          <a:solidFill>
            <a:srgbClr val="FFFFFF"/>
          </a:solidFill>
          <a:ln w="6350">
            <a:solidFill>
              <a:srgbClr val="E0DCD2"/>
            </a:solidFill>
            <a:prstDash val="solid"/>
          </a:ln>
        </p:spPr>
      </p:sp>
      <p:pic>
        <p:nvPicPr>
          <p:cNvPr id="7" name="Image 0" descr="preencoded.png"/>
          <p:cNvPicPr>
            <a:picLocks noChangeAspect="1"/>
          </p:cNvPicPr>
          <p:nvPr/>
        </p:nvPicPr>
        <p:blipFill>
          <a:blip r:embed="rId3"/>
          <a:stretch>
            <a:fillRect/>
          </a:stretch>
        </p:blipFill>
        <p:spPr>
          <a:xfrm>
            <a:off x="1282700" y="3343771"/>
            <a:ext cx="8205986" cy="4923532"/>
          </a:xfrm>
          <a:prstGeom prst="rect">
            <a:avLst/>
          </a:prstGeom>
        </p:spPr>
      </p:pic>
      <p:sp>
        <p:nvSpPr>
          <p:cNvPr id="8" name="Shape 5"/>
          <p:cNvSpPr/>
          <p:nvPr/>
        </p:nvSpPr>
        <p:spPr>
          <a:xfrm>
            <a:off x="10123687" y="3571577"/>
            <a:ext cx="7135614" cy="1113631"/>
          </a:xfrm>
          <a:prstGeom prst="roundRect">
            <a:avLst>
              <a:gd name="adj" fmla="val 8553"/>
            </a:avLst>
          </a:prstGeom>
          <a:solidFill>
            <a:srgbClr val="FFFFFF"/>
          </a:solidFill>
          <a:ln w="6350">
            <a:solidFill>
              <a:srgbClr val="E0DCD2"/>
            </a:solidFill>
            <a:prstDash val="solid"/>
          </a:ln>
        </p:spPr>
      </p:sp>
      <p:sp>
        <p:nvSpPr>
          <p:cNvPr id="9" name="Shape 6"/>
          <p:cNvSpPr/>
          <p:nvPr/>
        </p:nvSpPr>
        <p:spPr>
          <a:xfrm>
            <a:off x="10358636" y="3797003"/>
            <a:ext cx="209550" cy="209550"/>
          </a:xfrm>
          <a:prstGeom prst="roundRect">
            <a:avLst>
              <a:gd name="adj" fmla="val 18182"/>
            </a:avLst>
          </a:prstGeom>
          <a:solidFill>
            <a:srgbClr val="6E9BC5"/>
          </a:solidFill>
          <a:ln/>
        </p:spPr>
      </p:sp>
      <p:sp>
        <p:nvSpPr>
          <p:cNvPr id="10" name="Text 7"/>
          <p:cNvSpPr/>
          <p:nvPr/>
        </p:nvSpPr>
        <p:spPr>
          <a:xfrm>
            <a:off x="10701536" y="3749378"/>
            <a:ext cx="6512498" cy="796131"/>
          </a:xfrm>
          <a:prstGeom prst="rect">
            <a:avLst/>
          </a:prstGeom>
          <a:noFill/>
          <a:ln/>
        </p:spPr>
        <p:txBody>
          <a:bodyPr wrap="square" lIns="25400" tIns="25400" rIns="25400" bIns="25400" rtlCol="0" anchor="t">
            <a:normAutofit/>
          </a:bodyPr>
          <a:lstStyle/>
          <a:p>
            <a:pPr marL="0" indent="0" algn="l">
              <a:lnSpc>
                <a:spcPct val="140000"/>
              </a:lnSpc>
              <a:buNone/>
            </a:pPr>
            <a:r>
              <a:rPr lang="en-US" sz="2025" b="1" dirty="0">
                <a:solidFill>
                  <a:srgbClr val="2C333C"/>
                </a:solidFill>
                <a:latin typeface="Arial" pitchFamily="34" charset="0"/>
                <a:ea typeface="Arial" pitchFamily="34" charset="-122"/>
                <a:cs typeface="Arial" pitchFamily="34" charset="-120"/>
              </a:rPr>
              <a:t>競合が外生</a:t>
            </a:r>
            <a:r>
              <a:rPr lang="en-US" sz="2025" dirty="0">
                <a:solidFill>
                  <a:srgbClr val="2C333C"/>
                </a:solidFill>
                <a:latin typeface="Arial" pitchFamily="34" charset="0"/>
                <a:ea typeface="Arial" pitchFamily="34" charset="-122"/>
                <a:cs typeface="Arial" pitchFamily="34" charset="-120"/>
              </a:rPr>
              <a:t>（exogenous）：真値 −0.16 付近に集中 → </a:t>
            </a:r>
            <a:r>
              <a:rPr lang="en-US" sz="2025" b="1" dirty="0">
                <a:solidFill>
                  <a:srgbClr val="2C333C"/>
                </a:solidFill>
                <a:latin typeface="Arial" pitchFamily="34" charset="0"/>
                <a:ea typeface="Arial" pitchFamily="34" charset="-122"/>
                <a:cs typeface="Arial" pitchFamily="34" charset="-120"/>
              </a:rPr>
              <a:t>正しく推定</a:t>
            </a:r>
            <a:r>
              <a:rPr lang="en-US" sz="2025" dirty="0">
                <a:solidFill>
                  <a:srgbClr val="2C333C"/>
                </a:solidFill>
                <a:latin typeface="Arial" pitchFamily="34" charset="0"/>
                <a:ea typeface="Arial" pitchFamily="34" charset="-122"/>
                <a:cs typeface="Arial" pitchFamily="34" charset="-120"/>
              </a:rPr>
              <a:t>。</a:t>
            </a:r>
            <a:endParaRPr lang="en-US" sz="2025" dirty="0"/>
          </a:p>
        </p:txBody>
      </p:sp>
      <p:sp>
        <p:nvSpPr>
          <p:cNvPr id="11" name="Shape 8"/>
          <p:cNvSpPr/>
          <p:nvPr/>
        </p:nvSpPr>
        <p:spPr>
          <a:xfrm>
            <a:off x="10123687" y="4818559"/>
            <a:ext cx="7135614" cy="1113631"/>
          </a:xfrm>
          <a:prstGeom prst="roundRect">
            <a:avLst>
              <a:gd name="adj" fmla="val 8553"/>
            </a:avLst>
          </a:prstGeom>
          <a:solidFill>
            <a:srgbClr val="FBF3F1"/>
          </a:solidFill>
          <a:ln w="6350">
            <a:solidFill>
              <a:srgbClr val="E6C9C0"/>
            </a:solidFill>
            <a:prstDash val="solid"/>
          </a:ln>
        </p:spPr>
      </p:sp>
      <p:sp>
        <p:nvSpPr>
          <p:cNvPr id="12" name="Shape 9"/>
          <p:cNvSpPr/>
          <p:nvPr/>
        </p:nvSpPr>
        <p:spPr>
          <a:xfrm>
            <a:off x="10358636" y="5043984"/>
            <a:ext cx="209550" cy="209550"/>
          </a:xfrm>
          <a:prstGeom prst="roundRect">
            <a:avLst>
              <a:gd name="adj" fmla="val 18182"/>
            </a:avLst>
          </a:prstGeom>
          <a:solidFill>
            <a:srgbClr val="C56B57"/>
          </a:solidFill>
          <a:ln/>
        </p:spPr>
      </p:sp>
      <p:sp>
        <p:nvSpPr>
          <p:cNvPr id="13" name="Text 10"/>
          <p:cNvSpPr/>
          <p:nvPr/>
        </p:nvSpPr>
        <p:spPr>
          <a:xfrm>
            <a:off x="10701536" y="4996359"/>
            <a:ext cx="6512498" cy="796131"/>
          </a:xfrm>
          <a:prstGeom prst="rect">
            <a:avLst/>
          </a:prstGeom>
          <a:noFill/>
          <a:ln/>
        </p:spPr>
        <p:txBody>
          <a:bodyPr wrap="square" lIns="25400" tIns="25400" rIns="25400" bIns="25400" rtlCol="0" anchor="t">
            <a:normAutofit/>
          </a:bodyPr>
          <a:lstStyle/>
          <a:p>
            <a:pPr marL="0" indent="0" algn="l">
              <a:lnSpc>
                <a:spcPct val="140000"/>
              </a:lnSpc>
              <a:buNone/>
            </a:pPr>
            <a:r>
              <a:rPr lang="en-US" sz="2025" b="1" dirty="0">
                <a:solidFill>
                  <a:srgbClr val="3A2F2B"/>
                </a:solidFill>
                <a:latin typeface="Arial" pitchFamily="34" charset="0"/>
                <a:ea typeface="Arial" pitchFamily="34" charset="-122"/>
                <a:cs typeface="Arial" pitchFamily="34" charset="-120"/>
              </a:rPr>
              <a:t>競合が内生</a:t>
            </a:r>
            <a:r>
              <a:rPr lang="en-US" sz="2025" dirty="0">
                <a:solidFill>
                  <a:srgbClr val="3A2F2B"/>
                </a:solidFill>
                <a:latin typeface="Arial" pitchFamily="34" charset="0"/>
                <a:ea typeface="Arial" pitchFamily="34" charset="-122"/>
                <a:cs typeface="Arial" pitchFamily="34" charset="-120"/>
              </a:rPr>
              <a:t>（endogenous）：0 付近へ偏る → </a:t>
            </a:r>
            <a:r>
              <a:rPr lang="en-US" sz="2025" b="1" dirty="0">
                <a:solidFill>
                  <a:srgbClr val="9A4A38"/>
                </a:solidFill>
                <a:latin typeface="Arial" pitchFamily="34" charset="0"/>
                <a:ea typeface="Arial" pitchFamily="34" charset="-122"/>
                <a:cs typeface="Arial" pitchFamily="34" charset="-120"/>
              </a:rPr>
              <a:t>競争効果を過小推定 </a:t>
            </a:r>
            <a:r>
              <a:rPr lang="en-US" sz="2025" dirty="0">
                <a:solidFill>
                  <a:srgbClr val="3A2F2B"/>
                </a:solidFill>
                <a:latin typeface="Arial" pitchFamily="34" charset="0"/>
                <a:ea typeface="Arial" pitchFamily="34" charset="-122"/>
                <a:cs typeface="Arial" pitchFamily="34" charset="-120"/>
              </a:rPr>
              <a:t>。</a:t>
            </a:r>
            <a:endParaRPr lang="en-US" sz="2025" dirty="0"/>
          </a:p>
        </p:txBody>
      </p:sp>
      <p:sp>
        <p:nvSpPr>
          <p:cNvPr id="14" name="Text 11"/>
          <p:cNvSpPr/>
          <p:nvPr/>
        </p:nvSpPr>
        <p:spPr>
          <a:xfrm>
            <a:off x="10161787" y="6065540"/>
            <a:ext cx="7273483" cy="766763"/>
          </a:xfrm>
          <a:prstGeom prst="rect">
            <a:avLst/>
          </a:prstGeom>
          <a:noFill/>
          <a:ln/>
        </p:spPr>
        <p:txBody>
          <a:bodyPr wrap="square" lIns="25400" tIns="25400" rIns="25400" bIns="25400" rtlCol="0" anchor="t">
            <a:normAutofit/>
          </a:bodyPr>
          <a:lstStyle/>
          <a:p>
            <a:pPr marL="0" indent="0" algn="l">
              <a:lnSpc>
                <a:spcPct val="145000"/>
              </a:lnSpc>
              <a:buNone/>
            </a:pPr>
            <a:r>
              <a:rPr lang="en-US" sz="1875" dirty="0">
                <a:solidFill>
                  <a:srgbClr val="5A6470"/>
                </a:solidFill>
                <a:latin typeface="Arial" pitchFamily="34" charset="0"/>
                <a:ea typeface="Arial" pitchFamily="34" charset="-122"/>
                <a:cs typeface="Arial" pitchFamily="34" charset="-120"/>
              </a:rPr>
              <a:t>設定：Spec3＝固定効果＋観測シフター。 </a:t>
            </a:r>
            <a:r>
              <a:rPr lang="en-US" sz="1875" b="1" dirty="0">
                <a:solidFill>
                  <a:srgbClr val="2C333C"/>
                </a:solidFill>
                <a:latin typeface="Arial" pitchFamily="34" charset="0"/>
                <a:ea typeface="Arial" pitchFamily="34" charset="-122"/>
                <a:cs typeface="Arial" pitchFamily="34" charset="-120"/>
              </a:rPr>
              <a:t>固定効果でも未観測の交絡が残れば偏りは消えない </a:t>
            </a:r>
            <a:r>
              <a:rPr lang="en-US" sz="1875" dirty="0">
                <a:solidFill>
                  <a:srgbClr val="5A6470"/>
                </a:solidFill>
                <a:latin typeface="Arial" pitchFamily="34" charset="0"/>
                <a:ea typeface="Arial" pitchFamily="34" charset="-122"/>
                <a:cs typeface="Arial" pitchFamily="34" charset="-120"/>
              </a:rPr>
              <a:t>。</a:t>
            </a:r>
            <a:endParaRPr lang="en-US" sz="1875" dirty="0"/>
          </a:p>
        </p:txBody>
      </p:sp>
      <p:sp>
        <p:nvSpPr>
          <p:cNvPr id="15" name="Shape 12"/>
          <p:cNvSpPr/>
          <p:nvPr/>
        </p:nvSpPr>
        <p:spPr>
          <a:xfrm>
            <a:off x="10123687" y="6927553"/>
            <a:ext cx="7135614" cy="1111845"/>
          </a:xfrm>
          <a:prstGeom prst="rect">
            <a:avLst/>
          </a:prstGeom>
          <a:solidFill>
            <a:srgbClr val="F1E7E3"/>
          </a:solidFill>
          <a:ln/>
        </p:spPr>
      </p:sp>
      <p:sp>
        <p:nvSpPr>
          <p:cNvPr id="16" name="Shape 13"/>
          <p:cNvSpPr/>
          <p:nvPr/>
        </p:nvSpPr>
        <p:spPr>
          <a:xfrm>
            <a:off x="10123687" y="6927553"/>
            <a:ext cx="44450" cy="1111845"/>
          </a:xfrm>
          <a:prstGeom prst="rect">
            <a:avLst/>
          </a:prstGeom>
          <a:solidFill>
            <a:srgbClr val="9A4A38"/>
          </a:solidFill>
          <a:ln/>
        </p:spPr>
      </p:sp>
      <p:sp>
        <p:nvSpPr>
          <p:cNvPr id="17" name="Text 14"/>
          <p:cNvSpPr/>
          <p:nvPr/>
        </p:nvSpPr>
        <p:spPr>
          <a:xfrm>
            <a:off x="10415787" y="7099003"/>
            <a:ext cx="6809933" cy="807045"/>
          </a:xfrm>
          <a:prstGeom prst="rect">
            <a:avLst/>
          </a:prstGeom>
          <a:noFill/>
          <a:ln/>
        </p:spPr>
        <p:txBody>
          <a:bodyPr wrap="square" lIns="25400" tIns="25400" rIns="25400" bIns="25400" rtlCol="0" anchor="t">
            <a:normAutofit/>
          </a:bodyPr>
          <a:lstStyle/>
          <a:p>
            <a:pPr marL="0" indent="0" algn="l">
              <a:lnSpc>
                <a:spcPct val="145000"/>
              </a:lnSpc>
              <a:buNone/>
            </a:pPr>
            <a:r>
              <a:rPr lang="en-US" sz="1950" dirty="0">
                <a:solidFill>
                  <a:srgbClr val="3A2F2B"/>
                </a:solidFill>
                <a:highlight>
                  <a:srgbClr val="F1E7E3"/>
                </a:highlight>
                <a:latin typeface="Arial" pitchFamily="34" charset="0"/>
                <a:ea typeface="Arial" pitchFamily="34" charset="-122"/>
                <a:cs typeface="Arial" pitchFamily="34" charset="-120"/>
              </a:rPr>
              <a:t>真の競争効果は報告書より</a:t>
            </a:r>
            <a:r>
              <a:rPr lang="en-US" sz="1950" b="1" dirty="0">
                <a:solidFill>
                  <a:srgbClr val="9A4A38"/>
                </a:solidFill>
                <a:latin typeface="Arial" pitchFamily="34" charset="0"/>
                <a:ea typeface="Arial" pitchFamily="34" charset="-122"/>
                <a:cs typeface="Arial" pitchFamily="34" charset="-120"/>
              </a:rPr>
              <a:t>強い可能性 </a:t>
            </a:r>
            <a:r>
              <a:rPr lang="en-US" sz="1950" dirty="0">
                <a:solidFill>
                  <a:srgbClr val="3A2F2B"/>
                </a:solidFill>
                <a:highlight>
                  <a:srgbClr val="F1E7E3"/>
                </a:highlight>
                <a:latin typeface="Arial" pitchFamily="34" charset="0"/>
                <a:ea typeface="Arial" pitchFamily="34" charset="-122"/>
                <a:cs typeface="Arial" pitchFamily="34" charset="-120"/>
              </a:rPr>
              <a:t>。本図は真値を仮定した例示であり </a:t>
            </a:r>
            <a:r>
              <a:rPr lang="en-US" sz="1950" b="1" dirty="0">
                <a:solidFill>
                  <a:srgbClr val="3A2F2B"/>
                </a:solidFill>
                <a:latin typeface="Arial" pitchFamily="34" charset="0"/>
                <a:ea typeface="Arial" pitchFamily="34" charset="-122"/>
                <a:cs typeface="Arial" pitchFamily="34" charset="-120"/>
              </a:rPr>
              <a:t>追認ではない</a:t>
            </a:r>
            <a:r>
              <a:rPr lang="en-US" sz="1950" dirty="0">
                <a:solidFill>
                  <a:srgbClr val="3A2F2B"/>
                </a:solidFill>
                <a:highlight>
                  <a:srgbClr val="F1E7E3"/>
                </a:highlight>
                <a:latin typeface="Arial" pitchFamily="34" charset="0"/>
                <a:ea typeface="Arial" pitchFamily="34" charset="-122"/>
                <a:cs typeface="Arial" pitchFamily="34" charset="-120"/>
              </a:rPr>
              <a:t>（実データ非公開）。</a:t>
            </a:r>
            <a:endParaRPr lang="en-US" sz="1950" dirty="0"/>
          </a:p>
        </p:txBody>
      </p:sp>
      <p:sp>
        <p:nvSpPr>
          <p:cNvPr id="18" name="Shape 15"/>
          <p:cNvSpPr/>
          <p:nvPr/>
        </p:nvSpPr>
        <p:spPr>
          <a:xfrm>
            <a:off x="1028700" y="9334500"/>
            <a:ext cx="16230600" cy="9525"/>
          </a:xfrm>
          <a:prstGeom prst="rect">
            <a:avLst/>
          </a:prstGeom>
          <a:solidFill>
            <a:srgbClr val="E4E0D7"/>
          </a:solidFill>
          <a:ln/>
        </p:spPr>
      </p:sp>
      <p:sp>
        <p:nvSpPr>
          <p:cNvPr id="19" name="Text 16"/>
          <p:cNvSpPr/>
          <p:nvPr/>
        </p:nvSpPr>
        <p:spPr>
          <a:xfrm>
            <a:off x="1028700" y="9474200"/>
            <a:ext cx="9681974" cy="393700"/>
          </a:xfrm>
          <a:prstGeom prst="rect">
            <a:avLst/>
          </a:prstGeom>
          <a:noFill/>
          <a:ln/>
        </p:spPr>
        <p:txBody>
          <a:bodyPr wrap="square" lIns="25400" tIns="25400" rIns="25400" bIns="25400" rtlCol="0" anchor="t">
            <a:normAutofit/>
          </a:bodyPr>
          <a:lstStyle/>
          <a:p>
            <a:pPr marL="0" indent="0" algn="l">
              <a:buNone/>
            </a:pPr>
            <a:r>
              <a:rPr lang="en-US" sz="1950" dirty="0">
                <a:solidFill>
                  <a:srgbClr val="97928A"/>
                </a:solidFill>
                <a:latin typeface="Arial" pitchFamily="34" charset="0"/>
                <a:ea typeface="Arial" pitchFamily="34" charset="-122"/>
                <a:cs typeface="Arial" pitchFamily="34" charset="-120"/>
              </a:rPr>
              <a:t>出典：自作のモンテカルロ・シミュレーション（R）／true beta = −0.16 を仮定</a:t>
            </a:r>
            <a:endParaRPr lang="en-US" sz="1950" dirty="0"/>
          </a:p>
        </p:txBody>
      </p:sp>
      <p:sp>
        <p:nvSpPr>
          <p:cNvPr id="20" name="Text 17"/>
          <p:cNvSpPr/>
          <p:nvPr/>
        </p:nvSpPr>
        <p:spPr>
          <a:xfrm>
            <a:off x="16115109" y="9490075"/>
            <a:ext cx="1220391" cy="361950"/>
          </a:xfrm>
          <a:prstGeom prst="rect">
            <a:avLst/>
          </a:prstGeom>
          <a:noFill/>
          <a:ln/>
        </p:spPr>
        <p:txBody>
          <a:bodyPr wrap="square" lIns="25400" tIns="25400" rIns="25400" bIns="25400" rtlCol="0" anchor="t">
            <a:normAutofit/>
          </a:bodyPr>
          <a:lstStyle/>
          <a:p>
            <a:pPr marL="0" indent="0" algn="l">
              <a:buNone/>
            </a:pPr>
            <a:r>
              <a:rPr lang="en-US" sz="1950" kern="0" spc="117" dirty="0">
                <a:solidFill>
                  <a:srgbClr val="97928A"/>
                </a:solidFill>
                <a:latin typeface="Courier New" pitchFamily="34" charset="0"/>
                <a:ea typeface="Courier New" pitchFamily="34" charset="-122"/>
                <a:cs typeface="Courier New" pitchFamily="34" charset="-120"/>
              </a:rPr>
              <a:t>18 / 27</a:t>
            </a:r>
            <a:endParaRPr lang="en-US" sz="1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22303A"/>
        </a:solidFill>
        <a:effectLst/>
      </p:bgPr>
    </p:bg>
    <p:spTree>
      <p:nvGrpSpPr>
        <p:cNvPr id="1" name=""/>
        <p:cNvGrpSpPr/>
        <p:nvPr/>
      </p:nvGrpSpPr>
      <p:grpSpPr>
        <a:xfrm>
          <a:off x="0" y="0"/>
          <a:ext cx="0" cy="0"/>
          <a:chOff x="0" y="0"/>
          <a:chExt cx="0" cy="0"/>
        </a:xfrm>
      </p:grpSpPr>
      <p:sp>
        <p:nvSpPr>
          <p:cNvPr id="2" name="Text 0"/>
          <p:cNvSpPr/>
          <p:nvPr/>
        </p:nvSpPr>
        <p:spPr>
          <a:xfrm>
            <a:off x="1257300" y="2945408"/>
            <a:ext cx="17350740" cy="431800"/>
          </a:xfrm>
          <a:prstGeom prst="rect">
            <a:avLst/>
          </a:prstGeom>
          <a:noFill/>
          <a:ln/>
        </p:spPr>
        <p:txBody>
          <a:bodyPr wrap="square" lIns="25400" tIns="25400" rIns="25400" bIns="25400" rtlCol="0" anchor="t">
            <a:normAutofit/>
          </a:bodyPr>
          <a:lstStyle/>
          <a:p>
            <a:pPr marL="0" indent="0" algn="l">
              <a:buNone/>
            </a:pPr>
            <a:r>
              <a:rPr lang="en-US" sz="2400" kern="0" spc="384" dirty="0">
                <a:solidFill>
                  <a:srgbClr val="CC7159"/>
                </a:solidFill>
                <a:latin typeface="Courier New" pitchFamily="34" charset="0"/>
                <a:ea typeface="Courier New" pitchFamily="34" charset="-122"/>
                <a:cs typeface="Courier New" pitchFamily="34" charset="-120"/>
              </a:rPr>
              <a:t>PART 4</a:t>
            </a:r>
            <a:endParaRPr lang="en-US" sz="2400" dirty="0"/>
          </a:p>
        </p:txBody>
      </p:sp>
      <p:sp>
        <p:nvSpPr>
          <p:cNvPr id="3" name="Text 1"/>
          <p:cNvSpPr/>
          <p:nvPr/>
        </p:nvSpPr>
        <p:spPr>
          <a:xfrm>
            <a:off x="1257300" y="3586758"/>
            <a:ext cx="17350740" cy="802382"/>
          </a:xfrm>
          <a:prstGeom prst="rect">
            <a:avLst/>
          </a:prstGeom>
          <a:noFill/>
          <a:ln/>
        </p:spPr>
        <p:txBody>
          <a:bodyPr wrap="square" lIns="25400" tIns="25400" rIns="25400" bIns="25400" rtlCol="0" anchor="t">
            <a:normAutofit/>
          </a:bodyPr>
          <a:lstStyle/>
          <a:p>
            <a:pPr marL="0" indent="0" algn="l">
              <a:lnSpc>
                <a:spcPct val="118000"/>
              </a:lnSpc>
              <a:buNone/>
            </a:pPr>
            <a:r>
              <a:rPr lang="en-US" sz="5100" b="1" dirty="0">
                <a:solidFill>
                  <a:srgbClr val="F4F1EA"/>
                </a:solidFill>
                <a:latin typeface="Arial" pitchFamily="34" charset="0"/>
                <a:ea typeface="Arial" pitchFamily="34" charset="-122"/>
                <a:cs typeface="Arial" pitchFamily="34" charset="-120"/>
              </a:rPr>
              <a:t>市場画定の再検討</a:t>
            </a:r>
            <a:endParaRPr lang="en-US" sz="5100" dirty="0"/>
          </a:p>
        </p:txBody>
      </p:sp>
      <p:sp>
        <p:nvSpPr>
          <p:cNvPr id="4" name="Text 2"/>
          <p:cNvSpPr/>
          <p:nvPr/>
        </p:nvSpPr>
        <p:spPr>
          <a:xfrm>
            <a:off x="1257300" y="4484390"/>
            <a:ext cx="17350740" cy="482600"/>
          </a:xfrm>
          <a:prstGeom prst="rect">
            <a:avLst/>
          </a:prstGeom>
          <a:noFill/>
          <a:ln/>
        </p:spPr>
        <p:txBody>
          <a:bodyPr wrap="square" lIns="25400" tIns="25400" rIns="25400" bIns="25400" rtlCol="0" anchor="t">
            <a:normAutofit/>
          </a:bodyPr>
          <a:lstStyle/>
          <a:p>
            <a:pPr marL="0" indent="0" algn="l">
              <a:buNone/>
            </a:pPr>
            <a:r>
              <a:rPr lang="en-US" sz="2400" dirty="0">
                <a:solidFill>
                  <a:srgbClr val="9FA8AE"/>
                </a:solidFill>
                <a:latin typeface="Arial" pitchFamily="34" charset="0"/>
                <a:ea typeface="Arial" pitchFamily="34" charset="-122"/>
                <a:cs typeface="Arial" pitchFamily="34" charset="-120"/>
              </a:rPr>
              <a:t>― 食品小売市場の観点から</a:t>
            </a:r>
            <a:endParaRPr lang="en-US" sz="2400" dirty="0"/>
          </a:p>
        </p:txBody>
      </p:sp>
      <p:sp>
        <p:nvSpPr>
          <p:cNvPr id="5" name="Shape 3"/>
          <p:cNvSpPr/>
          <p:nvPr/>
        </p:nvSpPr>
        <p:spPr>
          <a:xfrm>
            <a:off x="1257300" y="5252740"/>
            <a:ext cx="876300" cy="47625"/>
          </a:xfrm>
          <a:prstGeom prst="rect">
            <a:avLst/>
          </a:prstGeom>
          <a:solidFill>
            <a:srgbClr val="B0573F"/>
          </a:solidFill>
          <a:ln/>
        </p:spPr>
      </p:sp>
      <p:sp>
        <p:nvSpPr>
          <p:cNvPr id="6" name="Text 4"/>
          <p:cNvSpPr/>
          <p:nvPr/>
        </p:nvSpPr>
        <p:spPr>
          <a:xfrm>
            <a:off x="1257300" y="5586115"/>
            <a:ext cx="12361545" cy="1012428"/>
          </a:xfrm>
          <a:prstGeom prst="rect">
            <a:avLst/>
          </a:prstGeom>
          <a:noFill/>
          <a:ln/>
        </p:spPr>
        <p:txBody>
          <a:bodyPr wrap="square" lIns="25400" tIns="25400" rIns="25400" bIns="25400" rtlCol="0" anchor="t">
            <a:normAutofit/>
          </a:bodyPr>
          <a:lstStyle/>
          <a:p>
            <a:pPr marL="0" indent="0" algn="l">
              <a:lnSpc>
                <a:spcPct val="155000"/>
              </a:lnSpc>
              <a:buNone/>
            </a:pPr>
            <a:r>
              <a:rPr lang="en-US" sz="2475" dirty="0">
                <a:solidFill>
                  <a:srgbClr val="B9C0C5"/>
                </a:solidFill>
                <a:latin typeface="Arial" pitchFamily="34" charset="0"/>
                <a:ea typeface="Arial" pitchFamily="34" charset="-122"/>
                <a:cs typeface="Arial" pitchFamily="34" charset="-120"/>
              </a:rPr>
              <a:t>市場を「ドラッグストア業」と画定した土台そのものを問い直し、批判の当否までデータで検証する。</a:t>
            </a:r>
            <a:endParaRPr lang="en-US" sz="2475" dirty="0"/>
          </a:p>
        </p:txBody>
      </p:sp>
      <p:sp>
        <p:nvSpPr>
          <p:cNvPr id="7" name="Text 5"/>
          <p:cNvSpPr/>
          <p:nvPr/>
        </p:nvSpPr>
        <p:spPr>
          <a:xfrm>
            <a:off x="1257300" y="7017643"/>
            <a:ext cx="1580029" cy="361950"/>
          </a:xfrm>
          <a:prstGeom prst="rect">
            <a:avLst/>
          </a:prstGeom>
          <a:noFill/>
          <a:ln/>
        </p:spPr>
        <p:txBody>
          <a:bodyPr wrap="square" lIns="25400" tIns="25400" rIns="25400" bIns="25400" rtlCol="0" anchor="t">
            <a:normAutofit/>
          </a:bodyPr>
          <a:lstStyle/>
          <a:p>
            <a:pPr marL="0" indent="0" algn="l">
              <a:buNone/>
            </a:pPr>
            <a:r>
              <a:rPr lang="en-US" sz="1950" dirty="0">
                <a:solidFill>
                  <a:srgbClr val="8B949A"/>
                </a:solidFill>
                <a:latin typeface="Courier New" pitchFamily="34" charset="0"/>
                <a:ea typeface="Courier New" pitchFamily="34" charset="-122"/>
                <a:cs typeface="Courier New" pitchFamily="34" charset="-120"/>
              </a:rPr>
              <a:t>20 問題提起</a:t>
            </a:r>
            <a:endParaRPr lang="en-US" sz="1950" dirty="0"/>
          </a:p>
        </p:txBody>
      </p:sp>
      <p:sp>
        <p:nvSpPr>
          <p:cNvPr id="8" name="Text 6"/>
          <p:cNvSpPr/>
          <p:nvPr/>
        </p:nvSpPr>
        <p:spPr>
          <a:xfrm>
            <a:off x="2846090" y="7017643"/>
            <a:ext cx="224830" cy="361950"/>
          </a:xfrm>
          <a:prstGeom prst="rect">
            <a:avLst/>
          </a:prstGeom>
          <a:noFill/>
          <a:ln/>
        </p:spPr>
        <p:txBody>
          <a:bodyPr wrap="square" lIns="25400" tIns="25400" rIns="25400" bIns="25400" rtlCol="0" anchor="t">
            <a:normAutofit/>
          </a:bodyPr>
          <a:lstStyle/>
          <a:p>
            <a:pPr marL="0" indent="0" algn="l">
              <a:buNone/>
            </a:pPr>
            <a:r>
              <a:rPr lang="en-US" sz="1950" dirty="0">
                <a:solidFill>
                  <a:srgbClr val="8B949A">
                    <a:alpha val="40000"/>
                  </a:srgbClr>
                </a:solidFill>
                <a:latin typeface="Courier New" pitchFamily="34" charset="0"/>
                <a:ea typeface="Courier New" pitchFamily="34" charset="-122"/>
                <a:cs typeface="Courier New" pitchFamily="34" charset="-120"/>
              </a:rPr>
              <a:t>/</a:t>
            </a:r>
            <a:endParaRPr lang="en-US" sz="1950" dirty="0"/>
          </a:p>
        </p:txBody>
      </p:sp>
      <p:sp>
        <p:nvSpPr>
          <p:cNvPr id="9" name="Text 7"/>
          <p:cNvSpPr/>
          <p:nvPr/>
        </p:nvSpPr>
        <p:spPr>
          <a:xfrm>
            <a:off x="3147120" y="7017643"/>
            <a:ext cx="1017290" cy="361950"/>
          </a:xfrm>
          <a:prstGeom prst="rect">
            <a:avLst/>
          </a:prstGeom>
          <a:noFill/>
          <a:ln/>
        </p:spPr>
        <p:txBody>
          <a:bodyPr wrap="square" lIns="25400" tIns="25400" rIns="25400" bIns="25400" rtlCol="0" anchor="t">
            <a:normAutofit/>
          </a:bodyPr>
          <a:lstStyle/>
          <a:p>
            <a:pPr marL="0" indent="0" algn="l">
              <a:buNone/>
            </a:pPr>
            <a:r>
              <a:rPr lang="en-US" sz="1950" dirty="0">
                <a:solidFill>
                  <a:srgbClr val="8B949A"/>
                </a:solidFill>
                <a:latin typeface="Courier New" pitchFamily="34" charset="0"/>
                <a:ea typeface="Courier New" pitchFamily="34" charset="-122"/>
                <a:cs typeface="Courier New" pitchFamily="34" charset="-120"/>
              </a:rPr>
              <a:t>21 先例</a:t>
            </a:r>
            <a:endParaRPr lang="en-US" sz="1950" dirty="0"/>
          </a:p>
        </p:txBody>
      </p:sp>
      <p:sp>
        <p:nvSpPr>
          <p:cNvPr id="10" name="Text 8"/>
          <p:cNvSpPr/>
          <p:nvPr/>
        </p:nvSpPr>
        <p:spPr>
          <a:xfrm>
            <a:off x="4240609" y="7017643"/>
            <a:ext cx="224830" cy="361950"/>
          </a:xfrm>
          <a:prstGeom prst="rect">
            <a:avLst/>
          </a:prstGeom>
          <a:noFill/>
          <a:ln/>
        </p:spPr>
        <p:txBody>
          <a:bodyPr wrap="square" lIns="25400" tIns="25400" rIns="25400" bIns="25400" rtlCol="0" anchor="t">
            <a:normAutofit/>
          </a:bodyPr>
          <a:lstStyle/>
          <a:p>
            <a:pPr marL="0" indent="0" algn="l">
              <a:buNone/>
            </a:pPr>
            <a:r>
              <a:rPr lang="en-US" sz="1950" dirty="0">
                <a:solidFill>
                  <a:srgbClr val="8B949A">
                    <a:alpha val="40000"/>
                  </a:srgbClr>
                </a:solidFill>
                <a:latin typeface="Courier New" pitchFamily="34" charset="0"/>
                <a:ea typeface="Courier New" pitchFamily="34" charset="-122"/>
                <a:cs typeface="Courier New" pitchFamily="34" charset="-120"/>
              </a:rPr>
              <a:t>/</a:t>
            </a:r>
            <a:endParaRPr lang="en-US" sz="1950" dirty="0"/>
          </a:p>
        </p:txBody>
      </p:sp>
      <p:sp>
        <p:nvSpPr>
          <p:cNvPr id="11" name="Text 9"/>
          <p:cNvSpPr/>
          <p:nvPr/>
        </p:nvSpPr>
        <p:spPr>
          <a:xfrm>
            <a:off x="4541639" y="7017643"/>
            <a:ext cx="1525568" cy="361950"/>
          </a:xfrm>
          <a:prstGeom prst="rect">
            <a:avLst/>
          </a:prstGeom>
          <a:noFill/>
          <a:ln/>
        </p:spPr>
        <p:txBody>
          <a:bodyPr wrap="square" lIns="25400" tIns="25400" rIns="25400" bIns="25400" rtlCol="0" anchor="t">
            <a:normAutofit/>
          </a:bodyPr>
          <a:lstStyle/>
          <a:p>
            <a:pPr marL="0" indent="0" algn="l">
              <a:buNone/>
            </a:pPr>
            <a:r>
              <a:rPr lang="en-US" sz="1950" dirty="0">
                <a:solidFill>
                  <a:srgbClr val="8B949A"/>
                </a:solidFill>
                <a:latin typeface="Courier New" pitchFamily="34" charset="0"/>
                <a:ea typeface="Courier New" pitchFamily="34" charset="-122"/>
                <a:cs typeface="Courier New" pitchFamily="34" charset="-120"/>
              </a:rPr>
              <a:t>22–23 実証</a:t>
            </a:r>
            <a:endParaRPr lang="en-US" sz="1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6F2"/>
        </a:solidFill>
        <a:effectLst/>
      </p:bgPr>
    </p:bg>
    <p:spTree>
      <p:nvGrpSpPr>
        <p:cNvPr id="1" name=""/>
        <p:cNvGrpSpPr/>
        <p:nvPr/>
      </p:nvGrpSpPr>
      <p:grpSpPr>
        <a:xfrm>
          <a:off x="0" y="0"/>
          <a:ext cx="0" cy="0"/>
          <a:chOff x="0" y="0"/>
          <a:chExt cx="0" cy="0"/>
        </a:xfrm>
      </p:grpSpPr>
      <p:sp>
        <p:nvSpPr>
          <p:cNvPr id="2" name="Shape 0"/>
          <p:cNvSpPr/>
          <p:nvPr/>
        </p:nvSpPr>
        <p:spPr>
          <a:xfrm>
            <a:off x="1028700" y="801688"/>
            <a:ext cx="304800" cy="28575"/>
          </a:xfrm>
          <a:prstGeom prst="rect">
            <a:avLst/>
          </a:prstGeom>
          <a:solidFill>
            <a:srgbClr val="9A4A38"/>
          </a:solidFill>
          <a:ln/>
        </p:spPr>
      </p:sp>
      <p:sp>
        <p:nvSpPr>
          <p:cNvPr id="3" name="Text 1"/>
          <p:cNvSpPr/>
          <p:nvPr/>
        </p:nvSpPr>
        <p:spPr>
          <a:xfrm>
            <a:off x="1466850" y="628650"/>
            <a:ext cx="3612555" cy="412750"/>
          </a:xfrm>
          <a:prstGeom prst="rect">
            <a:avLst/>
          </a:prstGeom>
          <a:noFill/>
          <a:ln/>
        </p:spPr>
        <p:txBody>
          <a:bodyPr wrap="square" lIns="25400" tIns="25400" rIns="25400" bIns="25400" rtlCol="0" anchor="t">
            <a:normAutofit/>
          </a:bodyPr>
          <a:lstStyle/>
          <a:p>
            <a:pPr marL="0" indent="0" algn="l">
              <a:buNone/>
            </a:pPr>
            <a:r>
              <a:rPr lang="en-US" sz="2025" kern="0" spc="203" dirty="0">
                <a:solidFill>
                  <a:srgbClr val="5A6470"/>
                </a:solidFill>
                <a:latin typeface="Arial" pitchFamily="34" charset="0"/>
                <a:ea typeface="Arial" pitchFamily="34" charset="-122"/>
                <a:cs typeface="Arial" pitchFamily="34" charset="-120"/>
              </a:rPr>
              <a:t>第4部 市場画定の再検討</a:t>
            </a:r>
            <a:endParaRPr lang="en-US" sz="2025" dirty="0"/>
          </a:p>
        </p:txBody>
      </p:sp>
      <p:sp>
        <p:nvSpPr>
          <p:cNvPr id="4" name="Text 2"/>
          <p:cNvSpPr/>
          <p:nvPr/>
        </p:nvSpPr>
        <p:spPr>
          <a:xfrm>
            <a:off x="1028700" y="1174750"/>
            <a:ext cx="17853660" cy="624384"/>
          </a:xfrm>
          <a:prstGeom prst="rect">
            <a:avLst/>
          </a:prstGeom>
          <a:noFill/>
          <a:ln/>
        </p:spPr>
        <p:txBody>
          <a:bodyPr wrap="square" lIns="25400" tIns="25400" rIns="25400" bIns="25400" rtlCol="0" anchor="t">
            <a:normAutofit/>
          </a:bodyPr>
          <a:lstStyle/>
          <a:p>
            <a:pPr marL="0" indent="0" algn="l">
              <a:lnSpc>
                <a:spcPct val="114000"/>
              </a:lnSpc>
              <a:buNone/>
            </a:pPr>
            <a:r>
              <a:rPr lang="en-US" sz="4050" b="1" dirty="0">
                <a:solidFill>
                  <a:srgbClr val="1F2730"/>
                </a:solidFill>
                <a:latin typeface="Arial" pitchFamily="34" charset="0"/>
                <a:ea typeface="Arial" pitchFamily="34" charset="-122"/>
                <a:cs typeface="Arial" pitchFamily="34" charset="-120"/>
              </a:rPr>
              <a:t>問題提起：食品小売市場という視点</a:t>
            </a:r>
            <a:endParaRPr lang="en-US" sz="4050" dirty="0"/>
          </a:p>
        </p:txBody>
      </p:sp>
      <p:sp>
        <p:nvSpPr>
          <p:cNvPr id="5" name="Text 3"/>
          <p:cNvSpPr/>
          <p:nvPr/>
        </p:nvSpPr>
        <p:spPr>
          <a:xfrm>
            <a:off x="1028700" y="1894384"/>
            <a:ext cx="15304770" cy="949523"/>
          </a:xfrm>
          <a:prstGeom prst="rect">
            <a:avLst/>
          </a:prstGeom>
          <a:noFill/>
          <a:ln/>
        </p:spPr>
        <p:txBody>
          <a:bodyPr wrap="square" lIns="25400" tIns="25400" rIns="25400" bIns="25400" rtlCol="0" anchor="t">
            <a:normAutofit/>
          </a:bodyPr>
          <a:lstStyle/>
          <a:p>
            <a:pPr marL="0" indent="0" algn="l">
              <a:lnSpc>
                <a:spcPct val="145000"/>
              </a:lnSpc>
              <a:buNone/>
            </a:pPr>
            <a:r>
              <a:rPr lang="en-US" sz="2475" dirty="0">
                <a:solidFill>
                  <a:srgbClr val="4A5560"/>
                </a:solidFill>
                <a:latin typeface="Arial" pitchFamily="34" charset="0"/>
                <a:ea typeface="Arial" pitchFamily="34" charset="-122"/>
                <a:cs typeface="Arial" pitchFamily="34" charset="-120"/>
              </a:rPr>
              <a:t>ドラッグストアは食料品も主力（公取委も認める）。イオンはスーパーも経営し、中期計画で「食」を軸に来店動機を創出する。</a:t>
            </a:r>
            <a:endParaRPr lang="en-US" sz="2475" dirty="0"/>
          </a:p>
        </p:txBody>
      </p:sp>
      <p:sp>
        <p:nvSpPr>
          <p:cNvPr id="6" name="Text 4"/>
          <p:cNvSpPr/>
          <p:nvPr/>
        </p:nvSpPr>
        <p:spPr>
          <a:xfrm>
            <a:off x="1028700" y="4400848"/>
            <a:ext cx="17853660" cy="477838"/>
          </a:xfrm>
          <a:prstGeom prst="rect">
            <a:avLst/>
          </a:prstGeom>
          <a:noFill/>
          <a:ln/>
        </p:spPr>
        <p:txBody>
          <a:bodyPr wrap="square" lIns="25400" tIns="25400" rIns="25400" bIns="25400" rtlCol="0" anchor="t">
            <a:normAutofit/>
          </a:bodyPr>
          <a:lstStyle/>
          <a:p>
            <a:pPr marL="0" indent="0" algn="l">
              <a:lnSpc>
                <a:spcPct val="145000"/>
              </a:lnSpc>
              <a:buNone/>
            </a:pPr>
            <a:r>
              <a:rPr lang="en-US" sz="2250" dirty="0">
                <a:solidFill>
                  <a:srgbClr val="2C333C"/>
                </a:solidFill>
                <a:latin typeface="Arial" pitchFamily="34" charset="0"/>
                <a:ea typeface="Arial" pitchFamily="34" charset="-122"/>
                <a:cs typeface="Arial" pitchFamily="34" charset="-120"/>
              </a:rPr>
              <a:t>→ ドラッグストア市場とは別に、</a:t>
            </a:r>
            <a:r>
              <a:rPr lang="en-US" sz="2250" b="1" dirty="0">
                <a:solidFill>
                  <a:srgbClr val="2C333C"/>
                </a:solidFill>
                <a:latin typeface="Arial" pitchFamily="34" charset="0"/>
                <a:ea typeface="Arial" pitchFamily="34" charset="-122"/>
                <a:cs typeface="Arial" pitchFamily="34" charset="-120"/>
              </a:rPr>
              <a:t>食品小売市場</a:t>
            </a:r>
            <a:r>
              <a:rPr lang="en-US" sz="2250" dirty="0">
                <a:solidFill>
                  <a:srgbClr val="2C333C"/>
                </a:solidFill>
                <a:latin typeface="Arial" pitchFamily="34" charset="0"/>
                <a:ea typeface="Arial" pitchFamily="34" charset="-122"/>
                <a:cs typeface="Arial" pitchFamily="34" charset="-120"/>
              </a:rPr>
              <a:t>の集中を問う余地。SSNIPを食品次元に当てると構造的な緊張が現れる。</a:t>
            </a:r>
            <a:endParaRPr lang="en-US" sz="2250" dirty="0"/>
          </a:p>
        </p:txBody>
      </p:sp>
      <p:sp>
        <p:nvSpPr>
          <p:cNvPr id="7" name="Shape 5"/>
          <p:cNvSpPr/>
          <p:nvPr/>
        </p:nvSpPr>
        <p:spPr>
          <a:xfrm>
            <a:off x="1028700" y="5069185"/>
            <a:ext cx="7956550" cy="2028825"/>
          </a:xfrm>
          <a:prstGeom prst="roundRect">
            <a:avLst>
              <a:gd name="adj" fmla="val 4695"/>
            </a:avLst>
          </a:prstGeom>
          <a:solidFill>
            <a:srgbClr val="FFFFFF"/>
          </a:solidFill>
          <a:ln w="6350">
            <a:solidFill>
              <a:srgbClr val="E0DCD2"/>
            </a:solidFill>
            <a:prstDash val="solid"/>
          </a:ln>
        </p:spPr>
      </p:sp>
      <p:sp>
        <p:nvSpPr>
          <p:cNvPr id="8" name="Text 6"/>
          <p:cNvSpPr/>
          <p:nvPr/>
        </p:nvSpPr>
        <p:spPr>
          <a:xfrm>
            <a:off x="1358900" y="5361286"/>
            <a:ext cx="8025765" cy="412750"/>
          </a:xfrm>
          <a:prstGeom prst="rect">
            <a:avLst/>
          </a:prstGeom>
          <a:noFill/>
          <a:ln/>
        </p:spPr>
        <p:txBody>
          <a:bodyPr wrap="square" lIns="25400" tIns="25400" rIns="25400" bIns="25400" rtlCol="0" anchor="t">
            <a:normAutofit/>
          </a:bodyPr>
          <a:lstStyle/>
          <a:p>
            <a:pPr marL="0" indent="0" algn="l">
              <a:buNone/>
            </a:pPr>
            <a:r>
              <a:rPr lang="en-US" sz="2025" kern="0" spc="101" dirty="0">
                <a:solidFill>
                  <a:srgbClr val="5A6470"/>
                </a:solidFill>
                <a:latin typeface="Arial" pitchFamily="34" charset="0"/>
                <a:ea typeface="Arial" pitchFamily="34" charset="-122"/>
                <a:cs typeface="Arial" pitchFamily="34" charset="-120"/>
              </a:rPr>
              <a:t>業態横断の広い食品市場</a:t>
            </a:r>
            <a:endParaRPr lang="en-US" sz="2025" dirty="0"/>
          </a:p>
        </p:txBody>
      </p:sp>
      <p:sp>
        <p:nvSpPr>
          <p:cNvPr id="9" name="Text 7"/>
          <p:cNvSpPr/>
          <p:nvPr/>
        </p:nvSpPr>
        <p:spPr>
          <a:xfrm>
            <a:off x="1358900" y="5869285"/>
            <a:ext cx="7515035" cy="949325"/>
          </a:xfrm>
          <a:prstGeom prst="rect">
            <a:avLst/>
          </a:prstGeom>
          <a:noFill/>
          <a:ln/>
        </p:spPr>
        <p:txBody>
          <a:bodyPr wrap="square" lIns="25400" tIns="25400" rIns="25400" bIns="25400" rtlCol="0" anchor="t">
            <a:normAutofit/>
          </a:bodyPr>
          <a:lstStyle/>
          <a:p>
            <a:pPr marL="0" indent="0" algn="l">
              <a:lnSpc>
                <a:spcPct val="155000"/>
              </a:lnSpc>
              <a:buNone/>
            </a:pPr>
            <a:r>
              <a:rPr lang="en-US" sz="2250" dirty="0">
                <a:solidFill>
                  <a:srgbClr val="2C333C"/>
                </a:solidFill>
                <a:latin typeface="Arial" pitchFamily="34" charset="0"/>
                <a:ea typeface="Arial" pitchFamily="34" charset="-122"/>
                <a:cs typeface="Arial" pitchFamily="34" charset="-120"/>
              </a:rPr>
              <a:t>スーパー・コンビニ・ドラッグストアが参加者 → 集中度は低く、 </a:t>
            </a:r>
            <a:r>
              <a:rPr lang="en-US" sz="2250" b="1" dirty="0">
                <a:solidFill>
                  <a:srgbClr val="3A4350"/>
                </a:solidFill>
                <a:latin typeface="Arial" pitchFamily="34" charset="0"/>
                <a:ea typeface="Arial" pitchFamily="34" charset="-122"/>
                <a:cs typeface="Arial" pitchFamily="34" charset="-120"/>
              </a:rPr>
              <a:t>弊害は生じにくい</a:t>
            </a:r>
            <a:r>
              <a:rPr lang="en-US" sz="2250" dirty="0">
                <a:solidFill>
                  <a:srgbClr val="2C333C"/>
                </a:solidFill>
                <a:latin typeface="Arial" pitchFamily="34" charset="0"/>
                <a:ea typeface="Arial" pitchFamily="34" charset="-122"/>
                <a:cs typeface="Arial" pitchFamily="34" charset="-120"/>
              </a:rPr>
              <a:t>。</a:t>
            </a:r>
            <a:endParaRPr lang="en-US" sz="2250" dirty="0"/>
          </a:p>
        </p:txBody>
      </p:sp>
      <p:sp>
        <p:nvSpPr>
          <p:cNvPr id="10" name="Shape 8"/>
          <p:cNvSpPr/>
          <p:nvPr/>
        </p:nvSpPr>
        <p:spPr>
          <a:xfrm>
            <a:off x="9251950" y="5069185"/>
            <a:ext cx="8007350" cy="2028825"/>
          </a:xfrm>
          <a:prstGeom prst="roundRect">
            <a:avLst>
              <a:gd name="adj" fmla="val 4695"/>
            </a:avLst>
          </a:prstGeom>
          <a:solidFill>
            <a:srgbClr val="FBF3F1"/>
          </a:solidFill>
          <a:ln/>
        </p:spPr>
      </p:sp>
      <p:sp>
        <p:nvSpPr>
          <p:cNvPr id="11" name="Shape 9"/>
          <p:cNvSpPr/>
          <p:nvPr/>
        </p:nvSpPr>
        <p:spPr>
          <a:xfrm>
            <a:off x="9251950" y="7091660"/>
            <a:ext cx="8007350" cy="9525"/>
          </a:xfrm>
          <a:prstGeom prst="rect">
            <a:avLst/>
          </a:prstGeom>
          <a:solidFill>
            <a:srgbClr val="E6C9C0"/>
          </a:solidFill>
          <a:ln/>
        </p:spPr>
      </p:sp>
      <p:sp>
        <p:nvSpPr>
          <p:cNvPr id="12" name="Shape 10"/>
          <p:cNvSpPr/>
          <p:nvPr/>
        </p:nvSpPr>
        <p:spPr>
          <a:xfrm>
            <a:off x="9251950" y="5069185"/>
            <a:ext cx="8007350" cy="9525"/>
          </a:xfrm>
          <a:prstGeom prst="rect">
            <a:avLst/>
          </a:prstGeom>
          <a:solidFill>
            <a:srgbClr val="E6C9C0"/>
          </a:solidFill>
          <a:ln/>
        </p:spPr>
      </p:sp>
      <p:sp>
        <p:nvSpPr>
          <p:cNvPr id="13" name="Shape 11"/>
          <p:cNvSpPr/>
          <p:nvPr/>
        </p:nvSpPr>
        <p:spPr>
          <a:xfrm>
            <a:off x="9251950" y="5069185"/>
            <a:ext cx="57150" cy="2028825"/>
          </a:xfrm>
          <a:prstGeom prst="rect">
            <a:avLst/>
          </a:prstGeom>
          <a:solidFill>
            <a:srgbClr val="9A4A38"/>
          </a:solidFill>
          <a:ln/>
        </p:spPr>
      </p:sp>
      <p:sp>
        <p:nvSpPr>
          <p:cNvPr id="14" name="Shape 12"/>
          <p:cNvSpPr/>
          <p:nvPr/>
        </p:nvSpPr>
        <p:spPr>
          <a:xfrm>
            <a:off x="17252951" y="5069185"/>
            <a:ext cx="9525" cy="2028825"/>
          </a:xfrm>
          <a:prstGeom prst="rect">
            <a:avLst/>
          </a:prstGeom>
          <a:solidFill>
            <a:srgbClr val="E6C9C0"/>
          </a:solidFill>
          <a:ln/>
        </p:spPr>
      </p:sp>
      <p:sp>
        <p:nvSpPr>
          <p:cNvPr id="15" name="Text 13"/>
          <p:cNvSpPr/>
          <p:nvPr/>
        </p:nvSpPr>
        <p:spPr>
          <a:xfrm>
            <a:off x="9632950" y="5361286"/>
            <a:ext cx="8025765" cy="412750"/>
          </a:xfrm>
          <a:prstGeom prst="rect">
            <a:avLst/>
          </a:prstGeom>
          <a:noFill/>
          <a:ln/>
        </p:spPr>
        <p:txBody>
          <a:bodyPr wrap="square" lIns="25400" tIns="25400" rIns="25400" bIns="25400" rtlCol="0" anchor="t">
            <a:normAutofit/>
          </a:bodyPr>
          <a:lstStyle/>
          <a:p>
            <a:pPr marL="0" indent="0" algn="l">
              <a:buNone/>
            </a:pPr>
            <a:r>
              <a:rPr lang="en-US" sz="2025" kern="0" spc="101" dirty="0">
                <a:solidFill>
                  <a:srgbClr val="9A4A38"/>
                </a:solidFill>
                <a:latin typeface="Arial" pitchFamily="34" charset="0"/>
                <a:ea typeface="Arial" pitchFamily="34" charset="-122"/>
                <a:cs typeface="Arial" pitchFamily="34" charset="-120"/>
              </a:rPr>
              <a:t>スーパー不在の薄い食品市場 ＝ 仮説</a:t>
            </a:r>
            <a:endParaRPr lang="en-US" sz="2025" dirty="0"/>
          </a:p>
        </p:txBody>
      </p:sp>
      <p:sp>
        <p:nvSpPr>
          <p:cNvPr id="16" name="Text 14"/>
          <p:cNvSpPr/>
          <p:nvPr/>
        </p:nvSpPr>
        <p:spPr>
          <a:xfrm>
            <a:off x="9632950" y="5869285"/>
            <a:ext cx="7515035" cy="974725"/>
          </a:xfrm>
          <a:prstGeom prst="rect">
            <a:avLst/>
          </a:prstGeom>
          <a:noFill/>
          <a:ln/>
        </p:spPr>
        <p:txBody>
          <a:bodyPr wrap="square" lIns="25400" tIns="25400" rIns="25400" bIns="25400" rtlCol="0" anchor="t">
            <a:normAutofit/>
          </a:bodyPr>
          <a:lstStyle/>
          <a:p>
            <a:pPr marL="0" indent="0" algn="l">
              <a:lnSpc>
                <a:spcPct val="155000"/>
              </a:lnSpc>
              <a:buNone/>
            </a:pPr>
            <a:r>
              <a:rPr lang="en-US" sz="2250" dirty="0">
                <a:solidFill>
                  <a:srgbClr val="3A2F2B"/>
                </a:solidFill>
                <a:latin typeface="Arial" pitchFamily="34" charset="0"/>
                <a:ea typeface="Arial" pitchFamily="34" charset="-122"/>
                <a:cs typeface="Arial" pitchFamily="34" charset="-120"/>
              </a:rPr>
              <a:t>仮想的独占者の小幅な値上げに</a:t>
            </a:r>
            <a:r>
              <a:rPr lang="en-US" sz="2250" b="1" dirty="0">
                <a:solidFill>
                  <a:srgbClr val="3A2F2B"/>
                </a:solidFill>
                <a:latin typeface="Arial" pitchFamily="34" charset="0"/>
                <a:ea typeface="Arial" pitchFamily="34" charset="-122"/>
                <a:cs typeface="Arial" pitchFamily="34" charset="-120"/>
              </a:rPr>
              <a:t>顧客が逃げにくい </a:t>
            </a:r>
            <a:r>
              <a:rPr lang="en-US" sz="2250" dirty="0">
                <a:solidFill>
                  <a:srgbClr val="3A2F2B"/>
                </a:solidFill>
                <a:latin typeface="Arial" pitchFamily="34" charset="0"/>
                <a:ea typeface="Arial" pitchFamily="34" charset="-122"/>
                <a:cs typeface="Arial" pitchFamily="34" charset="-120"/>
              </a:rPr>
              <a:t>→ 統合が食品供給拠点を束ね、 </a:t>
            </a:r>
            <a:r>
              <a:rPr lang="en-US" sz="2250" b="1" dirty="0">
                <a:solidFill>
                  <a:srgbClr val="9A4A38"/>
                </a:solidFill>
                <a:latin typeface="Arial" pitchFamily="34" charset="0"/>
                <a:ea typeface="Arial" pitchFamily="34" charset="-122"/>
                <a:cs typeface="Arial" pitchFamily="34" charset="-120"/>
              </a:rPr>
              <a:t>弊害が生じうる</a:t>
            </a:r>
            <a:r>
              <a:rPr lang="en-US" sz="2250" dirty="0">
                <a:solidFill>
                  <a:srgbClr val="3A2F2B"/>
                </a:solidFill>
                <a:latin typeface="Arial" pitchFamily="34" charset="0"/>
                <a:ea typeface="Arial" pitchFamily="34" charset="-122"/>
                <a:cs typeface="Arial" pitchFamily="34" charset="-120"/>
              </a:rPr>
              <a:t>。</a:t>
            </a:r>
            <a:endParaRPr lang="en-US" sz="2250" dirty="0"/>
          </a:p>
        </p:txBody>
      </p:sp>
      <p:sp>
        <p:nvSpPr>
          <p:cNvPr id="17" name="Text 15"/>
          <p:cNvSpPr/>
          <p:nvPr/>
        </p:nvSpPr>
        <p:spPr>
          <a:xfrm>
            <a:off x="1028700" y="7326610"/>
            <a:ext cx="17853660" cy="393700"/>
          </a:xfrm>
          <a:prstGeom prst="rect">
            <a:avLst/>
          </a:prstGeom>
          <a:noFill/>
          <a:ln/>
        </p:spPr>
        <p:txBody>
          <a:bodyPr wrap="square" lIns="25400" tIns="25400" rIns="25400" bIns="25400" rtlCol="0" anchor="t">
            <a:normAutofit/>
          </a:bodyPr>
          <a:lstStyle/>
          <a:p>
            <a:pPr marL="0" indent="0" algn="l">
              <a:buNone/>
            </a:pPr>
            <a:r>
              <a:rPr lang="en-US" sz="1950" dirty="0">
                <a:solidFill>
                  <a:srgbClr val="97928A"/>
                </a:solidFill>
                <a:latin typeface="Arial" pitchFamily="34" charset="0"/>
                <a:ea typeface="Arial" pitchFamily="34" charset="-122"/>
                <a:cs typeface="Arial" pitchFamily="34" charset="-120"/>
              </a:rPr>
              <a:t>※ 思いつきではなく、市場画定手法（SSNIP）の内在的論理から導かれる批判である点に意義がある。</a:t>
            </a:r>
            <a:endParaRPr lang="en-US" sz="1950" dirty="0"/>
          </a:p>
        </p:txBody>
      </p:sp>
      <p:sp>
        <p:nvSpPr>
          <p:cNvPr id="18" name="Shape 16"/>
          <p:cNvSpPr/>
          <p:nvPr/>
        </p:nvSpPr>
        <p:spPr>
          <a:xfrm>
            <a:off x="1028700" y="9296400"/>
            <a:ext cx="16230600" cy="9525"/>
          </a:xfrm>
          <a:prstGeom prst="rect">
            <a:avLst/>
          </a:prstGeom>
          <a:solidFill>
            <a:srgbClr val="E4E0D7"/>
          </a:solidFill>
          <a:ln/>
        </p:spPr>
      </p:sp>
      <p:sp>
        <p:nvSpPr>
          <p:cNvPr id="19" name="Text 17"/>
          <p:cNvSpPr/>
          <p:nvPr/>
        </p:nvSpPr>
        <p:spPr>
          <a:xfrm>
            <a:off x="1028700" y="9455150"/>
            <a:ext cx="6976378" cy="393700"/>
          </a:xfrm>
          <a:prstGeom prst="rect">
            <a:avLst/>
          </a:prstGeom>
          <a:noFill/>
          <a:ln/>
        </p:spPr>
        <p:txBody>
          <a:bodyPr wrap="square" lIns="25400" tIns="25400" rIns="25400" bIns="25400" rtlCol="0" anchor="t">
            <a:normAutofit/>
          </a:bodyPr>
          <a:lstStyle/>
          <a:p>
            <a:pPr marL="0" indent="0" algn="l">
              <a:buNone/>
            </a:pPr>
            <a:r>
              <a:rPr lang="en-US" sz="1950" dirty="0">
                <a:solidFill>
                  <a:srgbClr val="97928A"/>
                </a:solidFill>
                <a:latin typeface="Arial" pitchFamily="34" charset="0"/>
                <a:ea typeface="Arial" pitchFamily="34" charset="-122"/>
                <a:cs typeface="Arial" pitchFamily="34" charset="-120"/>
              </a:rPr>
              <a:t>永田 稔人 ｜ 中里ゼミ（経済法） ｜ 2026年6月30日</a:t>
            </a:r>
            <a:endParaRPr lang="en-US" sz="1950" dirty="0"/>
          </a:p>
        </p:txBody>
      </p:sp>
      <p:sp>
        <p:nvSpPr>
          <p:cNvPr id="20" name="Text 18"/>
          <p:cNvSpPr/>
          <p:nvPr/>
        </p:nvSpPr>
        <p:spPr>
          <a:xfrm>
            <a:off x="16115109" y="9471025"/>
            <a:ext cx="1220391" cy="361950"/>
          </a:xfrm>
          <a:prstGeom prst="rect">
            <a:avLst/>
          </a:prstGeom>
          <a:noFill/>
          <a:ln/>
        </p:spPr>
        <p:txBody>
          <a:bodyPr wrap="square" lIns="25400" tIns="25400" rIns="25400" bIns="25400" rtlCol="0" anchor="t">
            <a:normAutofit/>
          </a:bodyPr>
          <a:lstStyle/>
          <a:p>
            <a:pPr marL="0" indent="0" algn="l">
              <a:buNone/>
            </a:pPr>
            <a:r>
              <a:rPr lang="en-US" sz="1950" kern="0" spc="117" dirty="0">
                <a:solidFill>
                  <a:srgbClr val="97928A"/>
                </a:solidFill>
                <a:latin typeface="Courier New" pitchFamily="34" charset="0"/>
                <a:ea typeface="Courier New" pitchFamily="34" charset="-122"/>
                <a:cs typeface="Courier New" pitchFamily="34" charset="-120"/>
              </a:rPr>
              <a:t>20 / 27</a:t>
            </a:r>
            <a:endParaRPr lang="en-US" sz="1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6F2"/>
        </a:solidFill>
        <a:effectLst/>
      </p:bgPr>
    </p:bg>
    <p:spTree>
      <p:nvGrpSpPr>
        <p:cNvPr id="1" name=""/>
        <p:cNvGrpSpPr/>
        <p:nvPr/>
      </p:nvGrpSpPr>
      <p:grpSpPr>
        <a:xfrm>
          <a:off x="0" y="0"/>
          <a:ext cx="0" cy="0"/>
          <a:chOff x="0" y="0"/>
          <a:chExt cx="0" cy="0"/>
        </a:xfrm>
      </p:grpSpPr>
      <p:sp>
        <p:nvSpPr>
          <p:cNvPr id="2" name="Shape 0"/>
          <p:cNvSpPr/>
          <p:nvPr/>
        </p:nvSpPr>
        <p:spPr>
          <a:xfrm>
            <a:off x="1028700" y="801688"/>
            <a:ext cx="304800" cy="28575"/>
          </a:xfrm>
          <a:prstGeom prst="rect">
            <a:avLst/>
          </a:prstGeom>
          <a:solidFill>
            <a:srgbClr val="9A4A38"/>
          </a:solidFill>
          <a:ln/>
        </p:spPr>
      </p:sp>
      <p:sp>
        <p:nvSpPr>
          <p:cNvPr id="3" name="Text 1"/>
          <p:cNvSpPr/>
          <p:nvPr/>
        </p:nvSpPr>
        <p:spPr>
          <a:xfrm>
            <a:off x="1466850" y="628650"/>
            <a:ext cx="3612555" cy="412750"/>
          </a:xfrm>
          <a:prstGeom prst="rect">
            <a:avLst/>
          </a:prstGeom>
          <a:noFill/>
          <a:ln/>
        </p:spPr>
        <p:txBody>
          <a:bodyPr wrap="square" lIns="25400" tIns="25400" rIns="25400" bIns="25400" rtlCol="0" anchor="t">
            <a:normAutofit/>
          </a:bodyPr>
          <a:lstStyle/>
          <a:p>
            <a:pPr marL="0" indent="0" algn="l">
              <a:buNone/>
            </a:pPr>
            <a:r>
              <a:rPr lang="en-US" sz="2025" kern="0" spc="203" dirty="0">
                <a:solidFill>
                  <a:srgbClr val="5A6470"/>
                </a:solidFill>
                <a:latin typeface="Arial" pitchFamily="34" charset="0"/>
                <a:ea typeface="Arial" pitchFamily="34" charset="-122"/>
                <a:cs typeface="Arial" pitchFamily="34" charset="-120"/>
              </a:rPr>
              <a:t>第4部 市場画定の再検討</a:t>
            </a:r>
            <a:endParaRPr lang="en-US" sz="2025" dirty="0"/>
          </a:p>
        </p:txBody>
      </p:sp>
      <p:sp>
        <p:nvSpPr>
          <p:cNvPr id="4" name="Text 2"/>
          <p:cNvSpPr/>
          <p:nvPr/>
        </p:nvSpPr>
        <p:spPr>
          <a:xfrm>
            <a:off x="1028700" y="1174750"/>
            <a:ext cx="17853660" cy="624384"/>
          </a:xfrm>
          <a:prstGeom prst="rect">
            <a:avLst/>
          </a:prstGeom>
          <a:noFill/>
          <a:ln/>
        </p:spPr>
        <p:txBody>
          <a:bodyPr wrap="square" lIns="25400" tIns="25400" rIns="25400" bIns="25400" rtlCol="0" anchor="t">
            <a:normAutofit/>
          </a:bodyPr>
          <a:lstStyle/>
          <a:p>
            <a:pPr marL="0" indent="0" algn="l">
              <a:lnSpc>
                <a:spcPct val="114000"/>
              </a:lnSpc>
              <a:buNone/>
            </a:pPr>
            <a:r>
              <a:rPr lang="en-US" sz="4050" b="1" dirty="0">
                <a:solidFill>
                  <a:srgbClr val="1F2730"/>
                </a:solidFill>
                <a:latin typeface="Arial" pitchFamily="34" charset="0"/>
                <a:ea typeface="Arial" pitchFamily="34" charset="-122"/>
                <a:cs typeface="Arial" pitchFamily="34" charset="-120"/>
              </a:rPr>
              <a:t>先例：ファミリーマート・ユニー統合</a:t>
            </a:r>
            <a:endParaRPr lang="en-US" sz="4050" dirty="0"/>
          </a:p>
        </p:txBody>
      </p:sp>
      <p:sp>
        <p:nvSpPr>
          <p:cNvPr id="5" name="Text 3"/>
          <p:cNvSpPr/>
          <p:nvPr/>
        </p:nvSpPr>
        <p:spPr>
          <a:xfrm>
            <a:off x="1028700" y="1894384"/>
            <a:ext cx="16344900" cy="493812"/>
          </a:xfrm>
          <a:prstGeom prst="rect">
            <a:avLst/>
          </a:prstGeom>
          <a:noFill/>
          <a:ln/>
        </p:spPr>
        <p:txBody>
          <a:bodyPr wrap="square" lIns="25400" tIns="25400" rIns="25400" bIns="25400" rtlCol="0" anchor="t">
            <a:normAutofit/>
          </a:bodyPr>
          <a:lstStyle/>
          <a:p>
            <a:pPr marL="0" indent="0" algn="l">
              <a:lnSpc>
                <a:spcPct val="145000"/>
              </a:lnSpc>
              <a:buNone/>
            </a:pPr>
            <a:r>
              <a:rPr lang="en-US" sz="2475" dirty="0">
                <a:solidFill>
                  <a:srgbClr val="4A5560"/>
                </a:solidFill>
                <a:latin typeface="Arial" pitchFamily="34" charset="0"/>
                <a:ea typeface="Arial" pitchFamily="34" charset="-122"/>
                <a:cs typeface="Arial" pitchFamily="34" charset="-120"/>
              </a:rPr>
              <a:t>公取委は業態横断のスーパー競争圧力を正面から認め、無条件で承認した（平成27年度 事例9）。</a:t>
            </a:r>
            <a:endParaRPr lang="en-US" sz="2475" dirty="0"/>
          </a:p>
        </p:txBody>
      </p:sp>
      <p:sp>
        <p:nvSpPr>
          <p:cNvPr id="6" name="Shape 4"/>
          <p:cNvSpPr/>
          <p:nvPr/>
        </p:nvSpPr>
        <p:spPr>
          <a:xfrm>
            <a:off x="1028700" y="2559646"/>
            <a:ext cx="8274050" cy="6527205"/>
          </a:xfrm>
          <a:prstGeom prst="roundRect">
            <a:avLst>
              <a:gd name="adj" fmla="val 1459"/>
            </a:avLst>
          </a:prstGeom>
          <a:solidFill>
            <a:srgbClr val="FFFFFF"/>
          </a:solidFill>
          <a:ln w="6350">
            <a:solidFill>
              <a:srgbClr val="E0DCD2"/>
            </a:solidFill>
            <a:prstDash val="solid"/>
          </a:ln>
        </p:spPr>
      </p:sp>
      <p:sp>
        <p:nvSpPr>
          <p:cNvPr id="7" name="Text 5"/>
          <p:cNvSpPr/>
          <p:nvPr/>
        </p:nvSpPr>
        <p:spPr>
          <a:xfrm>
            <a:off x="1377950" y="4415135"/>
            <a:ext cx="8333105" cy="361950"/>
          </a:xfrm>
          <a:prstGeom prst="rect">
            <a:avLst/>
          </a:prstGeom>
          <a:noFill/>
          <a:ln/>
        </p:spPr>
        <p:txBody>
          <a:bodyPr wrap="square" lIns="25400" tIns="25400" rIns="25400" bIns="25400" rtlCol="0" anchor="t">
            <a:normAutofit/>
          </a:bodyPr>
          <a:lstStyle/>
          <a:p>
            <a:pPr marL="0" indent="0" algn="l">
              <a:buNone/>
            </a:pPr>
            <a:r>
              <a:rPr lang="en-US" sz="1950" kern="0" spc="117" dirty="0">
                <a:solidFill>
                  <a:srgbClr val="9A4A38"/>
                </a:solidFill>
                <a:latin typeface="Courier New" pitchFamily="34" charset="0"/>
                <a:ea typeface="Courier New" pitchFamily="34" charset="-122"/>
                <a:cs typeface="Courier New" pitchFamily="34" charset="-120"/>
              </a:rPr>
              <a:t>CASE 2015 - No.9</a:t>
            </a:r>
            <a:endParaRPr lang="en-US" sz="1950" dirty="0"/>
          </a:p>
        </p:txBody>
      </p:sp>
      <p:sp>
        <p:nvSpPr>
          <p:cNvPr id="8" name="Text 6"/>
          <p:cNvSpPr/>
          <p:nvPr/>
        </p:nvSpPr>
        <p:spPr>
          <a:xfrm>
            <a:off x="1377950" y="4891385"/>
            <a:ext cx="7802817" cy="1485900"/>
          </a:xfrm>
          <a:prstGeom prst="rect">
            <a:avLst/>
          </a:prstGeom>
          <a:noFill/>
          <a:ln/>
        </p:spPr>
        <p:txBody>
          <a:bodyPr wrap="square" lIns="25400" tIns="25400" rIns="25400" bIns="25400" rtlCol="0" anchor="t">
            <a:normAutofit/>
          </a:bodyPr>
          <a:lstStyle/>
          <a:p>
            <a:pPr marL="0" indent="0" algn="l">
              <a:lnSpc>
                <a:spcPct val="160000"/>
              </a:lnSpc>
              <a:buNone/>
            </a:pPr>
            <a:r>
              <a:rPr lang="en-US" sz="2250" dirty="0">
                <a:solidFill>
                  <a:srgbClr val="2C333C"/>
                </a:solidFill>
                <a:latin typeface="Arial" pitchFamily="34" charset="0"/>
                <a:ea typeface="Arial" pitchFamily="34" charset="-122"/>
                <a:cs typeface="Arial" pitchFamily="34" charset="-120"/>
              </a:rPr>
              <a:t>コンビニを業態として市場画定しつつ、 </a:t>
            </a:r>
            <a:r>
              <a:rPr lang="en-US" sz="2250" b="1" dirty="0">
                <a:solidFill>
                  <a:srgbClr val="2C333C"/>
                </a:solidFill>
                <a:latin typeface="Arial" pitchFamily="34" charset="0"/>
                <a:ea typeface="Arial" pitchFamily="34" charset="-122"/>
                <a:cs typeface="Arial" pitchFamily="34" charset="-120"/>
              </a:rPr>
              <a:t>店頭アンケートの転換率 </a:t>
            </a:r>
            <a:r>
              <a:rPr lang="en-US" sz="2250" dirty="0">
                <a:solidFill>
                  <a:srgbClr val="2C333C"/>
                </a:solidFill>
                <a:latin typeface="Arial" pitchFamily="34" charset="0"/>
                <a:ea typeface="Arial" pitchFamily="34" charset="-122"/>
                <a:cs typeface="Arial" pitchFamily="34" charset="-120"/>
              </a:rPr>
              <a:t>と</a:t>
            </a:r>
            <a:r>
              <a:rPr lang="en-US" sz="2250" b="1" dirty="0">
                <a:solidFill>
                  <a:srgbClr val="2C333C"/>
                </a:solidFill>
                <a:latin typeface="Arial" pitchFamily="34" charset="0"/>
                <a:ea typeface="Arial" pitchFamily="34" charset="-122"/>
                <a:cs typeface="Arial" pitchFamily="34" charset="-120"/>
              </a:rPr>
              <a:t>計量経済分析 </a:t>
            </a:r>
            <a:r>
              <a:rPr lang="en-US" sz="2250" dirty="0">
                <a:solidFill>
                  <a:srgbClr val="2C333C"/>
                </a:solidFill>
                <a:latin typeface="Arial" pitchFamily="34" charset="0"/>
                <a:ea typeface="Arial" pitchFamily="34" charset="-122"/>
                <a:cs typeface="Arial" pitchFamily="34" charset="-120"/>
              </a:rPr>
              <a:t>でチェーンスーパー等からの競争圧力を認定 → </a:t>
            </a:r>
            <a:r>
              <a:rPr lang="en-US" sz="2250" b="1" dirty="0">
                <a:solidFill>
                  <a:srgbClr val="2C333C"/>
                </a:solidFill>
                <a:latin typeface="Arial" pitchFamily="34" charset="0"/>
                <a:ea typeface="Arial" pitchFamily="34" charset="-122"/>
                <a:cs typeface="Arial" pitchFamily="34" charset="-120"/>
              </a:rPr>
              <a:t>無条件承認</a:t>
            </a:r>
            <a:r>
              <a:rPr lang="en-US" sz="2250" dirty="0">
                <a:solidFill>
                  <a:srgbClr val="2C333C"/>
                </a:solidFill>
                <a:latin typeface="Arial" pitchFamily="34" charset="0"/>
                <a:ea typeface="Arial" pitchFamily="34" charset="-122"/>
                <a:cs typeface="Arial" pitchFamily="34" charset="-120"/>
              </a:rPr>
              <a:t>。</a:t>
            </a:r>
            <a:endParaRPr lang="en-US" sz="2250" dirty="0"/>
          </a:p>
        </p:txBody>
      </p:sp>
      <p:sp>
        <p:nvSpPr>
          <p:cNvPr id="9" name="Shape 7"/>
          <p:cNvSpPr/>
          <p:nvPr/>
        </p:nvSpPr>
        <p:spPr>
          <a:xfrm>
            <a:off x="1377950" y="6567785"/>
            <a:ext cx="7575550" cy="9525"/>
          </a:xfrm>
          <a:prstGeom prst="rect">
            <a:avLst/>
          </a:prstGeom>
          <a:solidFill>
            <a:srgbClr val="E4E0D7"/>
          </a:solidFill>
          <a:ln/>
        </p:spPr>
      </p:sp>
      <p:sp>
        <p:nvSpPr>
          <p:cNvPr id="10" name="Text 8"/>
          <p:cNvSpPr/>
          <p:nvPr/>
        </p:nvSpPr>
        <p:spPr>
          <a:xfrm>
            <a:off x="1377950" y="6805910"/>
            <a:ext cx="8333105" cy="463550"/>
          </a:xfrm>
          <a:prstGeom prst="rect">
            <a:avLst/>
          </a:prstGeom>
          <a:noFill/>
          <a:ln/>
        </p:spPr>
        <p:txBody>
          <a:bodyPr wrap="square" lIns="25400" tIns="25400" rIns="25400" bIns="25400" rtlCol="0" anchor="t">
            <a:normAutofit/>
          </a:bodyPr>
          <a:lstStyle/>
          <a:p>
            <a:pPr marL="0" indent="0" algn="l">
              <a:lnSpc>
                <a:spcPct val="150000"/>
              </a:lnSpc>
              <a:buNone/>
            </a:pPr>
            <a:r>
              <a:rPr lang="en-US" sz="2100" dirty="0">
                <a:solidFill>
                  <a:srgbClr val="5A6470"/>
                </a:solidFill>
                <a:latin typeface="Arial" pitchFamily="34" charset="0"/>
                <a:ea typeface="Arial" pitchFamily="34" charset="-122"/>
                <a:cs typeface="Arial" pitchFamily="34" charset="-120"/>
              </a:rPr>
              <a:t>命題：</a:t>
            </a:r>
            <a:r>
              <a:rPr lang="en-US" sz="2100" b="1" dirty="0">
                <a:solidFill>
                  <a:srgbClr val="2C333C"/>
                </a:solidFill>
                <a:latin typeface="Arial" pitchFamily="34" charset="0"/>
                <a:ea typeface="Arial" pitchFamily="34" charset="-122"/>
                <a:cs typeface="Arial" pitchFamily="34" charset="-120"/>
              </a:rPr>
              <a:t>業態横断の需要代替性は審査上考慮すべき要素</a:t>
            </a:r>
            <a:r>
              <a:rPr lang="en-US" sz="2100" dirty="0">
                <a:solidFill>
                  <a:srgbClr val="5A6470"/>
                </a:solidFill>
                <a:latin typeface="Arial" pitchFamily="34" charset="0"/>
                <a:ea typeface="Arial" pitchFamily="34" charset="-122"/>
                <a:cs typeface="Arial" pitchFamily="34" charset="-120"/>
              </a:rPr>
              <a:t>である。</a:t>
            </a:r>
            <a:endParaRPr lang="en-US" sz="2100" dirty="0"/>
          </a:p>
        </p:txBody>
      </p:sp>
      <p:sp>
        <p:nvSpPr>
          <p:cNvPr id="11" name="Shape 9"/>
          <p:cNvSpPr/>
          <p:nvPr/>
        </p:nvSpPr>
        <p:spPr>
          <a:xfrm>
            <a:off x="9683750" y="3678436"/>
            <a:ext cx="7575550" cy="2363788"/>
          </a:xfrm>
          <a:prstGeom prst="rect">
            <a:avLst/>
          </a:prstGeom>
          <a:solidFill>
            <a:srgbClr val="FBF3F1"/>
          </a:solidFill>
          <a:ln/>
        </p:spPr>
      </p:sp>
      <p:sp>
        <p:nvSpPr>
          <p:cNvPr id="12" name="Shape 10"/>
          <p:cNvSpPr/>
          <p:nvPr/>
        </p:nvSpPr>
        <p:spPr>
          <a:xfrm>
            <a:off x="9683750" y="3678436"/>
            <a:ext cx="44450" cy="2363788"/>
          </a:xfrm>
          <a:prstGeom prst="rect">
            <a:avLst/>
          </a:prstGeom>
          <a:solidFill>
            <a:srgbClr val="9A4A38"/>
          </a:solidFill>
          <a:ln/>
        </p:spPr>
      </p:sp>
      <p:sp>
        <p:nvSpPr>
          <p:cNvPr id="13" name="Text 11"/>
          <p:cNvSpPr/>
          <p:nvPr/>
        </p:nvSpPr>
        <p:spPr>
          <a:xfrm>
            <a:off x="10013950" y="3926086"/>
            <a:ext cx="7655560" cy="412750"/>
          </a:xfrm>
          <a:prstGeom prst="rect">
            <a:avLst/>
          </a:prstGeom>
          <a:noFill/>
          <a:ln/>
        </p:spPr>
        <p:txBody>
          <a:bodyPr wrap="square" lIns="25400" tIns="25400" rIns="25400" bIns="25400" rtlCol="0" anchor="t">
            <a:normAutofit/>
          </a:bodyPr>
          <a:lstStyle/>
          <a:p>
            <a:pPr marL="0" indent="0" algn="l">
              <a:buNone/>
            </a:pPr>
            <a:r>
              <a:rPr lang="en-US" sz="2025" kern="0" spc="101" dirty="0">
                <a:solidFill>
                  <a:srgbClr val="9A4A38"/>
                </a:solidFill>
                <a:latin typeface="Arial" pitchFamily="34" charset="0"/>
                <a:ea typeface="Arial" pitchFamily="34" charset="-122"/>
                <a:cs typeface="Arial" pitchFamily="34" charset="-120"/>
              </a:rPr>
              <a:t>本件への正しい援用</a:t>
            </a:r>
            <a:endParaRPr lang="en-US" sz="2025" dirty="0"/>
          </a:p>
        </p:txBody>
      </p:sp>
      <p:sp>
        <p:nvSpPr>
          <p:cNvPr id="14" name="Text 12"/>
          <p:cNvSpPr/>
          <p:nvPr/>
        </p:nvSpPr>
        <p:spPr>
          <a:xfrm>
            <a:off x="10013950" y="4415036"/>
            <a:ext cx="7168388" cy="1417638"/>
          </a:xfrm>
          <a:prstGeom prst="rect">
            <a:avLst/>
          </a:prstGeom>
          <a:noFill/>
          <a:ln/>
        </p:spPr>
        <p:txBody>
          <a:bodyPr wrap="square" lIns="25400" tIns="25400" rIns="25400" bIns="25400" rtlCol="0" anchor="t">
            <a:normAutofit/>
          </a:bodyPr>
          <a:lstStyle/>
          <a:p>
            <a:pPr marL="0" indent="0" algn="l">
              <a:lnSpc>
                <a:spcPct val="155000"/>
              </a:lnSpc>
              <a:buNone/>
            </a:pPr>
            <a:r>
              <a:rPr lang="en-US" sz="2250" dirty="0">
                <a:solidFill>
                  <a:srgbClr val="3A2F2B"/>
                </a:solidFill>
                <a:latin typeface="Arial" pitchFamily="34" charset="0"/>
                <a:ea typeface="Arial" pitchFamily="34" charset="-122"/>
                <a:cs typeface="Arial" pitchFamily="34" charset="-120"/>
              </a:rPr>
              <a:t>そこでは</a:t>
            </a:r>
            <a:r>
              <a:rPr lang="en-US" sz="2250" b="1" dirty="0">
                <a:solidFill>
                  <a:srgbClr val="3A2F2B"/>
                </a:solidFill>
                <a:latin typeface="Arial" pitchFamily="34" charset="0"/>
                <a:ea typeface="Arial" pitchFamily="34" charset="-122"/>
                <a:cs typeface="Arial" pitchFamily="34" charset="-120"/>
              </a:rPr>
              <a:t>スーパーが近接 </a:t>
            </a:r>
            <a:r>
              <a:rPr lang="en-US" sz="2250" dirty="0">
                <a:solidFill>
                  <a:srgbClr val="3A2F2B"/>
                </a:solidFill>
                <a:latin typeface="Arial" pitchFamily="34" charset="0"/>
                <a:ea typeface="Arial" pitchFamily="34" charset="-122"/>
                <a:cs typeface="Arial" pitchFamily="34" charset="-120"/>
              </a:rPr>
              <a:t>したから圧力が働いた。→ スーパーが </a:t>
            </a:r>
            <a:r>
              <a:rPr lang="en-US" sz="2250" b="1" dirty="0">
                <a:solidFill>
                  <a:srgbClr val="9A4A38"/>
                </a:solidFill>
                <a:latin typeface="Arial" pitchFamily="34" charset="0"/>
                <a:ea typeface="Arial" pitchFamily="34" charset="-122"/>
                <a:cs typeface="Arial" pitchFamily="34" charset="-120"/>
              </a:rPr>
              <a:t>不在の商圏 </a:t>
            </a:r>
            <a:r>
              <a:rPr lang="en-US" sz="2250" dirty="0">
                <a:solidFill>
                  <a:srgbClr val="3A2F2B"/>
                </a:solidFill>
                <a:latin typeface="Arial" pitchFamily="34" charset="0"/>
                <a:ea typeface="Arial" pitchFamily="34" charset="-122"/>
                <a:cs typeface="Arial" pitchFamily="34" charset="-120"/>
              </a:rPr>
              <a:t>では、その圧力が欠ける、という向きで援用する。</a:t>
            </a:r>
            <a:endParaRPr lang="en-US" sz="2250" dirty="0"/>
          </a:p>
        </p:txBody>
      </p:sp>
      <p:sp>
        <p:nvSpPr>
          <p:cNvPr id="15" name="Shape 13"/>
          <p:cNvSpPr/>
          <p:nvPr/>
        </p:nvSpPr>
        <p:spPr>
          <a:xfrm>
            <a:off x="9683750" y="6232724"/>
            <a:ext cx="7575550" cy="1735336"/>
          </a:xfrm>
          <a:prstGeom prst="roundRect">
            <a:avLst>
              <a:gd name="adj" fmla="val 5489"/>
            </a:avLst>
          </a:prstGeom>
          <a:solidFill>
            <a:srgbClr val="FFFFFF"/>
          </a:solidFill>
          <a:ln w="6350">
            <a:solidFill>
              <a:srgbClr val="E0DCD2"/>
            </a:solidFill>
            <a:prstDash val="solid"/>
          </a:ln>
        </p:spPr>
      </p:sp>
      <p:sp>
        <p:nvSpPr>
          <p:cNvPr id="16" name="Text 14"/>
          <p:cNvSpPr/>
          <p:nvPr/>
        </p:nvSpPr>
        <p:spPr>
          <a:xfrm>
            <a:off x="9975850" y="6467674"/>
            <a:ext cx="7201091" cy="1303536"/>
          </a:xfrm>
          <a:prstGeom prst="rect">
            <a:avLst/>
          </a:prstGeom>
          <a:noFill/>
          <a:ln/>
        </p:spPr>
        <p:txBody>
          <a:bodyPr wrap="square" lIns="25400" tIns="25400" rIns="25400" bIns="25400" rtlCol="0" anchor="t">
            <a:normAutofit/>
          </a:bodyPr>
          <a:lstStyle/>
          <a:p>
            <a:pPr marL="0" indent="0" algn="l">
              <a:lnSpc>
                <a:spcPct val="155000"/>
              </a:lnSpc>
              <a:buNone/>
            </a:pPr>
            <a:r>
              <a:rPr lang="en-US" sz="2100" dirty="0">
                <a:solidFill>
                  <a:srgbClr val="5A6470"/>
                </a:solidFill>
                <a:latin typeface="Arial" pitchFamily="34" charset="0"/>
                <a:ea typeface="Arial" pitchFamily="34" charset="-122"/>
                <a:cs typeface="Arial" pitchFamily="34" charset="-120"/>
              </a:rPr>
              <a:t>補強：公取委の回帰も、</a:t>
            </a:r>
            <a:r>
              <a:rPr lang="en-US" sz="2100" b="1" dirty="0">
                <a:solidFill>
                  <a:srgbClr val="2C333C"/>
                </a:solidFill>
                <a:latin typeface="Arial" pitchFamily="34" charset="0"/>
                <a:ea typeface="Arial" pitchFamily="34" charset="-122"/>
                <a:cs typeface="Arial" pitchFamily="34" charset="-120"/>
              </a:rPr>
              <a:t>食品カテゴリー </a:t>
            </a:r>
            <a:r>
              <a:rPr lang="en-US" sz="2100" dirty="0">
                <a:solidFill>
                  <a:srgbClr val="5A6470"/>
                </a:solidFill>
                <a:latin typeface="Arial" pitchFamily="34" charset="0"/>
                <a:ea typeface="Arial" pitchFamily="34" charset="-122"/>
                <a:cs typeface="Arial" pitchFamily="34" charset="-120"/>
              </a:rPr>
              <a:t>では他業態の店舗数が増えるほどツルハの粗利益率が有意に低下 — 食品次元の業態横断競争を留保として示す。</a:t>
            </a:r>
            <a:endParaRPr lang="en-US" sz="2100" dirty="0"/>
          </a:p>
        </p:txBody>
      </p:sp>
      <p:sp>
        <p:nvSpPr>
          <p:cNvPr id="17" name="Shape 15"/>
          <p:cNvSpPr/>
          <p:nvPr/>
        </p:nvSpPr>
        <p:spPr>
          <a:xfrm>
            <a:off x="1028700" y="9296400"/>
            <a:ext cx="16230600" cy="9525"/>
          </a:xfrm>
          <a:prstGeom prst="rect">
            <a:avLst/>
          </a:prstGeom>
          <a:solidFill>
            <a:srgbClr val="E4E0D7"/>
          </a:solidFill>
          <a:ln/>
        </p:spPr>
      </p:sp>
      <p:sp>
        <p:nvSpPr>
          <p:cNvPr id="18" name="Text 16"/>
          <p:cNvSpPr/>
          <p:nvPr/>
        </p:nvSpPr>
        <p:spPr>
          <a:xfrm>
            <a:off x="1028700" y="9455150"/>
            <a:ext cx="8898454" cy="393700"/>
          </a:xfrm>
          <a:prstGeom prst="rect">
            <a:avLst/>
          </a:prstGeom>
          <a:noFill/>
          <a:ln/>
        </p:spPr>
        <p:txBody>
          <a:bodyPr wrap="square" lIns="25400" tIns="25400" rIns="25400" bIns="25400" rtlCol="0" anchor="t">
            <a:normAutofit/>
          </a:bodyPr>
          <a:lstStyle/>
          <a:p>
            <a:pPr marL="0" indent="0" algn="l">
              <a:buNone/>
            </a:pPr>
            <a:r>
              <a:rPr lang="en-US" sz="1950" dirty="0">
                <a:solidFill>
                  <a:srgbClr val="97928A"/>
                </a:solidFill>
                <a:latin typeface="Arial" pitchFamily="34" charset="0"/>
                <a:ea typeface="Arial" pitchFamily="34" charset="-122"/>
                <a:cs typeface="Arial" pitchFamily="34" charset="-120"/>
              </a:rPr>
              <a:t>出典：公正取引委員会「平成27年度における主要な企業結合事例」事例9</a:t>
            </a:r>
            <a:endParaRPr lang="en-US" sz="1950" dirty="0"/>
          </a:p>
        </p:txBody>
      </p:sp>
      <p:sp>
        <p:nvSpPr>
          <p:cNvPr id="19" name="Text 17"/>
          <p:cNvSpPr/>
          <p:nvPr/>
        </p:nvSpPr>
        <p:spPr>
          <a:xfrm>
            <a:off x="16115109" y="9471025"/>
            <a:ext cx="1220391" cy="361950"/>
          </a:xfrm>
          <a:prstGeom prst="rect">
            <a:avLst/>
          </a:prstGeom>
          <a:noFill/>
          <a:ln/>
        </p:spPr>
        <p:txBody>
          <a:bodyPr wrap="square" lIns="25400" tIns="25400" rIns="25400" bIns="25400" rtlCol="0" anchor="t">
            <a:normAutofit/>
          </a:bodyPr>
          <a:lstStyle/>
          <a:p>
            <a:pPr marL="0" indent="0" algn="l">
              <a:buNone/>
            </a:pPr>
            <a:r>
              <a:rPr lang="en-US" sz="1950" kern="0" spc="117" dirty="0">
                <a:solidFill>
                  <a:srgbClr val="97928A"/>
                </a:solidFill>
                <a:latin typeface="Courier New" pitchFamily="34" charset="0"/>
                <a:ea typeface="Courier New" pitchFamily="34" charset="-122"/>
                <a:cs typeface="Courier New" pitchFamily="34" charset="-120"/>
              </a:rPr>
              <a:t>21 / 27</a:t>
            </a:r>
            <a:endParaRPr lang="en-US" sz="1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6F2"/>
        </a:solidFill>
        <a:effectLst/>
      </p:bgPr>
    </p:bg>
    <p:spTree>
      <p:nvGrpSpPr>
        <p:cNvPr id="1" name=""/>
        <p:cNvGrpSpPr/>
        <p:nvPr/>
      </p:nvGrpSpPr>
      <p:grpSpPr>
        <a:xfrm>
          <a:off x="0" y="0"/>
          <a:ext cx="0" cy="0"/>
          <a:chOff x="0" y="0"/>
          <a:chExt cx="0" cy="0"/>
        </a:xfrm>
      </p:grpSpPr>
      <p:sp>
        <p:nvSpPr>
          <p:cNvPr id="2" name="Shape 0"/>
          <p:cNvSpPr/>
          <p:nvPr/>
        </p:nvSpPr>
        <p:spPr>
          <a:xfrm>
            <a:off x="1028700" y="801688"/>
            <a:ext cx="304800" cy="28575"/>
          </a:xfrm>
          <a:prstGeom prst="rect">
            <a:avLst/>
          </a:prstGeom>
          <a:solidFill>
            <a:srgbClr val="9A4A38"/>
          </a:solidFill>
          <a:ln/>
        </p:spPr>
      </p:sp>
      <p:sp>
        <p:nvSpPr>
          <p:cNvPr id="3" name="Text 1"/>
          <p:cNvSpPr/>
          <p:nvPr/>
        </p:nvSpPr>
        <p:spPr>
          <a:xfrm>
            <a:off x="1466850" y="628650"/>
            <a:ext cx="3612555" cy="412750"/>
          </a:xfrm>
          <a:prstGeom prst="rect">
            <a:avLst/>
          </a:prstGeom>
          <a:noFill/>
          <a:ln/>
        </p:spPr>
        <p:txBody>
          <a:bodyPr wrap="square" lIns="25400" tIns="25400" rIns="25400" bIns="25400" rtlCol="0" anchor="t">
            <a:normAutofit/>
          </a:bodyPr>
          <a:lstStyle/>
          <a:p>
            <a:pPr marL="0" indent="0" algn="l">
              <a:buNone/>
            </a:pPr>
            <a:r>
              <a:rPr lang="en-US" sz="2025" kern="0" spc="203" dirty="0">
                <a:solidFill>
                  <a:srgbClr val="5A6470"/>
                </a:solidFill>
                <a:latin typeface="Arial" pitchFamily="34" charset="0"/>
                <a:ea typeface="Arial" pitchFamily="34" charset="-122"/>
                <a:cs typeface="Arial" pitchFamily="34" charset="-120"/>
              </a:rPr>
              <a:t>第4部 市場画定の再検討</a:t>
            </a:r>
            <a:endParaRPr lang="en-US" sz="2025" dirty="0"/>
          </a:p>
        </p:txBody>
      </p:sp>
      <p:sp>
        <p:nvSpPr>
          <p:cNvPr id="4" name="Text 2"/>
          <p:cNvSpPr/>
          <p:nvPr/>
        </p:nvSpPr>
        <p:spPr>
          <a:xfrm>
            <a:off x="1028700" y="1174750"/>
            <a:ext cx="17853660" cy="624384"/>
          </a:xfrm>
          <a:prstGeom prst="rect">
            <a:avLst/>
          </a:prstGeom>
          <a:noFill/>
          <a:ln/>
        </p:spPr>
        <p:txBody>
          <a:bodyPr wrap="square" lIns="25400" tIns="25400" rIns="25400" bIns="25400" rtlCol="0" anchor="t">
            <a:normAutofit/>
          </a:bodyPr>
          <a:lstStyle/>
          <a:p>
            <a:pPr marL="0" indent="0" algn="l">
              <a:lnSpc>
                <a:spcPct val="114000"/>
              </a:lnSpc>
              <a:buNone/>
            </a:pPr>
            <a:r>
              <a:rPr lang="en-US" sz="4050" b="1" dirty="0">
                <a:solidFill>
                  <a:srgbClr val="1F2730"/>
                </a:solidFill>
                <a:latin typeface="Arial" pitchFamily="34" charset="0"/>
                <a:ea typeface="Arial" pitchFamily="34" charset="-122"/>
                <a:cs typeface="Arial" pitchFamily="34" charset="-120"/>
              </a:rPr>
              <a:t>実証：スーパーは商圏に遍在する</a:t>
            </a:r>
            <a:endParaRPr lang="en-US" sz="4050" dirty="0"/>
          </a:p>
        </p:txBody>
      </p:sp>
      <p:sp>
        <p:nvSpPr>
          <p:cNvPr id="5" name="Text 3"/>
          <p:cNvSpPr/>
          <p:nvPr/>
        </p:nvSpPr>
        <p:spPr>
          <a:xfrm>
            <a:off x="1028700" y="1894384"/>
            <a:ext cx="16344900" cy="519212"/>
          </a:xfrm>
          <a:prstGeom prst="rect">
            <a:avLst/>
          </a:prstGeom>
          <a:noFill/>
          <a:ln/>
        </p:spPr>
        <p:txBody>
          <a:bodyPr wrap="square" lIns="25400" tIns="25400" rIns="25400" bIns="25400" rtlCol="0" anchor="t">
            <a:normAutofit/>
          </a:bodyPr>
          <a:lstStyle/>
          <a:p>
            <a:pPr marL="0" indent="0" algn="l">
              <a:lnSpc>
                <a:spcPct val="145000"/>
              </a:lnSpc>
              <a:buNone/>
            </a:pPr>
            <a:r>
              <a:rPr lang="en-US" sz="2475" dirty="0">
                <a:solidFill>
                  <a:srgbClr val="4A5560"/>
                </a:solidFill>
                <a:latin typeface="Arial" pitchFamily="34" charset="0"/>
                <a:ea typeface="Arial" pitchFamily="34" charset="-122"/>
                <a:cs typeface="Arial" pitchFamily="34" charset="-120"/>
              </a:rPr>
              <a:t>スーパーはほぼ遍在し、統合が食品集中を生む商圏は</a:t>
            </a:r>
            <a:r>
              <a:rPr lang="en-US" sz="2475" b="1" dirty="0">
                <a:solidFill>
                  <a:srgbClr val="9A4A38"/>
                </a:solidFill>
                <a:latin typeface="Arial" pitchFamily="34" charset="0"/>
                <a:ea typeface="Arial" pitchFamily="34" charset="-122"/>
                <a:cs typeface="Arial" pitchFamily="34" charset="-120"/>
              </a:rPr>
              <a:t>実質的に存在しない</a:t>
            </a:r>
            <a:r>
              <a:rPr lang="en-US" sz="2475" dirty="0">
                <a:solidFill>
                  <a:srgbClr val="4A5560"/>
                </a:solidFill>
                <a:latin typeface="Arial" pitchFamily="34" charset="0"/>
                <a:ea typeface="Arial" pitchFamily="34" charset="-122"/>
                <a:cs typeface="Arial" pitchFamily="34" charset="-120"/>
              </a:rPr>
              <a:t>。</a:t>
            </a:r>
            <a:endParaRPr lang="en-US" sz="2475" dirty="0"/>
          </a:p>
        </p:txBody>
      </p:sp>
      <p:sp>
        <p:nvSpPr>
          <p:cNvPr id="6" name="Shape 4"/>
          <p:cNvSpPr/>
          <p:nvPr/>
        </p:nvSpPr>
        <p:spPr>
          <a:xfrm>
            <a:off x="1028700" y="3890169"/>
            <a:ext cx="5274668" cy="1657350"/>
          </a:xfrm>
          <a:prstGeom prst="roundRect">
            <a:avLst>
              <a:gd name="adj" fmla="val 5747"/>
            </a:avLst>
          </a:prstGeom>
          <a:solidFill>
            <a:srgbClr val="FFFFFF"/>
          </a:solidFill>
          <a:ln w="6350">
            <a:solidFill>
              <a:srgbClr val="E0DCD2"/>
            </a:solidFill>
            <a:prstDash val="solid"/>
          </a:ln>
        </p:spPr>
      </p:sp>
      <p:sp>
        <p:nvSpPr>
          <p:cNvPr id="7" name="Text 5"/>
          <p:cNvSpPr/>
          <p:nvPr/>
        </p:nvSpPr>
        <p:spPr>
          <a:xfrm>
            <a:off x="1339850" y="4144169"/>
            <a:ext cx="5117604" cy="723900"/>
          </a:xfrm>
          <a:prstGeom prst="rect">
            <a:avLst/>
          </a:prstGeom>
          <a:noFill/>
          <a:ln/>
        </p:spPr>
        <p:txBody>
          <a:bodyPr wrap="square" lIns="25400" tIns="25400" rIns="25400" bIns="25400" rtlCol="0" anchor="t">
            <a:normAutofit/>
          </a:bodyPr>
          <a:lstStyle/>
          <a:p>
            <a:pPr marL="0" indent="0" algn="l">
              <a:lnSpc>
                <a:spcPct val="100000"/>
              </a:lnSpc>
              <a:buNone/>
            </a:pPr>
            <a:r>
              <a:rPr lang="en-US" sz="5400" b="1" dirty="0">
                <a:solidFill>
                  <a:srgbClr val="1F2730"/>
                </a:solidFill>
                <a:latin typeface="Courier New" pitchFamily="34" charset="0"/>
                <a:ea typeface="Courier New" pitchFamily="34" charset="-122"/>
                <a:cs typeface="Courier New" pitchFamily="34" charset="-120"/>
              </a:rPr>
              <a:t>799</a:t>
            </a:r>
            <a:endParaRPr lang="en-US" sz="5400" dirty="0"/>
          </a:p>
        </p:txBody>
      </p:sp>
      <p:sp>
        <p:nvSpPr>
          <p:cNvPr id="8" name="Text 6"/>
          <p:cNvSpPr/>
          <p:nvPr/>
        </p:nvSpPr>
        <p:spPr>
          <a:xfrm>
            <a:off x="1339850" y="4906169"/>
            <a:ext cx="5117604" cy="425450"/>
          </a:xfrm>
          <a:prstGeom prst="rect">
            <a:avLst/>
          </a:prstGeom>
          <a:noFill/>
          <a:ln/>
        </p:spPr>
        <p:txBody>
          <a:bodyPr wrap="square" lIns="25400" tIns="25400" rIns="25400" bIns="25400" rtlCol="0" anchor="t">
            <a:normAutofit/>
          </a:bodyPr>
          <a:lstStyle/>
          <a:p>
            <a:pPr marL="0" indent="0" algn="l">
              <a:buNone/>
            </a:pPr>
            <a:r>
              <a:rPr lang="en-US" sz="2100" dirty="0">
                <a:solidFill>
                  <a:srgbClr val="5A6470"/>
                </a:solidFill>
                <a:latin typeface="Arial" pitchFamily="34" charset="0"/>
                <a:ea typeface="Arial" pitchFamily="34" charset="-122"/>
                <a:cs typeface="Arial" pitchFamily="34" charset="-120"/>
              </a:rPr>
              <a:t>ツルハ基点の商圏（7県）</a:t>
            </a:r>
            <a:endParaRPr lang="en-US" sz="2100" dirty="0"/>
          </a:p>
        </p:txBody>
      </p:sp>
      <p:sp>
        <p:nvSpPr>
          <p:cNvPr id="9" name="Shape 7"/>
          <p:cNvSpPr/>
          <p:nvPr/>
        </p:nvSpPr>
        <p:spPr>
          <a:xfrm>
            <a:off x="6512918" y="3890169"/>
            <a:ext cx="5274766" cy="1657350"/>
          </a:xfrm>
          <a:prstGeom prst="roundRect">
            <a:avLst>
              <a:gd name="adj" fmla="val 5747"/>
            </a:avLst>
          </a:prstGeom>
          <a:solidFill>
            <a:srgbClr val="FFFFFF"/>
          </a:solidFill>
          <a:ln w="6350">
            <a:solidFill>
              <a:srgbClr val="E0DCD2"/>
            </a:solidFill>
            <a:prstDash val="solid"/>
          </a:ln>
        </p:spPr>
      </p:sp>
      <p:sp>
        <p:nvSpPr>
          <p:cNvPr id="10" name="Text 8"/>
          <p:cNvSpPr/>
          <p:nvPr/>
        </p:nvSpPr>
        <p:spPr>
          <a:xfrm>
            <a:off x="6824067" y="4144169"/>
            <a:ext cx="5117713" cy="723900"/>
          </a:xfrm>
          <a:prstGeom prst="rect">
            <a:avLst/>
          </a:prstGeom>
          <a:noFill/>
          <a:ln/>
        </p:spPr>
        <p:txBody>
          <a:bodyPr wrap="square" lIns="25400" tIns="25400" rIns="25400" bIns="25400" rtlCol="0" anchor="t">
            <a:normAutofit/>
          </a:bodyPr>
          <a:lstStyle/>
          <a:p>
            <a:pPr marL="0" indent="0" algn="l">
              <a:lnSpc>
                <a:spcPct val="100000"/>
              </a:lnSpc>
              <a:buNone/>
            </a:pPr>
            <a:r>
              <a:rPr lang="en-US" sz="5400" b="1" dirty="0">
                <a:solidFill>
                  <a:srgbClr val="1F2730"/>
                </a:solidFill>
                <a:latin typeface="Courier New" pitchFamily="34" charset="0"/>
                <a:ea typeface="Courier New" pitchFamily="34" charset="-122"/>
                <a:cs typeface="Courier New" pitchFamily="34" charset="-120"/>
              </a:rPr>
              <a:t>3</a:t>
            </a:r>
            <a:endParaRPr lang="en-US" sz="5400" dirty="0"/>
          </a:p>
        </p:txBody>
      </p:sp>
      <p:sp>
        <p:nvSpPr>
          <p:cNvPr id="11" name="Text 9"/>
          <p:cNvSpPr/>
          <p:nvPr/>
        </p:nvSpPr>
        <p:spPr>
          <a:xfrm>
            <a:off x="6824067" y="4906169"/>
            <a:ext cx="5117713" cy="425450"/>
          </a:xfrm>
          <a:prstGeom prst="rect">
            <a:avLst/>
          </a:prstGeom>
          <a:noFill/>
          <a:ln/>
        </p:spPr>
        <p:txBody>
          <a:bodyPr wrap="square" lIns="25400" tIns="25400" rIns="25400" bIns="25400" rtlCol="0" anchor="t">
            <a:normAutofit/>
          </a:bodyPr>
          <a:lstStyle/>
          <a:p>
            <a:pPr marL="0" indent="0" algn="l">
              <a:buNone/>
            </a:pPr>
            <a:r>
              <a:rPr lang="en-US" sz="2100" dirty="0">
                <a:solidFill>
                  <a:srgbClr val="5A6470"/>
                </a:solidFill>
                <a:latin typeface="Arial" pitchFamily="34" charset="0"/>
                <a:ea typeface="Arial" pitchFamily="34" charset="-122"/>
                <a:cs typeface="Arial" pitchFamily="34" charset="-120"/>
              </a:rPr>
              <a:t>スーパー不在の商圏 </a:t>
            </a:r>
            <a:r>
              <a:rPr lang="en-US" sz="2100" dirty="0">
                <a:solidFill>
                  <a:srgbClr val="97928A"/>
                </a:solidFill>
                <a:latin typeface="Arial" pitchFamily="34" charset="0"/>
                <a:ea typeface="Arial" pitchFamily="34" charset="-122"/>
                <a:cs typeface="Arial" pitchFamily="34" charset="-120"/>
              </a:rPr>
              <a:t>（中央値は 8）</a:t>
            </a:r>
            <a:endParaRPr lang="en-US" sz="2100" dirty="0"/>
          </a:p>
        </p:txBody>
      </p:sp>
      <p:sp>
        <p:nvSpPr>
          <p:cNvPr id="12" name="Shape 10"/>
          <p:cNvSpPr/>
          <p:nvPr/>
        </p:nvSpPr>
        <p:spPr>
          <a:xfrm>
            <a:off x="11997234" y="3890169"/>
            <a:ext cx="5262067" cy="1657350"/>
          </a:xfrm>
          <a:prstGeom prst="roundRect">
            <a:avLst>
              <a:gd name="adj" fmla="val 5747"/>
            </a:avLst>
          </a:prstGeom>
          <a:solidFill>
            <a:srgbClr val="9A4A38"/>
          </a:solidFill>
          <a:ln/>
        </p:spPr>
      </p:sp>
      <p:sp>
        <p:nvSpPr>
          <p:cNvPr id="13" name="Text 11"/>
          <p:cNvSpPr/>
          <p:nvPr/>
        </p:nvSpPr>
        <p:spPr>
          <a:xfrm>
            <a:off x="12302034" y="4137819"/>
            <a:ext cx="5117713" cy="723900"/>
          </a:xfrm>
          <a:prstGeom prst="rect">
            <a:avLst/>
          </a:prstGeom>
          <a:noFill/>
          <a:ln/>
        </p:spPr>
        <p:txBody>
          <a:bodyPr wrap="square" lIns="25400" tIns="25400" rIns="25400" bIns="25400" rtlCol="0" anchor="t">
            <a:normAutofit/>
          </a:bodyPr>
          <a:lstStyle/>
          <a:p>
            <a:pPr marL="0" indent="0" algn="l">
              <a:lnSpc>
                <a:spcPct val="100000"/>
              </a:lnSpc>
              <a:buNone/>
            </a:pPr>
            <a:r>
              <a:rPr lang="en-US" sz="5400" b="1" dirty="0">
                <a:solidFill>
                  <a:srgbClr val="FFFFFF"/>
                </a:solidFill>
                <a:latin typeface="Courier New" pitchFamily="34" charset="0"/>
                <a:ea typeface="Courier New" pitchFamily="34" charset="-122"/>
                <a:cs typeface="Courier New" pitchFamily="34" charset="-120"/>
              </a:rPr>
              <a:t>1</a:t>
            </a:r>
            <a:endParaRPr lang="en-US" sz="5400" dirty="0"/>
          </a:p>
        </p:txBody>
      </p:sp>
      <p:sp>
        <p:nvSpPr>
          <p:cNvPr id="14" name="Text 12"/>
          <p:cNvSpPr/>
          <p:nvPr/>
        </p:nvSpPr>
        <p:spPr>
          <a:xfrm>
            <a:off x="12302034" y="4899819"/>
            <a:ext cx="5117713" cy="425450"/>
          </a:xfrm>
          <a:prstGeom prst="rect">
            <a:avLst/>
          </a:prstGeom>
          <a:noFill/>
          <a:ln/>
        </p:spPr>
        <p:txBody>
          <a:bodyPr wrap="square" lIns="25400" tIns="25400" rIns="25400" bIns="25400" rtlCol="0" anchor="t">
            <a:normAutofit/>
          </a:bodyPr>
          <a:lstStyle/>
          <a:p>
            <a:pPr marL="0" indent="0" algn="l">
              <a:buNone/>
            </a:pPr>
            <a:r>
              <a:rPr lang="en-US" sz="2100" dirty="0">
                <a:solidFill>
                  <a:srgbClr val="EAD2CA"/>
                </a:solidFill>
                <a:latin typeface="Arial" pitchFamily="34" charset="0"/>
                <a:ea typeface="Arial" pitchFamily="34" charset="-122"/>
                <a:cs typeface="Arial" pitchFamily="34" charset="-120"/>
              </a:rPr>
              <a:t>食品集中を生む商圏（西郷店のみ）</a:t>
            </a:r>
            <a:endParaRPr lang="en-US" sz="2100" dirty="0"/>
          </a:p>
        </p:txBody>
      </p:sp>
      <p:sp>
        <p:nvSpPr>
          <p:cNvPr id="15" name="Shape 13"/>
          <p:cNvSpPr/>
          <p:nvPr/>
        </p:nvSpPr>
        <p:spPr>
          <a:xfrm>
            <a:off x="1028700" y="5757069"/>
            <a:ext cx="16230600" cy="2005608"/>
          </a:xfrm>
          <a:prstGeom prst="roundRect">
            <a:avLst>
              <a:gd name="adj" fmla="val 4749"/>
            </a:avLst>
          </a:prstGeom>
          <a:solidFill>
            <a:srgbClr val="FFFFFF"/>
          </a:solidFill>
          <a:ln w="6350">
            <a:solidFill>
              <a:srgbClr val="E0DCD2"/>
            </a:solidFill>
            <a:prstDash val="solid"/>
          </a:ln>
        </p:spPr>
      </p:sp>
      <p:sp>
        <p:nvSpPr>
          <p:cNvPr id="16" name="Text 14"/>
          <p:cNvSpPr/>
          <p:nvPr/>
        </p:nvSpPr>
        <p:spPr>
          <a:xfrm>
            <a:off x="1377950" y="6049169"/>
            <a:ext cx="17085311" cy="463550"/>
          </a:xfrm>
          <a:prstGeom prst="rect">
            <a:avLst/>
          </a:prstGeom>
          <a:noFill/>
          <a:ln/>
        </p:spPr>
        <p:txBody>
          <a:bodyPr wrap="square" lIns="25400" tIns="25400" rIns="25400" bIns="25400" rtlCol="0" anchor="t">
            <a:normAutofit/>
          </a:bodyPr>
          <a:lstStyle/>
          <a:p>
            <a:pPr marL="0" indent="0" algn="l">
              <a:buNone/>
            </a:pPr>
            <a:r>
              <a:rPr lang="en-US" sz="2325" b="1" dirty="0">
                <a:solidFill>
                  <a:srgbClr val="1F2730"/>
                </a:solidFill>
                <a:latin typeface="Arial" pitchFamily="34" charset="0"/>
                <a:ea typeface="Arial" pitchFamily="34" charset="-122"/>
                <a:cs typeface="Arial" pitchFamily="34" charset="-120"/>
              </a:rPr>
              <a:t>形式的にセーフハーバーを超える54商圏も、競争は維持</a:t>
            </a:r>
            <a:endParaRPr lang="en-US" sz="2325" dirty="0"/>
          </a:p>
        </p:txBody>
      </p:sp>
      <p:sp>
        <p:nvSpPr>
          <p:cNvPr id="17" name="Text 15"/>
          <p:cNvSpPr/>
          <p:nvPr/>
        </p:nvSpPr>
        <p:spPr>
          <a:xfrm>
            <a:off x="1377950" y="6588919"/>
            <a:ext cx="15998064" cy="919758"/>
          </a:xfrm>
          <a:prstGeom prst="rect">
            <a:avLst/>
          </a:prstGeom>
          <a:noFill/>
          <a:ln/>
        </p:spPr>
        <p:txBody>
          <a:bodyPr wrap="square" lIns="25400" tIns="25400" rIns="25400" bIns="25400" rtlCol="0" anchor="t">
            <a:normAutofit/>
          </a:bodyPr>
          <a:lstStyle/>
          <a:p>
            <a:pPr marL="0" indent="0" algn="l">
              <a:lnSpc>
                <a:spcPct val="155000"/>
              </a:lnSpc>
              <a:buNone/>
            </a:pPr>
            <a:r>
              <a:rPr lang="en-US" sz="2175" dirty="0">
                <a:solidFill>
                  <a:srgbClr val="5A6470"/>
                </a:solidFill>
                <a:latin typeface="Arial" pitchFamily="34" charset="0"/>
                <a:ea typeface="Arial" pitchFamily="34" charset="-122"/>
                <a:cs typeface="Arial" pitchFamily="34" charset="-120"/>
              </a:rPr>
              <a:t>その</a:t>
            </a:r>
            <a:r>
              <a:rPr lang="en-US" sz="2175" b="1" dirty="0">
                <a:solidFill>
                  <a:srgbClr val="2C333C"/>
                </a:solidFill>
                <a:latin typeface="Arial" pitchFamily="34" charset="0"/>
                <a:ea typeface="Arial" pitchFamily="34" charset="-122"/>
                <a:cs typeface="Arial" pitchFamily="34" charset="-120"/>
              </a:rPr>
              <a:t>53まではスーパーを擁し </a:t>
            </a:r>
            <a:r>
              <a:rPr lang="en-US" sz="2175" dirty="0">
                <a:solidFill>
                  <a:srgbClr val="5A6470"/>
                </a:solidFill>
                <a:latin typeface="Arial" pitchFamily="34" charset="0"/>
                <a:ea typeface="Arial" pitchFamily="34" charset="-122"/>
                <a:cs typeface="Arial" pitchFamily="34" charset="-120"/>
              </a:rPr>
              <a:t>（中央値7）、競合スーパーが多数残る。構造は、イオンの既存シェアにツルハの小さな食品シェアが加わったにすぎない。</a:t>
            </a:r>
            <a:endParaRPr lang="en-US" sz="2175" dirty="0"/>
          </a:p>
        </p:txBody>
      </p:sp>
      <p:sp>
        <p:nvSpPr>
          <p:cNvPr id="18" name="Shape 16"/>
          <p:cNvSpPr/>
          <p:nvPr/>
        </p:nvSpPr>
        <p:spPr>
          <a:xfrm>
            <a:off x="1028700" y="9296400"/>
            <a:ext cx="16230600" cy="9525"/>
          </a:xfrm>
          <a:prstGeom prst="rect">
            <a:avLst/>
          </a:prstGeom>
          <a:solidFill>
            <a:srgbClr val="E4E0D7"/>
          </a:solidFill>
          <a:ln/>
        </p:spPr>
      </p:sp>
      <p:sp>
        <p:nvSpPr>
          <p:cNvPr id="19" name="Text 17"/>
          <p:cNvSpPr/>
          <p:nvPr/>
        </p:nvSpPr>
        <p:spPr>
          <a:xfrm>
            <a:off x="1028700" y="9455150"/>
            <a:ext cx="13028444" cy="393700"/>
          </a:xfrm>
          <a:prstGeom prst="rect">
            <a:avLst/>
          </a:prstGeom>
          <a:noFill/>
          <a:ln/>
        </p:spPr>
        <p:txBody>
          <a:bodyPr wrap="square" lIns="25400" tIns="25400" rIns="25400" bIns="25400" rtlCol="0" anchor="t">
            <a:normAutofit/>
          </a:bodyPr>
          <a:lstStyle/>
          <a:p>
            <a:pPr marL="0" indent="0" algn="l">
              <a:buNone/>
            </a:pPr>
            <a:r>
              <a:rPr lang="en-US" sz="1950" dirty="0">
                <a:solidFill>
                  <a:srgbClr val="97928A"/>
                </a:solidFill>
                <a:latin typeface="Arial" pitchFamily="34" charset="0"/>
                <a:ea typeface="Arial" pitchFamily="34" charset="-122"/>
                <a:cs typeface="Arial" pitchFamily="34" charset="-120"/>
              </a:rPr>
              <a:t>出典：自作分析（Google Places API・7県）／食品供給力ウェイトは透明な仮定、感度分析で頑健性を確認</a:t>
            </a:r>
            <a:endParaRPr lang="en-US" sz="1950" dirty="0"/>
          </a:p>
        </p:txBody>
      </p:sp>
      <p:sp>
        <p:nvSpPr>
          <p:cNvPr id="20" name="Text 18"/>
          <p:cNvSpPr/>
          <p:nvPr/>
        </p:nvSpPr>
        <p:spPr>
          <a:xfrm>
            <a:off x="16115109" y="9471025"/>
            <a:ext cx="1220391" cy="361950"/>
          </a:xfrm>
          <a:prstGeom prst="rect">
            <a:avLst/>
          </a:prstGeom>
          <a:noFill/>
          <a:ln/>
        </p:spPr>
        <p:txBody>
          <a:bodyPr wrap="square" lIns="25400" tIns="25400" rIns="25400" bIns="25400" rtlCol="0" anchor="t">
            <a:normAutofit/>
          </a:bodyPr>
          <a:lstStyle/>
          <a:p>
            <a:pPr marL="0" indent="0" algn="l">
              <a:buNone/>
            </a:pPr>
            <a:r>
              <a:rPr lang="en-US" sz="1950" kern="0" spc="117" dirty="0">
                <a:solidFill>
                  <a:srgbClr val="97928A"/>
                </a:solidFill>
                <a:latin typeface="Courier New" pitchFamily="34" charset="0"/>
                <a:ea typeface="Courier New" pitchFamily="34" charset="-122"/>
                <a:cs typeface="Courier New" pitchFamily="34" charset="-120"/>
              </a:rPr>
              <a:t>22 / 27</a:t>
            </a:r>
            <a:endParaRPr lang="en-US" sz="1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6F2"/>
        </a:solidFill>
        <a:effectLst/>
      </p:bgPr>
    </p:bg>
    <p:spTree>
      <p:nvGrpSpPr>
        <p:cNvPr id="1" name=""/>
        <p:cNvGrpSpPr/>
        <p:nvPr/>
      </p:nvGrpSpPr>
      <p:grpSpPr>
        <a:xfrm>
          <a:off x="0" y="0"/>
          <a:ext cx="0" cy="0"/>
          <a:chOff x="0" y="0"/>
          <a:chExt cx="0" cy="0"/>
        </a:xfrm>
      </p:grpSpPr>
      <p:sp>
        <p:nvSpPr>
          <p:cNvPr id="2" name="Shape 0"/>
          <p:cNvSpPr/>
          <p:nvPr/>
        </p:nvSpPr>
        <p:spPr>
          <a:xfrm>
            <a:off x="1028700" y="801688"/>
            <a:ext cx="304800" cy="28575"/>
          </a:xfrm>
          <a:prstGeom prst="rect">
            <a:avLst/>
          </a:prstGeom>
          <a:solidFill>
            <a:srgbClr val="9A4A38"/>
          </a:solidFill>
          <a:ln/>
        </p:spPr>
      </p:sp>
      <p:sp>
        <p:nvSpPr>
          <p:cNvPr id="3" name="Text 1"/>
          <p:cNvSpPr/>
          <p:nvPr/>
        </p:nvSpPr>
        <p:spPr>
          <a:xfrm>
            <a:off x="1466850" y="628650"/>
            <a:ext cx="3612555" cy="412750"/>
          </a:xfrm>
          <a:prstGeom prst="rect">
            <a:avLst/>
          </a:prstGeom>
          <a:noFill/>
          <a:ln/>
        </p:spPr>
        <p:txBody>
          <a:bodyPr wrap="square" lIns="25400" tIns="25400" rIns="25400" bIns="25400" rtlCol="0" anchor="t">
            <a:normAutofit/>
          </a:bodyPr>
          <a:lstStyle/>
          <a:p>
            <a:pPr marL="0" indent="0" algn="l">
              <a:buNone/>
            </a:pPr>
            <a:r>
              <a:rPr lang="en-US" sz="2025" kern="0" spc="203" dirty="0">
                <a:solidFill>
                  <a:srgbClr val="5A6470"/>
                </a:solidFill>
                <a:latin typeface="Arial" pitchFamily="34" charset="0"/>
                <a:ea typeface="Arial" pitchFamily="34" charset="-122"/>
                <a:cs typeface="Arial" pitchFamily="34" charset="-120"/>
              </a:rPr>
              <a:t>第4部 市場画定の再検討</a:t>
            </a:r>
            <a:endParaRPr lang="en-US" sz="2025" dirty="0"/>
          </a:p>
        </p:txBody>
      </p:sp>
      <p:sp>
        <p:nvSpPr>
          <p:cNvPr id="4" name="Text 2"/>
          <p:cNvSpPr/>
          <p:nvPr/>
        </p:nvSpPr>
        <p:spPr>
          <a:xfrm>
            <a:off x="1028700" y="1174750"/>
            <a:ext cx="17853660" cy="624384"/>
          </a:xfrm>
          <a:prstGeom prst="rect">
            <a:avLst/>
          </a:prstGeom>
          <a:noFill/>
          <a:ln/>
        </p:spPr>
        <p:txBody>
          <a:bodyPr wrap="square" lIns="25400" tIns="25400" rIns="25400" bIns="25400" rtlCol="0" anchor="t">
            <a:normAutofit/>
          </a:bodyPr>
          <a:lstStyle/>
          <a:p>
            <a:pPr marL="0" indent="0" algn="l">
              <a:lnSpc>
                <a:spcPct val="114000"/>
              </a:lnSpc>
              <a:buNone/>
            </a:pPr>
            <a:r>
              <a:rPr lang="en-US" sz="4050" b="1" dirty="0">
                <a:solidFill>
                  <a:srgbClr val="1F2730"/>
                </a:solidFill>
                <a:latin typeface="Arial" pitchFamily="34" charset="0"/>
                <a:ea typeface="Arial" pitchFamily="34" charset="-122"/>
                <a:cs typeface="Arial" pitchFamily="34" charset="-120"/>
              </a:rPr>
              <a:t>実証：唯一の例外・西郷店商圏</a:t>
            </a:r>
            <a:endParaRPr lang="en-US" sz="4050" dirty="0"/>
          </a:p>
        </p:txBody>
      </p:sp>
      <p:sp>
        <p:nvSpPr>
          <p:cNvPr id="5" name="Text 3"/>
          <p:cNvSpPr/>
          <p:nvPr/>
        </p:nvSpPr>
        <p:spPr>
          <a:xfrm>
            <a:off x="1028700" y="1894384"/>
            <a:ext cx="16344900" cy="519212"/>
          </a:xfrm>
          <a:prstGeom prst="rect">
            <a:avLst/>
          </a:prstGeom>
          <a:noFill/>
          <a:ln/>
        </p:spPr>
        <p:txBody>
          <a:bodyPr wrap="square" lIns="25400" tIns="25400" rIns="25400" bIns="25400" rtlCol="0" anchor="t">
            <a:normAutofit/>
          </a:bodyPr>
          <a:lstStyle/>
          <a:p>
            <a:pPr marL="0" indent="0" algn="l">
              <a:lnSpc>
                <a:spcPct val="145000"/>
              </a:lnSpc>
              <a:buNone/>
            </a:pPr>
            <a:r>
              <a:rPr lang="en-US" sz="2475" dirty="0">
                <a:solidFill>
                  <a:srgbClr val="4A5560"/>
                </a:solidFill>
                <a:latin typeface="Arial" pitchFamily="34" charset="0"/>
                <a:ea typeface="Arial" pitchFamily="34" charset="-122"/>
                <a:cs typeface="Arial" pitchFamily="34" charset="-120"/>
              </a:rPr>
              <a:t>セーフハーバーを形式的に超える唯一の商圏。だが</a:t>
            </a:r>
            <a:r>
              <a:rPr lang="en-US" sz="2475" b="1" dirty="0">
                <a:solidFill>
                  <a:srgbClr val="9A4A38"/>
                </a:solidFill>
                <a:latin typeface="Arial" pitchFamily="34" charset="0"/>
                <a:ea typeface="Arial" pitchFamily="34" charset="-122"/>
                <a:cs typeface="Arial" pitchFamily="34" charset="-120"/>
              </a:rPr>
              <a:t>実質的な弊害は乏しい</a:t>
            </a:r>
            <a:r>
              <a:rPr lang="en-US" sz="2475" dirty="0">
                <a:solidFill>
                  <a:srgbClr val="4A5560"/>
                </a:solidFill>
                <a:latin typeface="Arial" pitchFamily="34" charset="0"/>
                <a:ea typeface="Arial" pitchFamily="34" charset="-122"/>
                <a:cs typeface="Arial" pitchFamily="34" charset="-120"/>
              </a:rPr>
              <a:t>。</a:t>
            </a:r>
            <a:endParaRPr lang="en-US" sz="2475" dirty="0"/>
          </a:p>
        </p:txBody>
      </p:sp>
      <p:sp>
        <p:nvSpPr>
          <p:cNvPr id="6" name="Shape 4"/>
          <p:cNvSpPr/>
          <p:nvPr/>
        </p:nvSpPr>
        <p:spPr>
          <a:xfrm>
            <a:off x="841866" y="2794595"/>
            <a:ext cx="7159625" cy="6501805"/>
          </a:xfrm>
          <a:prstGeom prst="roundRect">
            <a:avLst>
              <a:gd name="adj" fmla="val 1758"/>
            </a:avLst>
          </a:prstGeom>
          <a:solidFill>
            <a:srgbClr val="FBF3F1"/>
          </a:solidFill>
          <a:ln w="6350">
            <a:solidFill>
              <a:srgbClr val="E6C9C0"/>
            </a:solidFill>
            <a:prstDash val="solid"/>
          </a:ln>
        </p:spPr>
      </p:sp>
      <p:sp>
        <p:nvSpPr>
          <p:cNvPr id="7" name="Text 5"/>
          <p:cNvSpPr/>
          <p:nvPr/>
        </p:nvSpPr>
        <p:spPr>
          <a:xfrm>
            <a:off x="1397000" y="4318298"/>
            <a:ext cx="7065328" cy="425450"/>
          </a:xfrm>
          <a:prstGeom prst="rect">
            <a:avLst/>
          </a:prstGeom>
          <a:noFill/>
          <a:ln/>
        </p:spPr>
        <p:txBody>
          <a:bodyPr wrap="square" lIns="25400" tIns="25400" rIns="25400" bIns="25400" rtlCol="0" anchor="t">
            <a:normAutofit/>
          </a:bodyPr>
          <a:lstStyle/>
          <a:p>
            <a:pPr marL="0" indent="0" algn="l">
              <a:buNone/>
            </a:pPr>
            <a:r>
              <a:rPr lang="en-US" sz="2100" b="1" dirty="0">
                <a:solidFill>
                  <a:srgbClr val="9A4A38"/>
                </a:solidFill>
                <a:latin typeface="Arial" pitchFamily="34" charset="0"/>
                <a:ea typeface="Arial" pitchFamily="34" charset="-122"/>
                <a:cs typeface="Arial" pitchFamily="34" charset="-120"/>
              </a:rPr>
              <a:t>形式的にはセーフハーバー超過</a:t>
            </a:r>
            <a:endParaRPr lang="en-US" sz="2100" dirty="0"/>
          </a:p>
        </p:txBody>
      </p:sp>
      <p:sp>
        <p:nvSpPr>
          <p:cNvPr id="8" name="Shape 6"/>
          <p:cNvSpPr/>
          <p:nvPr/>
        </p:nvSpPr>
        <p:spPr>
          <a:xfrm>
            <a:off x="1397000" y="4915198"/>
            <a:ext cx="6423025" cy="723900"/>
          </a:xfrm>
          <a:prstGeom prst="roundRect">
            <a:avLst>
              <a:gd name="adj" fmla="val 10526"/>
            </a:avLst>
          </a:prstGeom>
          <a:solidFill>
            <a:srgbClr val="FFFFFF"/>
          </a:solidFill>
          <a:ln w="6350">
            <a:solidFill>
              <a:srgbClr val="E6C9C0"/>
            </a:solidFill>
            <a:prstDash val="solid"/>
          </a:ln>
        </p:spPr>
      </p:sp>
      <p:sp>
        <p:nvSpPr>
          <p:cNvPr id="9" name="Text 7"/>
          <p:cNvSpPr/>
          <p:nvPr/>
        </p:nvSpPr>
        <p:spPr>
          <a:xfrm>
            <a:off x="1631950" y="5083473"/>
            <a:ext cx="1458992" cy="425450"/>
          </a:xfrm>
          <a:prstGeom prst="rect">
            <a:avLst/>
          </a:prstGeom>
          <a:noFill/>
          <a:ln/>
        </p:spPr>
        <p:txBody>
          <a:bodyPr wrap="square" lIns="25400" tIns="25400" rIns="25400" bIns="25400" rtlCol="0" anchor="t">
            <a:normAutofit/>
          </a:bodyPr>
          <a:lstStyle/>
          <a:p>
            <a:pPr marL="0" indent="0" algn="l">
              <a:buNone/>
            </a:pPr>
            <a:r>
              <a:rPr lang="en-US" sz="2100" dirty="0">
                <a:solidFill>
                  <a:srgbClr val="5A6470"/>
                </a:solidFill>
                <a:latin typeface="Arial" pitchFamily="34" charset="0"/>
                <a:ea typeface="Arial" pitchFamily="34" charset="-122"/>
                <a:cs typeface="Arial" pitchFamily="34" charset="-120"/>
              </a:rPr>
              <a:t>統合後 HHI</a:t>
            </a:r>
            <a:endParaRPr lang="en-US" sz="2100" dirty="0"/>
          </a:p>
        </p:txBody>
      </p:sp>
      <p:sp>
        <p:nvSpPr>
          <p:cNvPr id="10" name="Text 8"/>
          <p:cNvSpPr/>
          <p:nvPr/>
        </p:nvSpPr>
        <p:spPr>
          <a:xfrm>
            <a:off x="6499027" y="5073948"/>
            <a:ext cx="1162248" cy="444500"/>
          </a:xfrm>
          <a:prstGeom prst="rect">
            <a:avLst/>
          </a:prstGeom>
          <a:noFill/>
          <a:ln/>
        </p:spPr>
        <p:txBody>
          <a:bodyPr wrap="square" lIns="25400" tIns="25400" rIns="25400" bIns="25400" rtlCol="0" anchor="t">
            <a:normAutofit/>
          </a:bodyPr>
          <a:lstStyle/>
          <a:p>
            <a:pPr marL="0" indent="0" algn="l">
              <a:buNone/>
            </a:pPr>
            <a:r>
              <a:rPr lang="en-US" sz="2850" b="1" dirty="0">
                <a:solidFill>
                  <a:srgbClr val="9A4A38"/>
                </a:solidFill>
                <a:latin typeface="Courier New" pitchFamily="34" charset="0"/>
                <a:ea typeface="Courier New" pitchFamily="34" charset="-122"/>
                <a:cs typeface="Courier New" pitchFamily="34" charset="-120"/>
              </a:rPr>
              <a:t>1,582</a:t>
            </a:r>
            <a:endParaRPr lang="en-US" sz="2850" dirty="0"/>
          </a:p>
        </p:txBody>
      </p:sp>
      <p:sp>
        <p:nvSpPr>
          <p:cNvPr id="11" name="Shape 9"/>
          <p:cNvSpPr/>
          <p:nvPr/>
        </p:nvSpPr>
        <p:spPr>
          <a:xfrm>
            <a:off x="1397000" y="5772448"/>
            <a:ext cx="6423025" cy="723900"/>
          </a:xfrm>
          <a:prstGeom prst="roundRect">
            <a:avLst>
              <a:gd name="adj" fmla="val 10526"/>
            </a:avLst>
          </a:prstGeom>
          <a:solidFill>
            <a:srgbClr val="FFFFFF"/>
          </a:solidFill>
          <a:ln w="6350">
            <a:solidFill>
              <a:srgbClr val="E6C9C0"/>
            </a:solidFill>
            <a:prstDash val="solid"/>
          </a:ln>
        </p:spPr>
      </p:sp>
      <p:sp>
        <p:nvSpPr>
          <p:cNvPr id="12" name="Text 10"/>
          <p:cNvSpPr/>
          <p:nvPr/>
        </p:nvSpPr>
        <p:spPr>
          <a:xfrm>
            <a:off x="1631950" y="5940723"/>
            <a:ext cx="717649" cy="425450"/>
          </a:xfrm>
          <a:prstGeom prst="rect">
            <a:avLst/>
          </a:prstGeom>
          <a:noFill/>
          <a:ln/>
        </p:spPr>
        <p:txBody>
          <a:bodyPr wrap="square" lIns="25400" tIns="25400" rIns="25400" bIns="25400" rtlCol="0" anchor="t">
            <a:normAutofit/>
          </a:bodyPr>
          <a:lstStyle/>
          <a:p>
            <a:pPr marL="0" indent="0" algn="l">
              <a:buNone/>
            </a:pPr>
            <a:r>
              <a:rPr lang="en-US" sz="2100" dirty="0">
                <a:solidFill>
                  <a:srgbClr val="5A6470"/>
                </a:solidFill>
                <a:latin typeface="Arial" pitchFamily="34" charset="0"/>
                <a:ea typeface="Arial" pitchFamily="34" charset="-122"/>
                <a:cs typeface="Arial" pitchFamily="34" charset="-120"/>
              </a:rPr>
              <a:t>ΔHHI</a:t>
            </a:r>
            <a:endParaRPr lang="en-US" sz="2100" dirty="0"/>
          </a:p>
        </p:txBody>
      </p:sp>
      <p:sp>
        <p:nvSpPr>
          <p:cNvPr id="13" name="Text 11"/>
          <p:cNvSpPr/>
          <p:nvPr/>
        </p:nvSpPr>
        <p:spPr>
          <a:xfrm>
            <a:off x="6933406" y="5931198"/>
            <a:ext cx="727869" cy="444500"/>
          </a:xfrm>
          <a:prstGeom prst="rect">
            <a:avLst/>
          </a:prstGeom>
          <a:noFill/>
          <a:ln/>
        </p:spPr>
        <p:txBody>
          <a:bodyPr wrap="square" lIns="25400" tIns="25400" rIns="25400" bIns="25400" rtlCol="0" anchor="t">
            <a:normAutofit/>
          </a:bodyPr>
          <a:lstStyle/>
          <a:p>
            <a:pPr marL="0" indent="0" algn="l">
              <a:buNone/>
            </a:pPr>
            <a:r>
              <a:rPr lang="en-US" sz="2850" b="1" dirty="0">
                <a:solidFill>
                  <a:srgbClr val="9A4A38"/>
                </a:solidFill>
                <a:latin typeface="Courier New" pitchFamily="34" charset="0"/>
                <a:ea typeface="Courier New" pitchFamily="34" charset="-122"/>
                <a:cs typeface="Courier New" pitchFamily="34" charset="-120"/>
              </a:rPr>
              <a:t>306</a:t>
            </a:r>
            <a:endParaRPr lang="en-US" sz="2850" dirty="0"/>
          </a:p>
        </p:txBody>
      </p:sp>
      <p:sp>
        <p:nvSpPr>
          <p:cNvPr id="14" name="Shape 12"/>
          <p:cNvSpPr/>
          <p:nvPr/>
        </p:nvSpPr>
        <p:spPr>
          <a:xfrm>
            <a:off x="1397000" y="6629698"/>
            <a:ext cx="6423025" cy="723900"/>
          </a:xfrm>
          <a:prstGeom prst="roundRect">
            <a:avLst>
              <a:gd name="adj" fmla="val 10526"/>
            </a:avLst>
          </a:prstGeom>
          <a:solidFill>
            <a:srgbClr val="FFFFFF"/>
          </a:solidFill>
          <a:ln w="6350">
            <a:solidFill>
              <a:srgbClr val="E6C9C0"/>
            </a:solidFill>
            <a:prstDash val="solid"/>
          </a:ln>
        </p:spPr>
      </p:sp>
      <p:sp>
        <p:nvSpPr>
          <p:cNvPr id="15" name="Text 13"/>
          <p:cNvSpPr/>
          <p:nvPr/>
        </p:nvSpPr>
        <p:spPr>
          <a:xfrm>
            <a:off x="1631950" y="6797973"/>
            <a:ext cx="1466850" cy="425450"/>
          </a:xfrm>
          <a:prstGeom prst="rect">
            <a:avLst/>
          </a:prstGeom>
          <a:noFill/>
          <a:ln/>
        </p:spPr>
        <p:txBody>
          <a:bodyPr wrap="square" lIns="25400" tIns="25400" rIns="25400" bIns="25400" rtlCol="0" anchor="t">
            <a:normAutofit/>
          </a:bodyPr>
          <a:lstStyle/>
          <a:p>
            <a:pPr marL="0" indent="0" algn="l">
              <a:buNone/>
            </a:pPr>
            <a:r>
              <a:rPr lang="en-US" sz="2100" dirty="0">
                <a:solidFill>
                  <a:srgbClr val="5A6470"/>
                </a:solidFill>
                <a:latin typeface="Arial" pitchFamily="34" charset="0"/>
                <a:ea typeface="Arial" pitchFamily="34" charset="-122"/>
                <a:cs typeface="Arial" pitchFamily="34" charset="-120"/>
              </a:rPr>
              <a:t>合算シェア</a:t>
            </a:r>
            <a:endParaRPr lang="en-US" sz="2100" dirty="0"/>
          </a:p>
        </p:txBody>
      </p:sp>
      <p:sp>
        <p:nvSpPr>
          <p:cNvPr id="16" name="Text 14"/>
          <p:cNvSpPr/>
          <p:nvPr/>
        </p:nvSpPr>
        <p:spPr>
          <a:xfrm>
            <a:off x="6933406" y="6788448"/>
            <a:ext cx="727869" cy="444500"/>
          </a:xfrm>
          <a:prstGeom prst="rect">
            <a:avLst/>
          </a:prstGeom>
          <a:noFill/>
          <a:ln/>
        </p:spPr>
        <p:txBody>
          <a:bodyPr wrap="square" lIns="25400" tIns="25400" rIns="25400" bIns="25400" rtlCol="0" anchor="t">
            <a:normAutofit/>
          </a:bodyPr>
          <a:lstStyle/>
          <a:p>
            <a:pPr marL="0" indent="0" algn="l">
              <a:buNone/>
            </a:pPr>
            <a:r>
              <a:rPr lang="en-US" sz="2850" b="1" dirty="0">
                <a:solidFill>
                  <a:srgbClr val="9A4A38"/>
                </a:solidFill>
                <a:latin typeface="Courier New" pitchFamily="34" charset="0"/>
                <a:ea typeface="Courier New" pitchFamily="34" charset="-122"/>
                <a:cs typeface="Courier New" pitchFamily="34" charset="-120"/>
              </a:rPr>
              <a:t>25%</a:t>
            </a:r>
            <a:endParaRPr lang="en-US" sz="2850" dirty="0"/>
          </a:p>
        </p:txBody>
      </p:sp>
      <p:sp>
        <p:nvSpPr>
          <p:cNvPr id="17" name="Text 15"/>
          <p:cNvSpPr/>
          <p:nvPr/>
        </p:nvSpPr>
        <p:spPr>
          <a:xfrm>
            <a:off x="8569325" y="3603129"/>
            <a:ext cx="9558973" cy="425450"/>
          </a:xfrm>
          <a:prstGeom prst="rect">
            <a:avLst/>
          </a:prstGeom>
          <a:noFill/>
          <a:ln/>
        </p:spPr>
        <p:txBody>
          <a:bodyPr wrap="square" lIns="25400" tIns="25400" rIns="25400" bIns="25400" rtlCol="0" anchor="t">
            <a:normAutofit/>
          </a:bodyPr>
          <a:lstStyle/>
          <a:p>
            <a:pPr marL="0" indent="0" algn="l">
              <a:buNone/>
            </a:pPr>
            <a:r>
              <a:rPr lang="en-US" sz="2100" kern="0" spc="105" dirty="0">
                <a:solidFill>
                  <a:srgbClr val="3A4350"/>
                </a:solidFill>
                <a:latin typeface="Arial" pitchFamily="34" charset="0"/>
                <a:ea typeface="Arial" pitchFamily="34" charset="-122"/>
                <a:cs typeface="Arial" pitchFamily="34" charset="-120"/>
              </a:rPr>
              <a:t>しかし、実質的な弊害は乏しい</a:t>
            </a:r>
            <a:endParaRPr lang="en-US" sz="2100" dirty="0"/>
          </a:p>
        </p:txBody>
      </p:sp>
      <p:sp>
        <p:nvSpPr>
          <p:cNvPr id="18" name="Shape 16"/>
          <p:cNvSpPr/>
          <p:nvPr/>
        </p:nvSpPr>
        <p:spPr>
          <a:xfrm>
            <a:off x="8569325" y="4180979"/>
            <a:ext cx="8689975" cy="1323975"/>
          </a:xfrm>
          <a:prstGeom prst="roundRect">
            <a:avLst>
              <a:gd name="adj" fmla="val 7194"/>
            </a:avLst>
          </a:prstGeom>
          <a:solidFill>
            <a:srgbClr val="FFFFFF"/>
          </a:solidFill>
          <a:ln w="6350">
            <a:solidFill>
              <a:srgbClr val="E0DCD2"/>
            </a:solidFill>
            <a:prstDash val="solid"/>
          </a:ln>
        </p:spPr>
      </p:sp>
      <p:sp>
        <p:nvSpPr>
          <p:cNvPr id="19" name="Text 17"/>
          <p:cNvSpPr/>
          <p:nvPr/>
        </p:nvSpPr>
        <p:spPr>
          <a:xfrm>
            <a:off x="8842375" y="4415929"/>
            <a:ext cx="342900" cy="387350"/>
          </a:xfrm>
          <a:prstGeom prst="rect">
            <a:avLst/>
          </a:prstGeom>
          <a:noFill/>
          <a:ln/>
        </p:spPr>
        <p:txBody>
          <a:bodyPr wrap="square" lIns="25400" tIns="25400" rIns="25400" bIns="25400" rtlCol="0" anchor="t">
            <a:normAutofit/>
          </a:bodyPr>
          <a:lstStyle/>
          <a:p>
            <a:pPr marL="0" indent="0" algn="l">
              <a:buNone/>
            </a:pPr>
            <a:r>
              <a:rPr lang="en-US" sz="2100" dirty="0">
                <a:solidFill>
                  <a:srgbClr val="9A4A38"/>
                </a:solidFill>
                <a:latin typeface="Courier New" pitchFamily="34" charset="0"/>
                <a:ea typeface="Courier New" pitchFamily="34" charset="-122"/>
                <a:cs typeface="Courier New" pitchFamily="34" charset="-120"/>
              </a:rPr>
              <a:t>①</a:t>
            </a:r>
            <a:endParaRPr lang="en-US" sz="2100" dirty="0"/>
          </a:p>
        </p:txBody>
      </p:sp>
      <p:sp>
        <p:nvSpPr>
          <p:cNvPr id="20" name="Text 18"/>
          <p:cNvSpPr/>
          <p:nvPr/>
        </p:nvSpPr>
        <p:spPr>
          <a:xfrm>
            <a:off x="9261475" y="4415929"/>
            <a:ext cx="7956518" cy="892175"/>
          </a:xfrm>
          <a:prstGeom prst="rect">
            <a:avLst/>
          </a:prstGeom>
          <a:noFill/>
          <a:ln/>
        </p:spPr>
        <p:txBody>
          <a:bodyPr wrap="square" lIns="25400" tIns="25400" rIns="25400" bIns="25400" rtlCol="0" anchor="t">
            <a:normAutofit/>
          </a:bodyPr>
          <a:lstStyle/>
          <a:p>
            <a:pPr marL="0" indent="0" algn="l">
              <a:lnSpc>
                <a:spcPct val="150000"/>
              </a:lnSpc>
              <a:buNone/>
            </a:pPr>
            <a:r>
              <a:rPr lang="en-US" sz="2175" dirty="0">
                <a:solidFill>
                  <a:srgbClr val="2C333C"/>
                </a:solidFill>
                <a:latin typeface="Arial" pitchFamily="34" charset="0"/>
                <a:ea typeface="Arial" pitchFamily="34" charset="-122"/>
                <a:cs typeface="Arial" pitchFamily="34" charset="-120"/>
              </a:rPr>
              <a:t>イオン系の食品供給は</a:t>
            </a:r>
            <a:r>
              <a:rPr lang="en-US" sz="2175" b="1" dirty="0">
                <a:solidFill>
                  <a:srgbClr val="2C333C"/>
                </a:solidFill>
                <a:latin typeface="Arial" pitchFamily="34" charset="0"/>
                <a:ea typeface="Arial" pitchFamily="34" charset="-122"/>
                <a:cs typeface="Arial" pitchFamily="34" charset="-120"/>
              </a:rPr>
              <a:t>コンビニ（ミニストップ）に限られ </a:t>
            </a:r>
            <a:r>
              <a:rPr lang="en-US" sz="2175" dirty="0">
                <a:solidFill>
                  <a:srgbClr val="2C333C"/>
                </a:solidFill>
                <a:latin typeface="Arial" pitchFamily="34" charset="0"/>
                <a:ea typeface="Arial" pitchFamily="34" charset="-122"/>
                <a:cs typeface="Arial" pitchFamily="34" charset="-120"/>
              </a:rPr>
              <a:t>、スーパーとの代替性は弱い。</a:t>
            </a:r>
            <a:endParaRPr lang="en-US" sz="2175" dirty="0"/>
          </a:p>
        </p:txBody>
      </p:sp>
      <p:sp>
        <p:nvSpPr>
          <p:cNvPr id="21" name="Shape 19"/>
          <p:cNvSpPr/>
          <p:nvPr/>
        </p:nvSpPr>
        <p:spPr>
          <a:xfrm>
            <a:off x="8569325" y="5695454"/>
            <a:ext cx="8689975" cy="909638"/>
          </a:xfrm>
          <a:prstGeom prst="roundRect">
            <a:avLst>
              <a:gd name="adj" fmla="val 10471"/>
            </a:avLst>
          </a:prstGeom>
          <a:solidFill>
            <a:srgbClr val="FFFFFF"/>
          </a:solidFill>
          <a:ln w="6350">
            <a:solidFill>
              <a:srgbClr val="E0DCD2"/>
            </a:solidFill>
            <a:prstDash val="solid"/>
          </a:ln>
        </p:spPr>
      </p:sp>
      <p:sp>
        <p:nvSpPr>
          <p:cNvPr id="22" name="Text 20"/>
          <p:cNvSpPr/>
          <p:nvPr/>
        </p:nvSpPr>
        <p:spPr>
          <a:xfrm>
            <a:off x="8842375" y="5930404"/>
            <a:ext cx="342900" cy="387350"/>
          </a:xfrm>
          <a:prstGeom prst="rect">
            <a:avLst/>
          </a:prstGeom>
          <a:noFill/>
          <a:ln/>
        </p:spPr>
        <p:txBody>
          <a:bodyPr wrap="square" lIns="25400" tIns="25400" rIns="25400" bIns="25400" rtlCol="0" anchor="t">
            <a:normAutofit/>
          </a:bodyPr>
          <a:lstStyle/>
          <a:p>
            <a:pPr marL="0" indent="0" algn="l">
              <a:buNone/>
            </a:pPr>
            <a:r>
              <a:rPr lang="en-US" sz="2100" dirty="0">
                <a:solidFill>
                  <a:srgbClr val="9A4A38"/>
                </a:solidFill>
                <a:latin typeface="Courier New" pitchFamily="34" charset="0"/>
                <a:ea typeface="Courier New" pitchFamily="34" charset="-122"/>
                <a:cs typeface="Courier New" pitchFamily="34" charset="-120"/>
              </a:rPr>
              <a:t>②</a:t>
            </a:r>
            <a:endParaRPr lang="en-US" sz="2100" dirty="0"/>
          </a:p>
        </p:txBody>
      </p:sp>
      <p:sp>
        <p:nvSpPr>
          <p:cNvPr id="23" name="Text 21"/>
          <p:cNvSpPr/>
          <p:nvPr/>
        </p:nvSpPr>
        <p:spPr>
          <a:xfrm>
            <a:off x="9261475" y="5930404"/>
            <a:ext cx="6681698" cy="477838"/>
          </a:xfrm>
          <a:prstGeom prst="rect">
            <a:avLst/>
          </a:prstGeom>
          <a:noFill/>
          <a:ln/>
        </p:spPr>
        <p:txBody>
          <a:bodyPr wrap="square" lIns="25400" tIns="25400" rIns="25400" bIns="25400" rtlCol="0" anchor="t">
            <a:normAutofit/>
          </a:bodyPr>
          <a:lstStyle/>
          <a:p>
            <a:pPr marL="0" indent="0" algn="l">
              <a:lnSpc>
                <a:spcPct val="150000"/>
              </a:lnSpc>
              <a:buNone/>
            </a:pPr>
            <a:r>
              <a:rPr lang="en-US" sz="2175" b="1" dirty="0">
                <a:solidFill>
                  <a:srgbClr val="2C333C"/>
                </a:solidFill>
                <a:latin typeface="Arial" pitchFamily="34" charset="0"/>
                <a:ea typeface="Arial" pitchFamily="34" charset="-122"/>
                <a:cs typeface="Arial" pitchFamily="34" charset="-120"/>
              </a:rPr>
              <a:t>商圏外スーパー</a:t>
            </a:r>
            <a:r>
              <a:rPr lang="en-US" sz="2175" dirty="0">
                <a:solidFill>
                  <a:srgbClr val="2C333C"/>
                </a:solidFill>
                <a:latin typeface="Arial" pitchFamily="34" charset="0"/>
                <a:ea typeface="Arial" pitchFamily="34" charset="-122"/>
                <a:cs typeface="Arial" pitchFamily="34" charset="-120"/>
              </a:rPr>
              <a:t>・</a:t>
            </a:r>
            <a:r>
              <a:rPr lang="en-US" sz="2175" b="1" dirty="0">
                <a:solidFill>
                  <a:srgbClr val="2C333C"/>
                </a:solidFill>
                <a:latin typeface="Arial" pitchFamily="34" charset="0"/>
                <a:ea typeface="Arial" pitchFamily="34" charset="-122"/>
                <a:cs typeface="Arial" pitchFamily="34" charset="-120"/>
              </a:rPr>
              <a:t>ネット通販</a:t>
            </a:r>
            <a:r>
              <a:rPr lang="en-US" sz="2175" dirty="0">
                <a:solidFill>
                  <a:srgbClr val="2C333C"/>
                </a:solidFill>
                <a:latin typeface="Arial" pitchFamily="34" charset="0"/>
                <a:ea typeface="Arial" pitchFamily="34" charset="-122"/>
                <a:cs typeface="Arial" pitchFamily="34" charset="-120"/>
              </a:rPr>
              <a:t>の競争圧力も働く。</a:t>
            </a:r>
            <a:endParaRPr lang="en-US" sz="2175" dirty="0"/>
          </a:p>
        </p:txBody>
      </p:sp>
      <p:sp>
        <p:nvSpPr>
          <p:cNvPr id="24" name="Shape 22"/>
          <p:cNvSpPr/>
          <p:nvPr/>
        </p:nvSpPr>
        <p:spPr>
          <a:xfrm>
            <a:off x="8569325" y="6795592"/>
            <a:ext cx="8689975" cy="1273175"/>
          </a:xfrm>
          <a:prstGeom prst="rect">
            <a:avLst/>
          </a:prstGeom>
          <a:solidFill>
            <a:srgbClr val="F1E7E3"/>
          </a:solidFill>
          <a:ln/>
        </p:spPr>
      </p:sp>
      <p:sp>
        <p:nvSpPr>
          <p:cNvPr id="25" name="Shape 23"/>
          <p:cNvSpPr/>
          <p:nvPr/>
        </p:nvSpPr>
        <p:spPr>
          <a:xfrm>
            <a:off x="8569325" y="6795592"/>
            <a:ext cx="44450" cy="1273175"/>
          </a:xfrm>
          <a:prstGeom prst="rect">
            <a:avLst/>
          </a:prstGeom>
          <a:solidFill>
            <a:srgbClr val="9A4A38"/>
          </a:solidFill>
          <a:ln/>
        </p:spPr>
      </p:sp>
      <p:sp>
        <p:nvSpPr>
          <p:cNvPr id="26" name="Text 24"/>
          <p:cNvSpPr/>
          <p:nvPr/>
        </p:nvSpPr>
        <p:spPr>
          <a:xfrm>
            <a:off x="8899525" y="7005142"/>
            <a:ext cx="8334725" cy="892175"/>
          </a:xfrm>
          <a:prstGeom prst="rect">
            <a:avLst/>
          </a:prstGeom>
          <a:noFill/>
          <a:ln/>
        </p:spPr>
        <p:txBody>
          <a:bodyPr wrap="square" lIns="25400" tIns="25400" rIns="25400" bIns="25400" rtlCol="0" anchor="t">
            <a:normAutofit/>
          </a:bodyPr>
          <a:lstStyle/>
          <a:p>
            <a:pPr marL="0" indent="0" algn="l">
              <a:lnSpc>
                <a:spcPct val="150000"/>
              </a:lnSpc>
              <a:buNone/>
            </a:pPr>
            <a:r>
              <a:rPr lang="en-US" sz="2175" dirty="0">
                <a:solidFill>
                  <a:srgbClr val="3A2F2B"/>
                </a:solidFill>
                <a:highlight>
                  <a:srgbClr val="F1E7E3"/>
                </a:highlight>
                <a:latin typeface="Arial" pitchFamily="34" charset="0"/>
                <a:ea typeface="Arial" pitchFamily="34" charset="-122"/>
                <a:cs typeface="Arial" pitchFamily="34" charset="-120"/>
              </a:rPr>
              <a:t>仮説は</a:t>
            </a:r>
            <a:r>
              <a:rPr lang="en-US" sz="2175" b="1" dirty="0">
                <a:solidFill>
                  <a:srgbClr val="9A4A38"/>
                </a:solidFill>
                <a:latin typeface="Arial" pitchFamily="34" charset="0"/>
                <a:ea typeface="Arial" pitchFamily="34" charset="-122"/>
                <a:cs typeface="Arial" pitchFamily="34" charset="-120"/>
              </a:rPr>
              <a:t>反証 </a:t>
            </a:r>
            <a:r>
              <a:rPr lang="en-US" sz="2175" dirty="0">
                <a:solidFill>
                  <a:srgbClr val="3A2F2B"/>
                </a:solidFill>
                <a:highlight>
                  <a:srgbClr val="F1E7E3"/>
                </a:highlight>
                <a:latin typeface="Arial" pitchFamily="34" charset="0"/>
                <a:ea typeface="Arial" pitchFamily="34" charset="-122"/>
                <a:cs typeface="Arial" pitchFamily="34" charset="-120"/>
              </a:rPr>
              <a:t>され、かえって公取委のドラッグストア市場画定の妥当性を裏づけた。</a:t>
            </a:r>
            <a:endParaRPr lang="en-US" sz="2175" dirty="0"/>
          </a:p>
        </p:txBody>
      </p:sp>
      <p:sp>
        <p:nvSpPr>
          <p:cNvPr id="27" name="Shape 25"/>
          <p:cNvSpPr/>
          <p:nvPr/>
        </p:nvSpPr>
        <p:spPr>
          <a:xfrm>
            <a:off x="1028700" y="9296400"/>
            <a:ext cx="16230600" cy="9525"/>
          </a:xfrm>
          <a:prstGeom prst="rect">
            <a:avLst/>
          </a:prstGeom>
          <a:solidFill>
            <a:srgbClr val="E4E0D7"/>
          </a:solidFill>
          <a:ln/>
        </p:spPr>
      </p:sp>
      <p:sp>
        <p:nvSpPr>
          <p:cNvPr id="28" name="Text 26"/>
          <p:cNvSpPr/>
          <p:nvPr/>
        </p:nvSpPr>
        <p:spPr>
          <a:xfrm>
            <a:off x="1028700" y="9455150"/>
            <a:ext cx="8860145" cy="393700"/>
          </a:xfrm>
          <a:prstGeom prst="rect">
            <a:avLst/>
          </a:prstGeom>
          <a:noFill/>
          <a:ln/>
        </p:spPr>
        <p:txBody>
          <a:bodyPr wrap="square" lIns="25400" tIns="25400" rIns="25400" bIns="25400" rtlCol="0" anchor="t">
            <a:normAutofit/>
          </a:bodyPr>
          <a:lstStyle/>
          <a:p>
            <a:pPr marL="0" indent="0" algn="l">
              <a:buNone/>
            </a:pPr>
            <a:r>
              <a:rPr lang="en-US" sz="1950" dirty="0">
                <a:solidFill>
                  <a:srgbClr val="97928A"/>
                </a:solidFill>
                <a:latin typeface="Arial" pitchFamily="34" charset="0"/>
                <a:ea typeface="Arial" pitchFamily="34" charset="-122"/>
                <a:cs typeface="Arial" pitchFamily="34" charset="-120"/>
              </a:rPr>
              <a:t>出典：自作分析（Google Places API・7県）／HHIは店舗数ベースの近似</a:t>
            </a:r>
            <a:endParaRPr lang="en-US" sz="1950" dirty="0"/>
          </a:p>
        </p:txBody>
      </p:sp>
      <p:sp>
        <p:nvSpPr>
          <p:cNvPr id="29" name="Text 27"/>
          <p:cNvSpPr/>
          <p:nvPr/>
        </p:nvSpPr>
        <p:spPr>
          <a:xfrm>
            <a:off x="16115109" y="9471025"/>
            <a:ext cx="1220391" cy="361950"/>
          </a:xfrm>
          <a:prstGeom prst="rect">
            <a:avLst/>
          </a:prstGeom>
          <a:noFill/>
          <a:ln/>
        </p:spPr>
        <p:txBody>
          <a:bodyPr wrap="square" lIns="25400" tIns="25400" rIns="25400" bIns="25400" rtlCol="0" anchor="t">
            <a:normAutofit/>
          </a:bodyPr>
          <a:lstStyle/>
          <a:p>
            <a:pPr marL="0" indent="0" algn="l">
              <a:buNone/>
            </a:pPr>
            <a:r>
              <a:rPr lang="en-US" sz="1950" kern="0" spc="117" dirty="0">
                <a:solidFill>
                  <a:srgbClr val="97928A"/>
                </a:solidFill>
                <a:latin typeface="Courier New" pitchFamily="34" charset="0"/>
                <a:ea typeface="Courier New" pitchFamily="34" charset="-122"/>
                <a:cs typeface="Courier New" pitchFamily="34" charset="-120"/>
              </a:rPr>
              <a:t>23 / 27</a:t>
            </a:r>
            <a:endParaRPr lang="en-US" sz="1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6F2"/>
        </a:solidFill>
        <a:effectLst/>
      </p:bgPr>
    </p:bg>
    <p:spTree>
      <p:nvGrpSpPr>
        <p:cNvPr id="1" name=""/>
        <p:cNvGrpSpPr/>
        <p:nvPr/>
      </p:nvGrpSpPr>
      <p:grpSpPr>
        <a:xfrm>
          <a:off x="0" y="0"/>
          <a:ext cx="0" cy="0"/>
          <a:chOff x="0" y="0"/>
          <a:chExt cx="0" cy="0"/>
        </a:xfrm>
      </p:grpSpPr>
      <p:sp>
        <p:nvSpPr>
          <p:cNvPr id="2" name="Shape 0"/>
          <p:cNvSpPr/>
          <p:nvPr/>
        </p:nvSpPr>
        <p:spPr>
          <a:xfrm>
            <a:off x="1028700" y="801688"/>
            <a:ext cx="304800" cy="28575"/>
          </a:xfrm>
          <a:prstGeom prst="rect">
            <a:avLst/>
          </a:prstGeom>
          <a:solidFill>
            <a:srgbClr val="9A4A38"/>
          </a:solidFill>
          <a:ln/>
        </p:spPr>
      </p:sp>
      <p:sp>
        <p:nvSpPr>
          <p:cNvPr id="3" name="Text 1"/>
          <p:cNvSpPr/>
          <p:nvPr/>
        </p:nvSpPr>
        <p:spPr>
          <a:xfrm>
            <a:off x="1466850" y="628650"/>
            <a:ext cx="642045" cy="412750"/>
          </a:xfrm>
          <a:prstGeom prst="rect">
            <a:avLst/>
          </a:prstGeom>
          <a:noFill/>
          <a:ln/>
        </p:spPr>
        <p:txBody>
          <a:bodyPr wrap="square" lIns="25400" tIns="25400" rIns="25400" bIns="25400" rtlCol="0" anchor="t">
            <a:normAutofit/>
          </a:bodyPr>
          <a:lstStyle/>
          <a:p>
            <a:pPr marL="0" indent="0" algn="l">
              <a:buNone/>
            </a:pPr>
            <a:r>
              <a:rPr lang="en-US" sz="2025" kern="0" spc="203" dirty="0">
                <a:solidFill>
                  <a:srgbClr val="5A6470"/>
                </a:solidFill>
                <a:latin typeface="Arial" pitchFamily="34" charset="0"/>
                <a:ea typeface="Arial" pitchFamily="34" charset="-122"/>
                <a:cs typeface="Arial" pitchFamily="34" charset="-120"/>
              </a:rPr>
              <a:t>結論</a:t>
            </a:r>
            <a:endParaRPr lang="en-US" sz="2025" dirty="0"/>
          </a:p>
        </p:txBody>
      </p:sp>
      <p:sp>
        <p:nvSpPr>
          <p:cNvPr id="4" name="Text 2"/>
          <p:cNvSpPr/>
          <p:nvPr/>
        </p:nvSpPr>
        <p:spPr>
          <a:xfrm>
            <a:off x="1028700" y="1174750"/>
            <a:ext cx="17853660" cy="624384"/>
          </a:xfrm>
          <a:prstGeom prst="rect">
            <a:avLst/>
          </a:prstGeom>
          <a:noFill/>
          <a:ln/>
        </p:spPr>
        <p:txBody>
          <a:bodyPr wrap="square" lIns="25400" tIns="25400" rIns="25400" bIns="25400" rtlCol="0" anchor="t">
            <a:normAutofit/>
          </a:bodyPr>
          <a:lstStyle/>
          <a:p>
            <a:pPr marL="0" indent="0" algn="l">
              <a:lnSpc>
                <a:spcPct val="114000"/>
              </a:lnSpc>
              <a:buNone/>
            </a:pPr>
            <a:r>
              <a:rPr lang="en-US" sz="4050" b="1" dirty="0">
                <a:solidFill>
                  <a:srgbClr val="1F2730"/>
                </a:solidFill>
                <a:latin typeface="Arial" pitchFamily="34" charset="0"/>
                <a:ea typeface="Arial" pitchFamily="34" charset="-122"/>
                <a:cs typeface="Arial" pitchFamily="34" charset="-120"/>
              </a:rPr>
              <a:t>結論 ― 三つの到達点</a:t>
            </a:r>
            <a:endParaRPr lang="en-US" sz="4050" dirty="0"/>
          </a:p>
        </p:txBody>
      </p:sp>
      <p:sp>
        <p:nvSpPr>
          <p:cNvPr id="5" name="Shape 3"/>
          <p:cNvSpPr/>
          <p:nvPr/>
        </p:nvSpPr>
        <p:spPr>
          <a:xfrm>
            <a:off x="1028700" y="3278386"/>
            <a:ext cx="16230600" cy="1052513"/>
          </a:xfrm>
          <a:prstGeom prst="roundRect">
            <a:avLst>
              <a:gd name="adj" fmla="val 9050"/>
            </a:avLst>
          </a:prstGeom>
          <a:solidFill>
            <a:srgbClr val="FFFFFF"/>
          </a:solidFill>
          <a:ln w="6350">
            <a:solidFill>
              <a:srgbClr val="E0DCD2"/>
            </a:solidFill>
            <a:prstDash val="solid"/>
          </a:ln>
        </p:spPr>
      </p:sp>
      <p:sp>
        <p:nvSpPr>
          <p:cNvPr id="6" name="Text 4"/>
          <p:cNvSpPr/>
          <p:nvPr/>
        </p:nvSpPr>
        <p:spPr>
          <a:xfrm>
            <a:off x="1377950" y="3570486"/>
            <a:ext cx="533499" cy="419100"/>
          </a:xfrm>
          <a:prstGeom prst="rect">
            <a:avLst/>
          </a:prstGeom>
          <a:noFill/>
          <a:ln/>
        </p:spPr>
        <p:txBody>
          <a:bodyPr wrap="square" lIns="25400" tIns="25400" rIns="25400" bIns="25400" rtlCol="0" anchor="t">
            <a:normAutofit/>
          </a:bodyPr>
          <a:lstStyle/>
          <a:p>
            <a:pPr marL="0" indent="0" algn="l">
              <a:lnSpc>
                <a:spcPct val="100000"/>
              </a:lnSpc>
              <a:buNone/>
            </a:pPr>
            <a:r>
              <a:rPr lang="en-US" sz="3000" b="1" dirty="0">
                <a:solidFill>
                  <a:srgbClr val="9A4A38"/>
                </a:solidFill>
                <a:latin typeface="Courier New" pitchFamily="34" charset="0"/>
                <a:ea typeface="Courier New" pitchFamily="34" charset="-122"/>
                <a:cs typeface="Courier New" pitchFamily="34" charset="-120"/>
              </a:rPr>
              <a:t>01</a:t>
            </a:r>
            <a:endParaRPr lang="en-US" sz="3000" dirty="0"/>
          </a:p>
        </p:txBody>
      </p:sp>
      <p:sp>
        <p:nvSpPr>
          <p:cNvPr id="7" name="Text 5"/>
          <p:cNvSpPr/>
          <p:nvPr/>
        </p:nvSpPr>
        <p:spPr>
          <a:xfrm>
            <a:off x="2063849" y="3570486"/>
            <a:ext cx="14717148" cy="506413"/>
          </a:xfrm>
          <a:prstGeom prst="rect">
            <a:avLst/>
          </a:prstGeom>
          <a:noFill/>
          <a:ln/>
        </p:spPr>
        <p:txBody>
          <a:bodyPr wrap="square" lIns="25400" tIns="25400" rIns="25400" bIns="25400" rtlCol="0" anchor="t">
            <a:normAutofit/>
          </a:bodyPr>
          <a:lstStyle/>
          <a:p>
            <a:pPr marL="0" indent="0" algn="l">
              <a:lnSpc>
                <a:spcPct val="155000"/>
              </a:lnSpc>
              <a:buNone/>
            </a:pPr>
            <a:r>
              <a:rPr lang="en-US" sz="2250" b="1" dirty="0">
                <a:solidFill>
                  <a:srgbClr val="2C333C"/>
                </a:solidFill>
                <a:latin typeface="Arial" pitchFamily="34" charset="0"/>
                <a:ea typeface="Arial" pitchFamily="34" charset="-122"/>
                <a:cs typeface="Arial" pitchFamily="34" charset="-120"/>
              </a:rPr>
              <a:t>再現により、公取委の手法と当てはめを内側から理解できた。</a:t>
            </a:r>
            <a:r>
              <a:rPr lang="en-US" sz="2250" dirty="0">
                <a:solidFill>
                  <a:srgbClr val="2C333C"/>
                </a:solidFill>
                <a:latin typeface="Arial" pitchFamily="34" charset="0"/>
                <a:ea typeface="Arial" pitchFamily="34" charset="-122"/>
                <a:cs typeface="Arial" pitchFamily="34" charset="-120"/>
              </a:rPr>
              <a:t>地理的画定と経済分析の双方を R で追体験した。</a:t>
            </a:r>
            <a:endParaRPr lang="en-US" sz="2250" dirty="0"/>
          </a:p>
        </p:txBody>
      </p:sp>
      <p:sp>
        <p:nvSpPr>
          <p:cNvPr id="8" name="Shape 6"/>
          <p:cNvSpPr/>
          <p:nvPr/>
        </p:nvSpPr>
        <p:spPr>
          <a:xfrm>
            <a:off x="1028700" y="4540448"/>
            <a:ext cx="16230600" cy="1495425"/>
          </a:xfrm>
          <a:prstGeom prst="roundRect">
            <a:avLst>
              <a:gd name="adj" fmla="val 6369"/>
            </a:avLst>
          </a:prstGeom>
          <a:solidFill>
            <a:srgbClr val="FFFFFF"/>
          </a:solidFill>
          <a:ln w="6350">
            <a:solidFill>
              <a:srgbClr val="E0DCD2"/>
            </a:solidFill>
            <a:prstDash val="solid"/>
          </a:ln>
        </p:spPr>
      </p:sp>
      <p:sp>
        <p:nvSpPr>
          <p:cNvPr id="9" name="Text 7"/>
          <p:cNvSpPr/>
          <p:nvPr/>
        </p:nvSpPr>
        <p:spPr>
          <a:xfrm>
            <a:off x="1377950" y="4832549"/>
            <a:ext cx="533499" cy="419100"/>
          </a:xfrm>
          <a:prstGeom prst="rect">
            <a:avLst/>
          </a:prstGeom>
          <a:noFill/>
          <a:ln/>
        </p:spPr>
        <p:txBody>
          <a:bodyPr wrap="square" lIns="25400" tIns="25400" rIns="25400" bIns="25400" rtlCol="0" anchor="t">
            <a:normAutofit/>
          </a:bodyPr>
          <a:lstStyle/>
          <a:p>
            <a:pPr marL="0" indent="0" algn="l">
              <a:lnSpc>
                <a:spcPct val="100000"/>
              </a:lnSpc>
              <a:buNone/>
            </a:pPr>
            <a:r>
              <a:rPr lang="en-US" sz="3000" b="1" dirty="0">
                <a:solidFill>
                  <a:srgbClr val="9A4A38"/>
                </a:solidFill>
                <a:latin typeface="Courier New" pitchFamily="34" charset="0"/>
                <a:ea typeface="Courier New" pitchFamily="34" charset="-122"/>
                <a:cs typeface="Courier New" pitchFamily="34" charset="-120"/>
              </a:rPr>
              <a:t>02</a:t>
            </a:r>
            <a:endParaRPr lang="en-US" sz="3000" dirty="0"/>
          </a:p>
        </p:txBody>
      </p:sp>
      <p:sp>
        <p:nvSpPr>
          <p:cNvPr id="10" name="Text 8"/>
          <p:cNvSpPr/>
          <p:nvPr/>
        </p:nvSpPr>
        <p:spPr>
          <a:xfrm>
            <a:off x="2063849" y="4832549"/>
            <a:ext cx="15291587" cy="949325"/>
          </a:xfrm>
          <a:prstGeom prst="rect">
            <a:avLst/>
          </a:prstGeom>
          <a:noFill/>
          <a:ln/>
        </p:spPr>
        <p:txBody>
          <a:bodyPr wrap="square" lIns="25400" tIns="25400" rIns="25400" bIns="25400" rtlCol="0" anchor="t">
            <a:normAutofit/>
          </a:bodyPr>
          <a:lstStyle/>
          <a:p>
            <a:pPr marL="0" indent="0" algn="l">
              <a:lnSpc>
                <a:spcPct val="155000"/>
              </a:lnSpc>
              <a:buNone/>
            </a:pPr>
            <a:r>
              <a:rPr lang="en-US" sz="2250" b="1" dirty="0">
                <a:solidFill>
                  <a:srgbClr val="2C333C"/>
                </a:solidFill>
                <a:latin typeface="Arial" pitchFamily="34" charset="0"/>
                <a:ea typeface="Arial" pitchFamily="34" charset="-122"/>
                <a:cs typeface="Arial" pitchFamily="34" charset="-120"/>
              </a:rPr>
              <a:t>機械的スクリーニングは個別審査を代替しない。 </a:t>
            </a:r>
            <a:r>
              <a:rPr lang="en-US" sz="2250" dirty="0">
                <a:solidFill>
                  <a:srgbClr val="2C333C"/>
                </a:solidFill>
                <a:latin typeface="Arial" pitchFamily="34" charset="0"/>
                <a:ea typeface="Arial" pitchFamily="34" charset="-122"/>
                <a:cs typeface="Arial" pitchFamily="34" charset="-120"/>
              </a:rPr>
              <a:t>最終10商圏との差が、データの完全性・個別審査の必要性・措置実行の時間差を実証した。</a:t>
            </a:r>
            <a:endParaRPr lang="en-US" sz="2250" dirty="0"/>
          </a:p>
        </p:txBody>
      </p:sp>
      <p:sp>
        <p:nvSpPr>
          <p:cNvPr id="11" name="Shape 9"/>
          <p:cNvSpPr/>
          <p:nvPr/>
        </p:nvSpPr>
        <p:spPr>
          <a:xfrm>
            <a:off x="1028700" y="6245423"/>
            <a:ext cx="16230600" cy="1495425"/>
          </a:xfrm>
          <a:prstGeom prst="roundRect">
            <a:avLst>
              <a:gd name="adj" fmla="val 6369"/>
            </a:avLst>
          </a:prstGeom>
          <a:solidFill>
            <a:srgbClr val="FFFFFF"/>
          </a:solidFill>
          <a:ln w="6350">
            <a:solidFill>
              <a:srgbClr val="E0DCD2"/>
            </a:solidFill>
            <a:prstDash val="solid"/>
          </a:ln>
        </p:spPr>
      </p:sp>
      <p:sp>
        <p:nvSpPr>
          <p:cNvPr id="12" name="Text 10"/>
          <p:cNvSpPr/>
          <p:nvPr/>
        </p:nvSpPr>
        <p:spPr>
          <a:xfrm>
            <a:off x="1377950" y="6537524"/>
            <a:ext cx="533499" cy="419100"/>
          </a:xfrm>
          <a:prstGeom prst="rect">
            <a:avLst/>
          </a:prstGeom>
          <a:noFill/>
          <a:ln/>
        </p:spPr>
        <p:txBody>
          <a:bodyPr wrap="square" lIns="25400" tIns="25400" rIns="25400" bIns="25400" rtlCol="0" anchor="t">
            <a:normAutofit/>
          </a:bodyPr>
          <a:lstStyle/>
          <a:p>
            <a:pPr marL="0" indent="0" algn="l">
              <a:lnSpc>
                <a:spcPct val="100000"/>
              </a:lnSpc>
              <a:buNone/>
            </a:pPr>
            <a:r>
              <a:rPr lang="en-US" sz="3000" b="1" dirty="0">
                <a:solidFill>
                  <a:srgbClr val="9A4A38"/>
                </a:solidFill>
                <a:latin typeface="Courier New" pitchFamily="34" charset="0"/>
                <a:ea typeface="Courier New" pitchFamily="34" charset="-122"/>
                <a:cs typeface="Courier New" pitchFamily="34" charset="-120"/>
              </a:rPr>
              <a:t>03</a:t>
            </a:r>
            <a:endParaRPr lang="en-US" sz="3000" dirty="0"/>
          </a:p>
        </p:txBody>
      </p:sp>
      <p:sp>
        <p:nvSpPr>
          <p:cNvPr id="13" name="Text 11"/>
          <p:cNvSpPr/>
          <p:nvPr/>
        </p:nvSpPr>
        <p:spPr>
          <a:xfrm>
            <a:off x="2063849" y="6537524"/>
            <a:ext cx="15291587" cy="949325"/>
          </a:xfrm>
          <a:prstGeom prst="rect">
            <a:avLst/>
          </a:prstGeom>
          <a:noFill/>
          <a:ln/>
        </p:spPr>
        <p:txBody>
          <a:bodyPr wrap="square" lIns="25400" tIns="25400" rIns="25400" bIns="25400" rtlCol="0" anchor="t">
            <a:normAutofit/>
          </a:bodyPr>
          <a:lstStyle/>
          <a:p>
            <a:pPr marL="0" indent="0" algn="l">
              <a:lnSpc>
                <a:spcPct val="155000"/>
              </a:lnSpc>
              <a:buNone/>
            </a:pPr>
            <a:r>
              <a:rPr lang="en-US" sz="2250" b="1" dirty="0">
                <a:solidFill>
                  <a:srgbClr val="2C333C"/>
                </a:solidFill>
                <a:latin typeface="Arial" pitchFamily="34" charset="0"/>
                <a:ea typeface="Arial" pitchFamily="34" charset="-122"/>
                <a:cs typeface="Arial" pitchFamily="34" charset="-120"/>
              </a:rPr>
              <a:t>食品小売からの再検討は反証された。 </a:t>
            </a:r>
            <a:r>
              <a:rPr lang="en-US" sz="2250" dirty="0">
                <a:solidFill>
                  <a:srgbClr val="2C333C"/>
                </a:solidFill>
                <a:latin typeface="Arial" pitchFamily="34" charset="0"/>
                <a:ea typeface="Arial" pitchFamily="34" charset="-122"/>
                <a:cs typeface="Arial" pitchFamily="34" charset="-120"/>
              </a:rPr>
              <a:t>近完全なデータがかえって、公取委のドラッグストア市場画定とスーパー圧力の扱いの妥当性を裏づけた。</a:t>
            </a:r>
            <a:endParaRPr lang="en-US" sz="2250" dirty="0"/>
          </a:p>
        </p:txBody>
      </p:sp>
      <p:sp>
        <p:nvSpPr>
          <p:cNvPr id="14" name="Shape 12"/>
          <p:cNvSpPr/>
          <p:nvPr/>
        </p:nvSpPr>
        <p:spPr>
          <a:xfrm>
            <a:off x="1028700" y="9296400"/>
            <a:ext cx="16230600" cy="9525"/>
          </a:xfrm>
          <a:prstGeom prst="rect">
            <a:avLst/>
          </a:prstGeom>
          <a:solidFill>
            <a:srgbClr val="E4E0D7"/>
          </a:solidFill>
          <a:ln/>
        </p:spPr>
      </p:sp>
      <p:sp>
        <p:nvSpPr>
          <p:cNvPr id="15" name="Text 13"/>
          <p:cNvSpPr/>
          <p:nvPr/>
        </p:nvSpPr>
        <p:spPr>
          <a:xfrm>
            <a:off x="1028700" y="9455150"/>
            <a:ext cx="6976378" cy="393700"/>
          </a:xfrm>
          <a:prstGeom prst="rect">
            <a:avLst/>
          </a:prstGeom>
          <a:noFill/>
          <a:ln/>
        </p:spPr>
        <p:txBody>
          <a:bodyPr wrap="square" lIns="25400" tIns="25400" rIns="25400" bIns="25400" rtlCol="0" anchor="t">
            <a:normAutofit/>
          </a:bodyPr>
          <a:lstStyle/>
          <a:p>
            <a:pPr marL="0" indent="0" algn="l">
              <a:buNone/>
            </a:pPr>
            <a:r>
              <a:rPr lang="en-US" sz="1950" dirty="0">
                <a:solidFill>
                  <a:srgbClr val="97928A"/>
                </a:solidFill>
                <a:latin typeface="Arial" pitchFamily="34" charset="0"/>
                <a:ea typeface="Arial" pitchFamily="34" charset="-122"/>
                <a:cs typeface="Arial" pitchFamily="34" charset="-120"/>
              </a:rPr>
              <a:t>永田 稔人 ｜ 中里ゼミ（経済法） ｜ 2026年6月30日</a:t>
            </a:r>
            <a:endParaRPr lang="en-US" sz="1950" dirty="0"/>
          </a:p>
        </p:txBody>
      </p:sp>
      <p:sp>
        <p:nvSpPr>
          <p:cNvPr id="16" name="Text 14"/>
          <p:cNvSpPr/>
          <p:nvPr/>
        </p:nvSpPr>
        <p:spPr>
          <a:xfrm>
            <a:off x="16115109" y="9471025"/>
            <a:ext cx="1220391" cy="361950"/>
          </a:xfrm>
          <a:prstGeom prst="rect">
            <a:avLst/>
          </a:prstGeom>
          <a:noFill/>
          <a:ln/>
        </p:spPr>
        <p:txBody>
          <a:bodyPr wrap="square" lIns="25400" tIns="25400" rIns="25400" bIns="25400" rtlCol="0" anchor="t">
            <a:normAutofit/>
          </a:bodyPr>
          <a:lstStyle/>
          <a:p>
            <a:pPr marL="0" indent="0" algn="l">
              <a:buNone/>
            </a:pPr>
            <a:r>
              <a:rPr lang="en-US" sz="1950" kern="0" spc="117" dirty="0">
                <a:solidFill>
                  <a:srgbClr val="97928A"/>
                </a:solidFill>
                <a:latin typeface="Courier New" pitchFamily="34" charset="0"/>
                <a:ea typeface="Courier New" pitchFamily="34" charset="-122"/>
                <a:cs typeface="Courier New" pitchFamily="34" charset="-120"/>
              </a:rPr>
              <a:t>24 / 27</a:t>
            </a:r>
            <a:endParaRPr lang="en-US" sz="1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22303A"/>
        </a:solidFill>
        <a:effectLst/>
      </p:bgPr>
    </p:bg>
    <p:spTree>
      <p:nvGrpSpPr>
        <p:cNvPr id="1" name=""/>
        <p:cNvGrpSpPr/>
        <p:nvPr/>
      </p:nvGrpSpPr>
      <p:grpSpPr>
        <a:xfrm>
          <a:off x="0" y="0"/>
          <a:ext cx="0" cy="0"/>
          <a:chOff x="0" y="0"/>
          <a:chExt cx="0" cy="0"/>
        </a:xfrm>
      </p:grpSpPr>
      <p:sp>
        <p:nvSpPr>
          <p:cNvPr id="2" name="Text 0"/>
          <p:cNvSpPr/>
          <p:nvPr/>
        </p:nvSpPr>
        <p:spPr>
          <a:xfrm>
            <a:off x="1257300" y="2792214"/>
            <a:ext cx="17350740" cy="425450"/>
          </a:xfrm>
          <a:prstGeom prst="rect">
            <a:avLst/>
          </a:prstGeom>
          <a:noFill/>
          <a:ln/>
        </p:spPr>
        <p:txBody>
          <a:bodyPr wrap="square" lIns="25400" tIns="25400" rIns="25400" bIns="25400" rtlCol="0" anchor="t">
            <a:normAutofit/>
          </a:bodyPr>
          <a:lstStyle/>
          <a:p>
            <a:pPr marL="0" indent="0" algn="l">
              <a:buNone/>
            </a:pPr>
            <a:r>
              <a:rPr lang="en-US" sz="2100" kern="0" spc="252" dirty="0">
                <a:solidFill>
                  <a:srgbClr val="CC7159"/>
                </a:solidFill>
                <a:latin typeface="Arial" pitchFamily="34" charset="0"/>
                <a:ea typeface="Arial" pitchFamily="34" charset="-122"/>
                <a:cs typeface="Arial" pitchFamily="34" charset="-120"/>
              </a:rPr>
              <a:t>本報告の意義</a:t>
            </a:r>
            <a:endParaRPr lang="en-US" sz="2100" dirty="0"/>
          </a:p>
        </p:txBody>
      </p:sp>
      <p:sp>
        <p:nvSpPr>
          <p:cNvPr id="3" name="Text 1"/>
          <p:cNvSpPr/>
          <p:nvPr/>
        </p:nvSpPr>
        <p:spPr>
          <a:xfrm>
            <a:off x="1257300" y="3465314"/>
            <a:ext cx="647700" cy="406400"/>
          </a:xfrm>
          <a:prstGeom prst="rect">
            <a:avLst/>
          </a:prstGeom>
          <a:noFill/>
          <a:ln/>
        </p:spPr>
        <p:txBody>
          <a:bodyPr wrap="square" lIns="25400" tIns="25400" rIns="25400" bIns="25400" rtlCol="0" anchor="t">
            <a:normAutofit/>
          </a:bodyPr>
          <a:lstStyle/>
          <a:p>
            <a:pPr marL="0" indent="0" algn="l">
              <a:buNone/>
            </a:pPr>
            <a:r>
              <a:rPr lang="en-US" sz="2250" dirty="0">
                <a:solidFill>
                  <a:srgbClr val="EDEAE2"/>
                </a:solidFill>
                <a:latin typeface="Courier New" pitchFamily="34" charset="0"/>
                <a:ea typeface="Courier New" pitchFamily="34" charset="-122"/>
                <a:cs typeface="Courier New" pitchFamily="34" charset="-120"/>
              </a:rPr>
              <a:t>理解</a:t>
            </a:r>
            <a:endParaRPr lang="en-US" sz="2250" dirty="0"/>
          </a:p>
        </p:txBody>
      </p:sp>
      <p:sp>
        <p:nvSpPr>
          <p:cNvPr id="4" name="Text 2"/>
          <p:cNvSpPr/>
          <p:nvPr/>
        </p:nvSpPr>
        <p:spPr>
          <a:xfrm>
            <a:off x="2076450" y="3465314"/>
            <a:ext cx="361950" cy="406400"/>
          </a:xfrm>
          <a:prstGeom prst="rect">
            <a:avLst/>
          </a:prstGeom>
          <a:noFill/>
          <a:ln/>
        </p:spPr>
        <p:txBody>
          <a:bodyPr wrap="square" lIns="25400" tIns="25400" rIns="25400" bIns="25400" rtlCol="0" anchor="t">
            <a:normAutofit/>
          </a:bodyPr>
          <a:lstStyle/>
          <a:p>
            <a:pPr marL="0" indent="0" algn="l">
              <a:buNone/>
            </a:pPr>
            <a:r>
              <a:rPr lang="en-US" sz="2250" dirty="0">
                <a:solidFill>
                  <a:srgbClr val="CC7159"/>
                </a:solidFill>
                <a:latin typeface="Courier New" pitchFamily="34" charset="0"/>
                <a:ea typeface="Courier New" pitchFamily="34" charset="-122"/>
                <a:cs typeface="Courier New" pitchFamily="34" charset="-120"/>
              </a:rPr>
              <a:t>→</a:t>
            </a:r>
            <a:endParaRPr lang="en-US" sz="2250" dirty="0"/>
          </a:p>
        </p:txBody>
      </p:sp>
      <p:sp>
        <p:nvSpPr>
          <p:cNvPr id="5" name="Text 3"/>
          <p:cNvSpPr/>
          <p:nvPr/>
        </p:nvSpPr>
        <p:spPr>
          <a:xfrm>
            <a:off x="2609850" y="3465314"/>
            <a:ext cx="647700" cy="406400"/>
          </a:xfrm>
          <a:prstGeom prst="rect">
            <a:avLst/>
          </a:prstGeom>
          <a:noFill/>
          <a:ln/>
        </p:spPr>
        <p:txBody>
          <a:bodyPr wrap="square" lIns="25400" tIns="25400" rIns="25400" bIns="25400" rtlCol="0" anchor="t">
            <a:normAutofit/>
          </a:bodyPr>
          <a:lstStyle/>
          <a:p>
            <a:pPr marL="0" indent="0" algn="l">
              <a:buNone/>
            </a:pPr>
            <a:r>
              <a:rPr lang="en-US" sz="2250" dirty="0">
                <a:solidFill>
                  <a:srgbClr val="EDEAE2"/>
                </a:solidFill>
                <a:latin typeface="Courier New" pitchFamily="34" charset="0"/>
                <a:ea typeface="Courier New" pitchFamily="34" charset="-122"/>
                <a:cs typeface="Courier New" pitchFamily="34" charset="-120"/>
              </a:rPr>
              <a:t>批判</a:t>
            </a:r>
            <a:endParaRPr lang="en-US" sz="2250" dirty="0"/>
          </a:p>
        </p:txBody>
      </p:sp>
      <p:sp>
        <p:nvSpPr>
          <p:cNvPr id="6" name="Text 4"/>
          <p:cNvSpPr/>
          <p:nvPr/>
        </p:nvSpPr>
        <p:spPr>
          <a:xfrm>
            <a:off x="3429000" y="3465314"/>
            <a:ext cx="361950" cy="406400"/>
          </a:xfrm>
          <a:prstGeom prst="rect">
            <a:avLst/>
          </a:prstGeom>
          <a:noFill/>
          <a:ln/>
        </p:spPr>
        <p:txBody>
          <a:bodyPr wrap="square" lIns="25400" tIns="25400" rIns="25400" bIns="25400" rtlCol="0" anchor="t">
            <a:normAutofit/>
          </a:bodyPr>
          <a:lstStyle/>
          <a:p>
            <a:pPr marL="0" indent="0" algn="l">
              <a:buNone/>
            </a:pPr>
            <a:r>
              <a:rPr lang="en-US" sz="2250" dirty="0">
                <a:solidFill>
                  <a:srgbClr val="CC7159"/>
                </a:solidFill>
                <a:latin typeface="Courier New" pitchFamily="34" charset="0"/>
                <a:ea typeface="Courier New" pitchFamily="34" charset="-122"/>
                <a:cs typeface="Courier New" pitchFamily="34" charset="-120"/>
              </a:rPr>
              <a:t>→</a:t>
            </a:r>
            <a:endParaRPr lang="en-US" sz="2250" dirty="0"/>
          </a:p>
        </p:txBody>
      </p:sp>
      <p:sp>
        <p:nvSpPr>
          <p:cNvPr id="7" name="Text 5"/>
          <p:cNvSpPr/>
          <p:nvPr/>
        </p:nvSpPr>
        <p:spPr>
          <a:xfrm>
            <a:off x="3962400" y="3465314"/>
            <a:ext cx="647700" cy="406400"/>
          </a:xfrm>
          <a:prstGeom prst="rect">
            <a:avLst/>
          </a:prstGeom>
          <a:noFill/>
          <a:ln/>
        </p:spPr>
        <p:txBody>
          <a:bodyPr wrap="square" lIns="25400" tIns="25400" rIns="25400" bIns="25400" rtlCol="0" anchor="t">
            <a:normAutofit/>
          </a:bodyPr>
          <a:lstStyle/>
          <a:p>
            <a:pPr marL="0" indent="0" algn="l">
              <a:buNone/>
            </a:pPr>
            <a:r>
              <a:rPr lang="en-US" sz="2250" dirty="0">
                <a:solidFill>
                  <a:srgbClr val="EDEAE2"/>
                </a:solidFill>
                <a:latin typeface="Courier New" pitchFamily="34" charset="0"/>
                <a:ea typeface="Courier New" pitchFamily="34" charset="-122"/>
                <a:cs typeface="Courier New" pitchFamily="34" charset="-120"/>
              </a:rPr>
              <a:t>検証</a:t>
            </a:r>
            <a:endParaRPr lang="en-US" sz="2250" dirty="0"/>
          </a:p>
        </p:txBody>
      </p:sp>
      <p:sp>
        <p:nvSpPr>
          <p:cNvPr id="8" name="Text 6"/>
          <p:cNvSpPr/>
          <p:nvPr/>
        </p:nvSpPr>
        <p:spPr>
          <a:xfrm>
            <a:off x="1257300" y="4157464"/>
            <a:ext cx="14519910" cy="1419225"/>
          </a:xfrm>
          <a:prstGeom prst="rect">
            <a:avLst/>
          </a:prstGeom>
          <a:noFill/>
          <a:ln/>
        </p:spPr>
        <p:txBody>
          <a:bodyPr wrap="square" lIns="25400" tIns="25400" rIns="25400" bIns="25400" rtlCol="0" anchor="t">
            <a:normAutofit/>
          </a:bodyPr>
          <a:lstStyle/>
          <a:p>
            <a:pPr marL="0" indent="0" algn="l">
              <a:lnSpc>
                <a:spcPct val="145000"/>
              </a:lnSpc>
              <a:buNone/>
            </a:pPr>
            <a:r>
              <a:rPr lang="en-US" sz="3750" b="1" dirty="0">
                <a:solidFill>
                  <a:srgbClr val="F4F1EA"/>
                </a:solidFill>
                <a:latin typeface="Arial" pitchFamily="34" charset="0"/>
                <a:ea typeface="Arial" pitchFamily="34" charset="-122"/>
                <a:cs typeface="Arial" pitchFamily="34" charset="-120"/>
              </a:rPr>
              <a:t>手法を再現して理解し、その土台に批判を試み、 批判の当否まで</a:t>
            </a:r>
            <a:r>
              <a:rPr lang="en-US" sz="3750" b="1" dirty="0">
                <a:solidFill>
                  <a:srgbClr val="FFFFFF"/>
                </a:solidFill>
                <a:latin typeface="Arial" pitchFamily="34" charset="0"/>
                <a:ea typeface="Arial" pitchFamily="34" charset="-122"/>
                <a:cs typeface="Arial" pitchFamily="34" charset="-120"/>
              </a:rPr>
              <a:t>データで検証する</a:t>
            </a:r>
            <a:r>
              <a:rPr lang="en-US" sz="3750" b="1" dirty="0">
                <a:solidFill>
                  <a:srgbClr val="F4F1EA"/>
                </a:solidFill>
                <a:latin typeface="Arial" pitchFamily="34" charset="0"/>
                <a:ea typeface="Arial" pitchFamily="34" charset="-122"/>
                <a:cs typeface="Arial" pitchFamily="34" charset="-120"/>
              </a:rPr>
              <a:t>——</a:t>
            </a:r>
            <a:endParaRPr lang="en-US" sz="3750" dirty="0"/>
          </a:p>
        </p:txBody>
      </p:sp>
      <p:sp>
        <p:nvSpPr>
          <p:cNvPr id="9" name="Text 7"/>
          <p:cNvSpPr/>
          <p:nvPr/>
        </p:nvSpPr>
        <p:spPr>
          <a:xfrm>
            <a:off x="1257300" y="5824339"/>
            <a:ext cx="13931265" cy="565448"/>
          </a:xfrm>
          <a:prstGeom prst="rect">
            <a:avLst/>
          </a:prstGeom>
          <a:noFill/>
          <a:ln/>
        </p:spPr>
        <p:txBody>
          <a:bodyPr wrap="square" lIns="25400" tIns="25400" rIns="25400" bIns="25400" rtlCol="0" anchor="t">
            <a:normAutofit/>
          </a:bodyPr>
          <a:lstStyle/>
          <a:p>
            <a:pPr marL="0" indent="0" algn="l">
              <a:lnSpc>
                <a:spcPct val="155000"/>
              </a:lnSpc>
              <a:buNone/>
            </a:pPr>
            <a:r>
              <a:rPr lang="en-US" sz="2550" dirty="0">
                <a:solidFill>
                  <a:srgbClr val="C6CCD0"/>
                </a:solidFill>
                <a:latin typeface="Arial" pitchFamily="34" charset="0"/>
                <a:ea typeface="Arial" pitchFamily="34" charset="-122"/>
                <a:cs typeface="Arial" pitchFamily="34" charset="-120"/>
              </a:rPr>
              <a:t>この</a:t>
            </a:r>
            <a:r>
              <a:rPr lang="en-US" sz="2550" b="1" dirty="0">
                <a:solidFill>
                  <a:srgbClr val="E2B4A4"/>
                </a:solidFill>
                <a:latin typeface="Arial" pitchFamily="34" charset="0"/>
                <a:ea typeface="Arial" pitchFamily="34" charset="-122"/>
                <a:cs typeface="Arial" pitchFamily="34" charset="-120"/>
              </a:rPr>
              <a:t>往復</a:t>
            </a:r>
            <a:r>
              <a:rPr lang="en-US" sz="2550" dirty="0">
                <a:solidFill>
                  <a:srgbClr val="C6CCD0"/>
                </a:solidFill>
                <a:latin typeface="Arial" pitchFamily="34" charset="0"/>
                <a:ea typeface="Arial" pitchFamily="34" charset="-122"/>
                <a:cs typeface="Arial" pitchFamily="34" charset="-120"/>
              </a:rPr>
              <a:t>こそ、データ駆動の法的分析の</a:t>
            </a:r>
            <a:r>
              <a:rPr lang="en-US" sz="2550" b="1" dirty="0">
                <a:solidFill>
                  <a:srgbClr val="FFFFFF"/>
                </a:solidFill>
                <a:latin typeface="Arial" pitchFamily="34" charset="0"/>
                <a:ea typeface="Arial" pitchFamily="34" charset="-122"/>
                <a:cs typeface="Arial" pitchFamily="34" charset="-120"/>
              </a:rPr>
              <a:t>可能性と限界</a:t>
            </a:r>
            <a:r>
              <a:rPr lang="en-US" sz="2550" dirty="0">
                <a:solidFill>
                  <a:srgbClr val="C6CCD0"/>
                </a:solidFill>
                <a:latin typeface="Arial" pitchFamily="34" charset="0"/>
                <a:ea typeface="Arial" pitchFamily="34" charset="-122"/>
                <a:cs typeface="Arial" pitchFamily="34" charset="-120"/>
              </a:rPr>
              <a:t>を同時に示すものである。</a:t>
            </a:r>
            <a:endParaRPr lang="en-US" sz="2550" dirty="0"/>
          </a:p>
        </p:txBody>
      </p:sp>
      <p:sp>
        <p:nvSpPr>
          <p:cNvPr id="10" name="Shape 8"/>
          <p:cNvSpPr/>
          <p:nvPr/>
        </p:nvSpPr>
        <p:spPr>
          <a:xfrm>
            <a:off x="1257300" y="6942237"/>
            <a:ext cx="15773400" cy="9525"/>
          </a:xfrm>
          <a:prstGeom prst="rect">
            <a:avLst/>
          </a:prstGeom>
          <a:solidFill>
            <a:srgbClr val="FFFFFF">
              <a:alpha val="14000"/>
            </a:srgbClr>
          </a:solidFill>
          <a:ln/>
        </p:spPr>
      </p:sp>
      <p:sp>
        <p:nvSpPr>
          <p:cNvPr id="11" name="Text 9"/>
          <p:cNvSpPr/>
          <p:nvPr/>
        </p:nvSpPr>
        <p:spPr>
          <a:xfrm>
            <a:off x="1257300" y="7139087"/>
            <a:ext cx="6976378" cy="393700"/>
          </a:xfrm>
          <a:prstGeom prst="rect">
            <a:avLst/>
          </a:prstGeom>
          <a:noFill/>
          <a:ln/>
        </p:spPr>
        <p:txBody>
          <a:bodyPr wrap="square" lIns="25400" tIns="25400" rIns="25400" bIns="25400" rtlCol="0" anchor="t">
            <a:normAutofit/>
          </a:bodyPr>
          <a:lstStyle/>
          <a:p>
            <a:pPr marL="0" indent="0" algn="l">
              <a:buNone/>
            </a:pPr>
            <a:r>
              <a:rPr lang="en-US" sz="1950" dirty="0">
                <a:solidFill>
                  <a:srgbClr val="8B949A"/>
                </a:solidFill>
                <a:latin typeface="Arial" pitchFamily="34" charset="0"/>
                <a:ea typeface="Arial" pitchFamily="34" charset="-122"/>
                <a:cs typeface="Arial" pitchFamily="34" charset="-120"/>
              </a:rPr>
              <a:t>永田 稔人 ｜ 中里ゼミ（経済法） ｜ 2026年6月30日</a:t>
            </a:r>
            <a:endParaRPr lang="en-US" sz="1950" dirty="0"/>
          </a:p>
        </p:txBody>
      </p:sp>
      <p:sp>
        <p:nvSpPr>
          <p:cNvPr id="12" name="Text 10"/>
          <p:cNvSpPr/>
          <p:nvPr/>
        </p:nvSpPr>
        <p:spPr>
          <a:xfrm>
            <a:off x="15886509" y="7154962"/>
            <a:ext cx="1220391" cy="361950"/>
          </a:xfrm>
          <a:prstGeom prst="rect">
            <a:avLst/>
          </a:prstGeom>
          <a:noFill/>
          <a:ln/>
        </p:spPr>
        <p:txBody>
          <a:bodyPr wrap="square" lIns="25400" tIns="25400" rIns="25400" bIns="25400" rtlCol="0" anchor="t">
            <a:normAutofit/>
          </a:bodyPr>
          <a:lstStyle/>
          <a:p>
            <a:pPr marL="0" indent="0" algn="l">
              <a:buNone/>
            </a:pPr>
            <a:r>
              <a:rPr lang="en-US" sz="1950" kern="0" spc="117" dirty="0">
                <a:solidFill>
                  <a:srgbClr val="8B949A"/>
                </a:solidFill>
                <a:latin typeface="Courier New" pitchFamily="34" charset="0"/>
                <a:ea typeface="Courier New" pitchFamily="34" charset="-122"/>
                <a:cs typeface="Courier New" pitchFamily="34" charset="-120"/>
              </a:rPr>
              <a:t>25 / 27</a:t>
            </a:r>
            <a:endParaRPr lang="en-US" sz="1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6F2"/>
        </a:solidFill>
        <a:effectLst/>
      </p:bgPr>
    </p:bg>
    <p:spTree>
      <p:nvGrpSpPr>
        <p:cNvPr id="1" name=""/>
        <p:cNvGrpSpPr/>
        <p:nvPr/>
      </p:nvGrpSpPr>
      <p:grpSpPr>
        <a:xfrm>
          <a:off x="0" y="0"/>
          <a:ext cx="0" cy="0"/>
          <a:chOff x="0" y="0"/>
          <a:chExt cx="0" cy="0"/>
        </a:xfrm>
      </p:grpSpPr>
      <p:sp>
        <p:nvSpPr>
          <p:cNvPr id="2" name="Shape 0"/>
          <p:cNvSpPr/>
          <p:nvPr/>
        </p:nvSpPr>
        <p:spPr>
          <a:xfrm>
            <a:off x="1028700" y="801688"/>
            <a:ext cx="304800" cy="28575"/>
          </a:xfrm>
          <a:prstGeom prst="rect">
            <a:avLst/>
          </a:prstGeom>
          <a:solidFill>
            <a:srgbClr val="9A4A38"/>
          </a:solidFill>
          <a:ln/>
        </p:spPr>
      </p:sp>
      <p:sp>
        <p:nvSpPr>
          <p:cNvPr id="3" name="Text 1"/>
          <p:cNvSpPr/>
          <p:nvPr/>
        </p:nvSpPr>
        <p:spPr>
          <a:xfrm>
            <a:off x="1466850" y="628650"/>
            <a:ext cx="642045" cy="412750"/>
          </a:xfrm>
          <a:prstGeom prst="rect">
            <a:avLst/>
          </a:prstGeom>
          <a:noFill/>
          <a:ln/>
        </p:spPr>
        <p:txBody>
          <a:bodyPr wrap="square" lIns="25400" tIns="25400" rIns="25400" bIns="25400" rtlCol="0" anchor="t">
            <a:normAutofit/>
          </a:bodyPr>
          <a:lstStyle/>
          <a:p>
            <a:pPr marL="0" indent="0" algn="l">
              <a:buNone/>
            </a:pPr>
            <a:r>
              <a:rPr lang="en-US" sz="2025" kern="0" spc="203" dirty="0">
                <a:solidFill>
                  <a:srgbClr val="5A6470"/>
                </a:solidFill>
                <a:latin typeface="Arial" pitchFamily="34" charset="0"/>
                <a:ea typeface="Arial" pitchFamily="34" charset="-122"/>
                <a:cs typeface="Arial" pitchFamily="34" charset="-120"/>
              </a:rPr>
              <a:t>結論</a:t>
            </a:r>
            <a:endParaRPr lang="en-US" sz="2025" dirty="0"/>
          </a:p>
        </p:txBody>
      </p:sp>
      <p:sp>
        <p:nvSpPr>
          <p:cNvPr id="4" name="Text 2"/>
          <p:cNvSpPr/>
          <p:nvPr/>
        </p:nvSpPr>
        <p:spPr>
          <a:xfrm>
            <a:off x="1028700" y="1174750"/>
            <a:ext cx="17853660" cy="624384"/>
          </a:xfrm>
          <a:prstGeom prst="rect">
            <a:avLst/>
          </a:prstGeom>
          <a:noFill/>
          <a:ln/>
        </p:spPr>
        <p:txBody>
          <a:bodyPr wrap="square" lIns="25400" tIns="25400" rIns="25400" bIns="25400" rtlCol="0" anchor="t">
            <a:normAutofit/>
          </a:bodyPr>
          <a:lstStyle/>
          <a:p>
            <a:pPr marL="0" indent="0" algn="l">
              <a:lnSpc>
                <a:spcPct val="114000"/>
              </a:lnSpc>
              <a:buNone/>
            </a:pPr>
            <a:r>
              <a:rPr lang="en-US" sz="4050" b="1" dirty="0">
                <a:solidFill>
                  <a:srgbClr val="1F2730"/>
                </a:solidFill>
                <a:latin typeface="Arial" pitchFamily="34" charset="0"/>
                <a:ea typeface="Arial" pitchFamily="34" charset="-122"/>
                <a:cs typeface="Arial" pitchFamily="34" charset="-120"/>
              </a:rPr>
              <a:t>限界と留保</a:t>
            </a:r>
            <a:endParaRPr lang="en-US" sz="4050" dirty="0"/>
          </a:p>
        </p:txBody>
      </p:sp>
      <p:sp>
        <p:nvSpPr>
          <p:cNvPr id="5" name="Text 3"/>
          <p:cNvSpPr/>
          <p:nvPr/>
        </p:nvSpPr>
        <p:spPr>
          <a:xfrm>
            <a:off x="1028700" y="1894384"/>
            <a:ext cx="16344900" cy="519212"/>
          </a:xfrm>
          <a:prstGeom prst="rect">
            <a:avLst/>
          </a:prstGeom>
          <a:noFill/>
          <a:ln/>
        </p:spPr>
        <p:txBody>
          <a:bodyPr wrap="square" lIns="25400" tIns="25400" rIns="25400" bIns="25400" rtlCol="0" anchor="t">
            <a:normAutofit/>
          </a:bodyPr>
          <a:lstStyle/>
          <a:p>
            <a:pPr marL="0" indent="0" algn="l">
              <a:lnSpc>
                <a:spcPct val="145000"/>
              </a:lnSpc>
              <a:buNone/>
            </a:pPr>
            <a:r>
              <a:rPr lang="en-US" sz="2475" dirty="0">
                <a:solidFill>
                  <a:srgbClr val="4A5560"/>
                </a:solidFill>
                <a:latin typeface="Arial" pitchFamily="34" charset="0"/>
                <a:ea typeface="Arial" pitchFamily="34" charset="-122"/>
                <a:cs typeface="Arial" pitchFamily="34" charset="-120"/>
              </a:rPr>
              <a:t>本報告の数値は</a:t>
            </a:r>
            <a:r>
              <a:rPr lang="en-US" sz="2475" b="1" dirty="0">
                <a:solidFill>
                  <a:srgbClr val="4A5560"/>
                </a:solidFill>
                <a:latin typeface="Arial" pitchFamily="34" charset="0"/>
                <a:ea typeface="Arial" pitchFamily="34" charset="-122"/>
                <a:cs typeface="Arial" pitchFamily="34" charset="-120"/>
              </a:rPr>
              <a:t>予備的・例示的</a:t>
            </a:r>
            <a:r>
              <a:rPr lang="en-US" sz="2475" dirty="0">
                <a:solidFill>
                  <a:srgbClr val="4A5560"/>
                </a:solidFill>
                <a:latin typeface="Arial" pitchFamily="34" charset="0"/>
                <a:ea typeface="Arial" pitchFamily="34" charset="-122"/>
                <a:cs typeface="Arial" pitchFamily="34" charset="-120"/>
              </a:rPr>
              <a:t>なものである。</a:t>
            </a:r>
            <a:endParaRPr lang="en-US" sz="2475" dirty="0"/>
          </a:p>
        </p:txBody>
      </p:sp>
      <p:sp>
        <p:nvSpPr>
          <p:cNvPr id="6" name="Shape 4"/>
          <p:cNvSpPr/>
          <p:nvPr/>
        </p:nvSpPr>
        <p:spPr>
          <a:xfrm>
            <a:off x="1028700" y="3876973"/>
            <a:ext cx="8010525" cy="1854200"/>
          </a:xfrm>
          <a:prstGeom prst="roundRect">
            <a:avLst>
              <a:gd name="adj" fmla="val 5137"/>
            </a:avLst>
          </a:prstGeom>
          <a:solidFill>
            <a:srgbClr val="FFFFFF"/>
          </a:solidFill>
          <a:ln w="6350">
            <a:solidFill>
              <a:srgbClr val="E0DCD2"/>
            </a:solidFill>
            <a:prstDash val="solid"/>
          </a:ln>
        </p:spPr>
      </p:sp>
      <p:sp>
        <p:nvSpPr>
          <p:cNvPr id="7" name="Text 5"/>
          <p:cNvSpPr/>
          <p:nvPr/>
        </p:nvSpPr>
        <p:spPr>
          <a:xfrm>
            <a:off x="1339850" y="4207173"/>
            <a:ext cx="396280" cy="387350"/>
          </a:xfrm>
          <a:prstGeom prst="rect">
            <a:avLst/>
          </a:prstGeom>
          <a:noFill/>
          <a:ln/>
        </p:spPr>
        <p:txBody>
          <a:bodyPr wrap="square" lIns="25400" tIns="25400" rIns="25400" bIns="25400" rtlCol="0" anchor="t">
            <a:normAutofit/>
          </a:bodyPr>
          <a:lstStyle/>
          <a:p>
            <a:pPr marL="0" indent="0" algn="l">
              <a:buNone/>
            </a:pPr>
            <a:r>
              <a:rPr lang="en-US" sz="2100" dirty="0">
                <a:solidFill>
                  <a:srgbClr val="9A4A38"/>
                </a:solidFill>
                <a:latin typeface="Courier New" pitchFamily="34" charset="0"/>
                <a:ea typeface="Courier New" pitchFamily="34" charset="-122"/>
                <a:cs typeface="Courier New" pitchFamily="34" charset="-120"/>
              </a:rPr>
              <a:t>01</a:t>
            </a:r>
            <a:endParaRPr lang="en-US" sz="2100" dirty="0"/>
          </a:p>
        </p:txBody>
      </p:sp>
      <p:sp>
        <p:nvSpPr>
          <p:cNvPr id="8" name="Text 6"/>
          <p:cNvSpPr/>
          <p:nvPr/>
        </p:nvSpPr>
        <p:spPr>
          <a:xfrm>
            <a:off x="1793280" y="4150023"/>
            <a:ext cx="1885950" cy="450850"/>
          </a:xfrm>
          <a:prstGeom prst="rect">
            <a:avLst/>
          </a:prstGeom>
          <a:noFill/>
          <a:ln/>
        </p:spPr>
        <p:txBody>
          <a:bodyPr wrap="square" lIns="25400" tIns="25400" rIns="25400" bIns="25400" rtlCol="0" anchor="t">
            <a:normAutofit/>
          </a:bodyPr>
          <a:lstStyle/>
          <a:p>
            <a:pPr marL="0" indent="0" algn="l">
              <a:buNone/>
            </a:pPr>
            <a:r>
              <a:rPr lang="en-US" sz="2250" b="1" dirty="0">
                <a:solidFill>
                  <a:srgbClr val="1F2730"/>
                </a:solidFill>
                <a:latin typeface="Arial" pitchFamily="34" charset="0"/>
                <a:ea typeface="Arial" pitchFamily="34" charset="-122"/>
                <a:cs typeface="Arial" pitchFamily="34" charset="-120"/>
              </a:rPr>
              <a:t>データの被覆</a:t>
            </a:r>
            <a:endParaRPr lang="en-US" sz="2250" dirty="0"/>
          </a:p>
        </p:txBody>
      </p:sp>
      <p:sp>
        <p:nvSpPr>
          <p:cNvPr id="9" name="Text 7"/>
          <p:cNvSpPr/>
          <p:nvPr/>
        </p:nvSpPr>
        <p:spPr>
          <a:xfrm>
            <a:off x="1339850" y="4658023"/>
            <a:ext cx="7609872" cy="838200"/>
          </a:xfrm>
          <a:prstGeom prst="rect">
            <a:avLst/>
          </a:prstGeom>
          <a:noFill/>
          <a:ln/>
        </p:spPr>
        <p:txBody>
          <a:bodyPr wrap="square" lIns="25400" tIns="25400" rIns="25400" bIns="25400" rtlCol="0" anchor="t">
            <a:normAutofit/>
          </a:bodyPr>
          <a:lstStyle/>
          <a:p>
            <a:pPr marL="0" indent="0" algn="l">
              <a:lnSpc>
                <a:spcPct val="150000"/>
              </a:lnSpc>
              <a:buNone/>
            </a:pPr>
            <a:r>
              <a:rPr lang="en-US" sz="2100" dirty="0">
                <a:solidFill>
                  <a:srgbClr val="5A6470"/>
                </a:solidFill>
                <a:latin typeface="Arial" pitchFamily="34" charset="0"/>
                <a:ea typeface="Arial" pitchFamily="34" charset="-122"/>
                <a:cs typeface="Arial" pitchFamily="34" charset="-120"/>
              </a:rPr>
              <a:t>OpenStreetMap・Google Places に依拠し、店舗の欠落・ジオコーディング誤差が残る。</a:t>
            </a:r>
            <a:endParaRPr lang="en-US" sz="2100" dirty="0"/>
          </a:p>
        </p:txBody>
      </p:sp>
      <p:sp>
        <p:nvSpPr>
          <p:cNvPr id="10" name="Shape 8"/>
          <p:cNvSpPr/>
          <p:nvPr/>
        </p:nvSpPr>
        <p:spPr>
          <a:xfrm>
            <a:off x="9248775" y="3876973"/>
            <a:ext cx="8010525" cy="1854200"/>
          </a:xfrm>
          <a:prstGeom prst="roundRect">
            <a:avLst>
              <a:gd name="adj" fmla="val 5137"/>
            </a:avLst>
          </a:prstGeom>
          <a:solidFill>
            <a:srgbClr val="FFFFFF"/>
          </a:solidFill>
          <a:ln w="6350">
            <a:solidFill>
              <a:srgbClr val="E0DCD2"/>
            </a:solidFill>
            <a:prstDash val="solid"/>
          </a:ln>
        </p:spPr>
      </p:sp>
      <p:sp>
        <p:nvSpPr>
          <p:cNvPr id="11" name="Text 9"/>
          <p:cNvSpPr/>
          <p:nvPr/>
        </p:nvSpPr>
        <p:spPr>
          <a:xfrm>
            <a:off x="9559925" y="4207173"/>
            <a:ext cx="396280" cy="387350"/>
          </a:xfrm>
          <a:prstGeom prst="rect">
            <a:avLst/>
          </a:prstGeom>
          <a:noFill/>
          <a:ln/>
        </p:spPr>
        <p:txBody>
          <a:bodyPr wrap="square" lIns="25400" tIns="25400" rIns="25400" bIns="25400" rtlCol="0" anchor="t">
            <a:normAutofit/>
          </a:bodyPr>
          <a:lstStyle/>
          <a:p>
            <a:pPr marL="0" indent="0" algn="l">
              <a:buNone/>
            </a:pPr>
            <a:r>
              <a:rPr lang="en-US" sz="2100" dirty="0">
                <a:solidFill>
                  <a:srgbClr val="9A4A38"/>
                </a:solidFill>
                <a:latin typeface="Courier New" pitchFamily="34" charset="0"/>
                <a:ea typeface="Courier New" pitchFamily="34" charset="-122"/>
                <a:cs typeface="Courier New" pitchFamily="34" charset="-120"/>
              </a:rPr>
              <a:t>02</a:t>
            </a:r>
            <a:endParaRPr lang="en-US" sz="2100" dirty="0"/>
          </a:p>
        </p:txBody>
      </p:sp>
      <p:sp>
        <p:nvSpPr>
          <p:cNvPr id="12" name="Text 10"/>
          <p:cNvSpPr/>
          <p:nvPr/>
        </p:nvSpPr>
        <p:spPr>
          <a:xfrm>
            <a:off x="10013355" y="4150023"/>
            <a:ext cx="1885950" cy="450850"/>
          </a:xfrm>
          <a:prstGeom prst="rect">
            <a:avLst/>
          </a:prstGeom>
          <a:noFill/>
          <a:ln/>
        </p:spPr>
        <p:txBody>
          <a:bodyPr wrap="square" lIns="25400" tIns="25400" rIns="25400" bIns="25400" rtlCol="0" anchor="t">
            <a:normAutofit/>
          </a:bodyPr>
          <a:lstStyle/>
          <a:p>
            <a:pPr marL="0" indent="0" algn="l">
              <a:buNone/>
            </a:pPr>
            <a:r>
              <a:rPr lang="en-US" sz="2250" b="1" dirty="0">
                <a:solidFill>
                  <a:srgbClr val="1F2730"/>
                </a:solidFill>
                <a:latin typeface="Arial" pitchFamily="34" charset="0"/>
                <a:ea typeface="Arial" pitchFamily="34" charset="-122"/>
                <a:cs typeface="Arial" pitchFamily="34" charset="-120"/>
              </a:rPr>
              <a:t>商圏の単純化</a:t>
            </a:r>
            <a:endParaRPr lang="en-US" sz="2250" dirty="0"/>
          </a:p>
        </p:txBody>
      </p:sp>
      <p:sp>
        <p:nvSpPr>
          <p:cNvPr id="13" name="Text 11"/>
          <p:cNvSpPr/>
          <p:nvPr/>
        </p:nvSpPr>
        <p:spPr>
          <a:xfrm>
            <a:off x="9559925" y="4658023"/>
            <a:ext cx="7609872" cy="838200"/>
          </a:xfrm>
          <a:prstGeom prst="rect">
            <a:avLst/>
          </a:prstGeom>
          <a:noFill/>
          <a:ln/>
        </p:spPr>
        <p:txBody>
          <a:bodyPr wrap="square" lIns="25400" tIns="25400" rIns="25400" bIns="25400" rtlCol="0" anchor="t">
            <a:normAutofit/>
          </a:bodyPr>
          <a:lstStyle/>
          <a:p>
            <a:pPr marL="0" indent="0" algn="l">
              <a:lnSpc>
                <a:spcPct val="150000"/>
              </a:lnSpc>
              <a:buNone/>
            </a:pPr>
            <a:r>
              <a:rPr lang="en-US" sz="2100" dirty="0">
                <a:solidFill>
                  <a:srgbClr val="5A6470"/>
                </a:solidFill>
                <a:latin typeface="Arial" pitchFamily="34" charset="0"/>
                <a:ea typeface="Arial" pitchFamily="34" charset="-122"/>
                <a:cs typeface="Arial" pitchFamily="34" charset="-120"/>
              </a:rPr>
              <a:t>一律2kmの直線商圏。店舗数ベースのHHIは売上ベースの代理にすぎない。</a:t>
            </a:r>
            <a:endParaRPr lang="en-US" sz="2100" dirty="0"/>
          </a:p>
        </p:txBody>
      </p:sp>
      <p:sp>
        <p:nvSpPr>
          <p:cNvPr id="14" name="Shape 12"/>
          <p:cNvSpPr/>
          <p:nvPr/>
        </p:nvSpPr>
        <p:spPr>
          <a:xfrm>
            <a:off x="1028700" y="5940723"/>
            <a:ext cx="8010525" cy="1854200"/>
          </a:xfrm>
          <a:prstGeom prst="roundRect">
            <a:avLst>
              <a:gd name="adj" fmla="val 5137"/>
            </a:avLst>
          </a:prstGeom>
          <a:solidFill>
            <a:srgbClr val="FFFFFF"/>
          </a:solidFill>
          <a:ln w="6350">
            <a:solidFill>
              <a:srgbClr val="E0DCD2"/>
            </a:solidFill>
            <a:prstDash val="solid"/>
          </a:ln>
        </p:spPr>
      </p:sp>
      <p:sp>
        <p:nvSpPr>
          <p:cNvPr id="15" name="Text 13"/>
          <p:cNvSpPr/>
          <p:nvPr/>
        </p:nvSpPr>
        <p:spPr>
          <a:xfrm>
            <a:off x="1339850" y="6270923"/>
            <a:ext cx="396280" cy="387350"/>
          </a:xfrm>
          <a:prstGeom prst="rect">
            <a:avLst/>
          </a:prstGeom>
          <a:noFill/>
          <a:ln/>
        </p:spPr>
        <p:txBody>
          <a:bodyPr wrap="square" lIns="25400" tIns="25400" rIns="25400" bIns="25400" rtlCol="0" anchor="t">
            <a:normAutofit/>
          </a:bodyPr>
          <a:lstStyle/>
          <a:p>
            <a:pPr marL="0" indent="0" algn="l">
              <a:buNone/>
            </a:pPr>
            <a:r>
              <a:rPr lang="en-US" sz="2100" dirty="0">
                <a:solidFill>
                  <a:srgbClr val="9A4A38"/>
                </a:solidFill>
                <a:latin typeface="Courier New" pitchFamily="34" charset="0"/>
                <a:ea typeface="Courier New" pitchFamily="34" charset="-122"/>
                <a:cs typeface="Courier New" pitchFamily="34" charset="-120"/>
              </a:rPr>
              <a:t>03</a:t>
            </a:r>
            <a:endParaRPr lang="en-US" sz="2100" dirty="0"/>
          </a:p>
        </p:txBody>
      </p:sp>
      <p:sp>
        <p:nvSpPr>
          <p:cNvPr id="16" name="Text 14"/>
          <p:cNvSpPr/>
          <p:nvPr/>
        </p:nvSpPr>
        <p:spPr>
          <a:xfrm>
            <a:off x="1793280" y="6213773"/>
            <a:ext cx="2828925" cy="450850"/>
          </a:xfrm>
          <a:prstGeom prst="rect">
            <a:avLst/>
          </a:prstGeom>
          <a:noFill/>
          <a:ln/>
        </p:spPr>
        <p:txBody>
          <a:bodyPr wrap="square" lIns="25400" tIns="25400" rIns="25400" bIns="25400" rtlCol="0" anchor="t">
            <a:normAutofit/>
          </a:bodyPr>
          <a:lstStyle/>
          <a:p>
            <a:pPr marL="0" indent="0" algn="l">
              <a:buNone/>
            </a:pPr>
            <a:r>
              <a:rPr lang="en-US" sz="2250" b="1" dirty="0">
                <a:solidFill>
                  <a:srgbClr val="1F2730"/>
                </a:solidFill>
                <a:latin typeface="Arial" pitchFamily="34" charset="0"/>
                <a:ea typeface="Arial" pitchFamily="34" charset="-122"/>
                <a:cs typeface="Arial" pitchFamily="34" charset="-120"/>
              </a:rPr>
              <a:t>食品ウェイトは仮定</a:t>
            </a:r>
            <a:endParaRPr lang="en-US" sz="2250" dirty="0"/>
          </a:p>
        </p:txBody>
      </p:sp>
      <p:sp>
        <p:nvSpPr>
          <p:cNvPr id="17" name="Text 15"/>
          <p:cNvSpPr/>
          <p:nvPr/>
        </p:nvSpPr>
        <p:spPr>
          <a:xfrm>
            <a:off x="1339850" y="6721773"/>
            <a:ext cx="7609872" cy="838200"/>
          </a:xfrm>
          <a:prstGeom prst="rect">
            <a:avLst/>
          </a:prstGeom>
          <a:noFill/>
          <a:ln/>
        </p:spPr>
        <p:txBody>
          <a:bodyPr wrap="square" lIns="25400" tIns="25400" rIns="25400" bIns="25400" rtlCol="0" anchor="t">
            <a:normAutofit/>
          </a:bodyPr>
          <a:lstStyle/>
          <a:p>
            <a:pPr marL="0" indent="0" algn="l">
              <a:lnSpc>
                <a:spcPct val="150000"/>
              </a:lnSpc>
              <a:buNone/>
            </a:pPr>
            <a:r>
              <a:rPr lang="en-US" sz="2100" dirty="0">
                <a:solidFill>
                  <a:srgbClr val="5A6470"/>
                </a:solidFill>
                <a:latin typeface="Arial" pitchFamily="34" charset="0"/>
                <a:ea typeface="Arial" pitchFamily="34" charset="-122"/>
                <a:cs typeface="Arial" pitchFamily="34" charset="-120"/>
              </a:rPr>
              <a:t>供給力ウェイトは測定値でなく業態の近似（感度分析で頑健性確認）。関与食品は日常・買い置き型に近い。</a:t>
            </a:r>
            <a:endParaRPr lang="en-US" sz="2100" dirty="0"/>
          </a:p>
        </p:txBody>
      </p:sp>
      <p:sp>
        <p:nvSpPr>
          <p:cNvPr id="18" name="Shape 16"/>
          <p:cNvSpPr/>
          <p:nvPr/>
        </p:nvSpPr>
        <p:spPr>
          <a:xfrm>
            <a:off x="9248775" y="5940723"/>
            <a:ext cx="8010525" cy="1854200"/>
          </a:xfrm>
          <a:prstGeom prst="roundRect">
            <a:avLst>
              <a:gd name="adj" fmla="val 5137"/>
            </a:avLst>
          </a:prstGeom>
          <a:solidFill>
            <a:srgbClr val="FFFFFF"/>
          </a:solidFill>
          <a:ln w="6350">
            <a:solidFill>
              <a:srgbClr val="E0DCD2"/>
            </a:solidFill>
            <a:prstDash val="solid"/>
          </a:ln>
        </p:spPr>
      </p:sp>
      <p:sp>
        <p:nvSpPr>
          <p:cNvPr id="19" name="Text 17"/>
          <p:cNvSpPr/>
          <p:nvPr/>
        </p:nvSpPr>
        <p:spPr>
          <a:xfrm>
            <a:off x="9559925" y="6270923"/>
            <a:ext cx="396280" cy="387350"/>
          </a:xfrm>
          <a:prstGeom prst="rect">
            <a:avLst/>
          </a:prstGeom>
          <a:noFill/>
          <a:ln/>
        </p:spPr>
        <p:txBody>
          <a:bodyPr wrap="square" lIns="25400" tIns="25400" rIns="25400" bIns="25400" rtlCol="0" anchor="t">
            <a:normAutofit/>
          </a:bodyPr>
          <a:lstStyle/>
          <a:p>
            <a:pPr marL="0" indent="0" algn="l">
              <a:buNone/>
            </a:pPr>
            <a:r>
              <a:rPr lang="en-US" sz="2100" dirty="0">
                <a:solidFill>
                  <a:srgbClr val="9A4A38"/>
                </a:solidFill>
                <a:latin typeface="Courier New" pitchFamily="34" charset="0"/>
                <a:ea typeface="Courier New" pitchFamily="34" charset="-122"/>
                <a:cs typeface="Courier New" pitchFamily="34" charset="-120"/>
              </a:rPr>
              <a:t>04</a:t>
            </a:r>
            <a:endParaRPr lang="en-US" sz="2100" dirty="0"/>
          </a:p>
        </p:txBody>
      </p:sp>
      <p:sp>
        <p:nvSpPr>
          <p:cNvPr id="20" name="Text 18"/>
          <p:cNvSpPr/>
          <p:nvPr/>
        </p:nvSpPr>
        <p:spPr>
          <a:xfrm>
            <a:off x="10013355" y="6213773"/>
            <a:ext cx="2200275" cy="450850"/>
          </a:xfrm>
          <a:prstGeom prst="rect">
            <a:avLst/>
          </a:prstGeom>
          <a:noFill/>
          <a:ln/>
        </p:spPr>
        <p:txBody>
          <a:bodyPr wrap="square" lIns="25400" tIns="25400" rIns="25400" bIns="25400" rtlCol="0" anchor="t">
            <a:normAutofit/>
          </a:bodyPr>
          <a:lstStyle/>
          <a:p>
            <a:pPr marL="0" indent="0" algn="l">
              <a:buNone/>
            </a:pPr>
            <a:r>
              <a:rPr lang="en-US" sz="2250" b="1" dirty="0">
                <a:solidFill>
                  <a:srgbClr val="1F2730"/>
                </a:solidFill>
                <a:latin typeface="Arial" pitchFamily="34" charset="0"/>
                <a:ea typeface="Arial" pitchFamily="34" charset="-122"/>
                <a:cs typeface="Arial" pitchFamily="34" charset="-120"/>
              </a:rPr>
              <a:t>措置後・商圏外</a:t>
            </a:r>
            <a:endParaRPr lang="en-US" sz="2250" dirty="0"/>
          </a:p>
        </p:txBody>
      </p:sp>
      <p:sp>
        <p:nvSpPr>
          <p:cNvPr id="21" name="Text 19"/>
          <p:cNvSpPr/>
          <p:nvPr/>
        </p:nvSpPr>
        <p:spPr>
          <a:xfrm>
            <a:off x="9559925" y="6721773"/>
            <a:ext cx="7609872" cy="838200"/>
          </a:xfrm>
          <a:prstGeom prst="rect">
            <a:avLst/>
          </a:prstGeom>
          <a:noFill/>
          <a:ln/>
        </p:spPr>
        <p:txBody>
          <a:bodyPr wrap="square" lIns="25400" tIns="25400" rIns="25400" bIns="25400" rtlCol="0" anchor="t">
            <a:normAutofit/>
          </a:bodyPr>
          <a:lstStyle/>
          <a:p>
            <a:pPr marL="0" indent="0" algn="l">
              <a:lnSpc>
                <a:spcPct val="150000"/>
              </a:lnSpc>
              <a:buNone/>
            </a:pPr>
            <a:r>
              <a:rPr lang="en-US" sz="2100" dirty="0">
                <a:solidFill>
                  <a:srgbClr val="5A6470"/>
                </a:solidFill>
                <a:latin typeface="Arial" pitchFamily="34" charset="0"/>
                <a:ea typeface="Arial" pitchFamily="34" charset="-122"/>
                <a:cs typeface="Arial" pitchFamily="34" charset="-120"/>
              </a:rPr>
              <a:t>現データは措置実行後を反映。商圏外スーパー・ネット通販の圧力は反論として効きうる。</a:t>
            </a:r>
            <a:endParaRPr lang="en-US" sz="2100" dirty="0"/>
          </a:p>
        </p:txBody>
      </p:sp>
      <p:sp>
        <p:nvSpPr>
          <p:cNvPr id="22" name="Shape 20"/>
          <p:cNvSpPr/>
          <p:nvPr/>
        </p:nvSpPr>
        <p:spPr>
          <a:xfrm>
            <a:off x="1028700" y="9296400"/>
            <a:ext cx="16230600" cy="9525"/>
          </a:xfrm>
          <a:prstGeom prst="rect">
            <a:avLst/>
          </a:prstGeom>
          <a:solidFill>
            <a:srgbClr val="E4E0D7"/>
          </a:solidFill>
          <a:ln/>
        </p:spPr>
      </p:sp>
      <p:sp>
        <p:nvSpPr>
          <p:cNvPr id="23" name="Text 21"/>
          <p:cNvSpPr/>
          <p:nvPr/>
        </p:nvSpPr>
        <p:spPr>
          <a:xfrm>
            <a:off x="1028700" y="9455150"/>
            <a:ext cx="6976378" cy="393700"/>
          </a:xfrm>
          <a:prstGeom prst="rect">
            <a:avLst/>
          </a:prstGeom>
          <a:noFill/>
          <a:ln/>
        </p:spPr>
        <p:txBody>
          <a:bodyPr wrap="square" lIns="25400" tIns="25400" rIns="25400" bIns="25400" rtlCol="0" anchor="t">
            <a:normAutofit/>
          </a:bodyPr>
          <a:lstStyle/>
          <a:p>
            <a:pPr marL="0" indent="0" algn="l">
              <a:buNone/>
            </a:pPr>
            <a:r>
              <a:rPr lang="en-US" sz="1950" dirty="0">
                <a:solidFill>
                  <a:srgbClr val="97928A"/>
                </a:solidFill>
                <a:latin typeface="Arial" pitchFamily="34" charset="0"/>
                <a:ea typeface="Arial" pitchFamily="34" charset="-122"/>
                <a:cs typeface="Arial" pitchFamily="34" charset="-120"/>
              </a:rPr>
              <a:t>永田 稔人 ｜ 中里ゼミ（経済法） ｜ 2026年6月30日</a:t>
            </a:r>
            <a:endParaRPr lang="en-US" sz="1950" dirty="0"/>
          </a:p>
        </p:txBody>
      </p:sp>
      <p:sp>
        <p:nvSpPr>
          <p:cNvPr id="24" name="Text 22"/>
          <p:cNvSpPr/>
          <p:nvPr/>
        </p:nvSpPr>
        <p:spPr>
          <a:xfrm>
            <a:off x="16115109" y="9471025"/>
            <a:ext cx="1220391" cy="361950"/>
          </a:xfrm>
          <a:prstGeom prst="rect">
            <a:avLst/>
          </a:prstGeom>
          <a:noFill/>
          <a:ln/>
        </p:spPr>
        <p:txBody>
          <a:bodyPr wrap="square" lIns="25400" tIns="25400" rIns="25400" bIns="25400" rtlCol="0" anchor="t">
            <a:normAutofit/>
          </a:bodyPr>
          <a:lstStyle/>
          <a:p>
            <a:pPr marL="0" indent="0" algn="l">
              <a:buNone/>
            </a:pPr>
            <a:r>
              <a:rPr lang="en-US" sz="1950" kern="0" spc="117" dirty="0">
                <a:solidFill>
                  <a:srgbClr val="97928A"/>
                </a:solidFill>
                <a:latin typeface="Courier New" pitchFamily="34" charset="0"/>
                <a:ea typeface="Courier New" pitchFamily="34" charset="-122"/>
                <a:cs typeface="Courier New" pitchFamily="34" charset="-120"/>
              </a:rPr>
              <a:t>26 / 27</a:t>
            </a:r>
            <a:endParaRPr lang="en-US" sz="1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6F2"/>
        </a:solidFill>
        <a:effectLst/>
      </p:bgPr>
    </p:bg>
    <p:spTree>
      <p:nvGrpSpPr>
        <p:cNvPr id="1" name=""/>
        <p:cNvGrpSpPr/>
        <p:nvPr/>
      </p:nvGrpSpPr>
      <p:grpSpPr>
        <a:xfrm>
          <a:off x="0" y="0"/>
          <a:ext cx="0" cy="0"/>
          <a:chOff x="0" y="0"/>
          <a:chExt cx="0" cy="0"/>
        </a:xfrm>
      </p:grpSpPr>
      <p:sp>
        <p:nvSpPr>
          <p:cNvPr id="2" name="Shape 0"/>
          <p:cNvSpPr/>
          <p:nvPr/>
        </p:nvSpPr>
        <p:spPr>
          <a:xfrm>
            <a:off x="1028700" y="801688"/>
            <a:ext cx="304800" cy="28575"/>
          </a:xfrm>
          <a:prstGeom prst="rect">
            <a:avLst/>
          </a:prstGeom>
          <a:solidFill>
            <a:srgbClr val="9A4A38"/>
          </a:solidFill>
          <a:ln/>
        </p:spPr>
      </p:sp>
      <p:sp>
        <p:nvSpPr>
          <p:cNvPr id="3" name="Text 1"/>
          <p:cNvSpPr/>
          <p:nvPr/>
        </p:nvSpPr>
        <p:spPr>
          <a:xfrm>
            <a:off x="1466850" y="628650"/>
            <a:ext cx="642045" cy="412750"/>
          </a:xfrm>
          <a:prstGeom prst="rect">
            <a:avLst/>
          </a:prstGeom>
          <a:noFill/>
          <a:ln/>
        </p:spPr>
        <p:txBody>
          <a:bodyPr wrap="square" lIns="25400" tIns="25400" rIns="25400" bIns="25400" rtlCol="0" anchor="t">
            <a:normAutofit/>
          </a:bodyPr>
          <a:lstStyle/>
          <a:p>
            <a:pPr marL="0" indent="0" algn="l">
              <a:buNone/>
            </a:pPr>
            <a:r>
              <a:rPr lang="en-US" sz="2025" kern="0" spc="203" dirty="0">
                <a:solidFill>
                  <a:srgbClr val="5A6470"/>
                </a:solidFill>
                <a:latin typeface="Arial" pitchFamily="34" charset="0"/>
                <a:ea typeface="Arial" pitchFamily="34" charset="-122"/>
                <a:cs typeface="Arial" pitchFamily="34" charset="-120"/>
              </a:rPr>
              <a:t>結論</a:t>
            </a:r>
            <a:endParaRPr lang="en-US" sz="2025" dirty="0"/>
          </a:p>
        </p:txBody>
      </p:sp>
      <p:sp>
        <p:nvSpPr>
          <p:cNvPr id="4" name="Text 2"/>
          <p:cNvSpPr/>
          <p:nvPr/>
        </p:nvSpPr>
        <p:spPr>
          <a:xfrm>
            <a:off x="1028700" y="1174750"/>
            <a:ext cx="17853660" cy="624384"/>
          </a:xfrm>
          <a:prstGeom prst="rect">
            <a:avLst/>
          </a:prstGeom>
          <a:noFill/>
          <a:ln/>
        </p:spPr>
        <p:txBody>
          <a:bodyPr wrap="square" lIns="25400" tIns="25400" rIns="25400" bIns="25400" rtlCol="0" anchor="t">
            <a:normAutofit/>
          </a:bodyPr>
          <a:lstStyle/>
          <a:p>
            <a:pPr marL="0" indent="0" algn="l">
              <a:lnSpc>
                <a:spcPct val="114000"/>
              </a:lnSpc>
              <a:buNone/>
            </a:pPr>
            <a:r>
              <a:rPr lang="en-US" sz="4050" b="1" dirty="0">
                <a:solidFill>
                  <a:srgbClr val="1F2730"/>
                </a:solidFill>
                <a:latin typeface="Arial" pitchFamily="34" charset="0"/>
                <a:ea typeface="Arial" pitchFamily="34" charset="-122"/>
                <a:cs typeface="Arial" pitchFamily="34" charset="-120"/>
              </a:rPr>
              <a:t>参考文献・一次資料</a:t>
            </a:r>
            <a:endParaRPr lang="en-US" sz="4050" dirty="0"/>
          </a:p>
        </p:txBody>
      </p:sp>
      <p:sp>
        <p:nvSpPr>
          <p:cNvPr id="5" name="Text 3"/>
          <p:cNvSpPr/>
          <p:nvPr/>
        </p:nvSpPr>
        <p:spPr>
          <a:xfrm>
            <a:off x="1028700" y="2008684"/>
            <a:ext cx="9639300" cy="412750"/>
          </a:xfrm>
          <a:prstGeom prst="rect">
            <a:avLst/>
          </a:prstGeom>
          <a:noFill/>
          <a:ln/>
        </p:spPr>
        <p:txBody>
          <a:bodyPr wrap="square" lIns="25400" tIns="25400" rIns="25400" bIns="25400" rtlCol="0" anchor="t">
            <a:normAutofit/>
          </a:bodyPr>
          <a:lstStyle/>
          <a:p>
            <a:pPr marL="0" indent="0" algn="l">
              <a:buNone/>
            </a:pPr>
            <a:r>
              <a:rPr lang="en-US" sz="2025" kern="0" spc="122" dirty="0">
                <a:solidFill>
                  <a:srgbClr val="9A4A38"/>
                </a:solidFill>
                <a:latin typeface="Arial" pitchFamily="34" charset="0"/>
                <a:ea typeface="Arial" pitchFamily="34" charset="-122"/>
                <a:cs typeface="Arial" pitchFamily="34" charset="-120"/>
              </a:rPr>
              <a:t>一次資料（公正取引委員会）</a:t>
            </a:r>
            <a:endParaRPr lang="en-US" sz="2025" dirty="0"/>
          </a:p>
        </p:txBody>
      </p:sp>
      <p:sp>
        <p:nvSpPr>
          <p:cNvPr id="6" name="Text 4"/>
          <p:cNvSpPr/>
          <p:nvPr/>
        </p:nvSpPr>
        <p:spPr>
          <a:xfrm>
            <a:off x="1028700" y="2516684"/>
            <a:ext cx="9025890" cy="1198066"/>
          </a:xfrm>
          <a:prstGeom prst="rect">
            <a:avLst/>
          </a:prstGeom>
          <a:noFill/>
          <a:ln/>
        </p:spPr>
        <p:txBody>
          <a:bodyPr wrap="square" lIns="25400" tIns="25400" rIns="25400" bIns="25400" rtlCol="0" anchor="t">
            <a:normAutofit/>
          </a:bodyPr>
          <a:lstStyle/>
          <a:p>
            <a:pPr marL="0" indent="0" algn="l">
              <a:lnSpc>
                <a:spcPct val="145000"/>
              </a:lnSpc>
              <a:buNone/>
            </a:pPr>
            <a:r>
              <a:rPr lang="en-US" sz="2100" dirty="0">
                <a:solidFill>
                  <a:srgbClr val="2C333C"/>
                </a:solidFill>
                <a:latin typeface="Arial" pitchFamily="34" charset="0"/>
                <a:ea typeface="Arial" pitchFamily="34" charset="-122"/>
                <a:cs typeface="Arial" pitchFamily="34" charset="-120"/>
              </a:rPr>
              <a:t>・「イオン株式会社及び株式会社ツルハホールディングスの統合に関する審査結果について」（令和7年4月30日）／審査結果詳細／経済分析報告書（別紙）</a:t>
            </a:r>
            <a:endParaRPr lang="en-US" sz="2100" dirty="0"/>
          </a:p>
        </p:txBody>
      </p:sp>
      <p:sp>
        <p:nvSpPr>
          <p:cNvPr id="7" name="Text 5"/>
          <p:cNvSpPr/>
          <p:nvPr/>
        </p:nvSpPr>
        <p:spPr>
          <a:xfrm>
            <a:off x="1028700" y="3790950"/>
            <a:ext cx="9025890" cy="811411"/>
          </a:xfrm>
          <a:prstGeom prst="rect">
            <a:avLst/>
          </a:prstGeom>
          <a:noFill/>
          <a:ln/>
        </p:spPr>
        <p:txBody>
          <a:bodyPr wrap="square" lIns="25400" tIns="25400" rIns="25400" bIns="25400" rtlCol="0" anchor="t">
            <a:normAutofit/>
          </a:bodyPr>
          <a:lstStyle/>
          <a:p>
            <a:pPr marL="0" indent="0" algn="l">
              <a:lnSpc>
                <a:spcPct val="145000"/>
              </a:lnSpc>
              <a:buNone/>
            </a:pPr>
            <a:r>
              <a:rPr lang="en-US" sz="2100" dirty="0">
                <a:solidFill>
                  <a:srgbClr val="2C333C"/>
                </a:solidFill>
                <a:latin typeface="Arial" pitchFamily="34" charset="0"/>
                <a:ea typeface="Arial" pitchFamily="34" charset="-122"/>
                <a:cs typeface="Arial" pitchFamily="34" charset="-120"/>
              </a:rPr>
              <a:t>・「企業結合審査に関する独占禁止法の運用指針」（企業結合ガイドライン）</a:t>
            </a:r>
            <a:endParaRPr lang="en-US" sz="2100" dirty="0"/>
          </a:p>
        </p:txBody>
      </p:sp>
      <p:sp>
        <p:nvSpPr>
          <p:cNvPr id="8" name="Text 6"/>
          <p:cNvSpPr/>
          <p:nvPr/>
        </p:nvSpPr>
        <p:spPr>
          <a:xfrm>
            <a:off x="1028700" y="4678561"/>
            <a:ext cx="9025890" cy="811411"/>
          </a:xfrm>
          <a:prstGeom prst="rect">
            <a:avLst/>
          </a:prstGeom>
          <a:noFill/>
          <a:ln/>
        </p:spPr>
        <p:txBody>
          <a:bodyPr wrap="square" lIns="25400" tIns="25400" rIns="25400" bIns="25400" rtlCol="0" anchor="t">
            <a:normAutofit/>
          </a:bodyPr>
          <a:lstStyle/>
          <a:p>
            <a:pPr marL="0" indent="0" algn="l">
              <a:lnSpc>
                <a:spcPct val="145000"/>
              </a:lnSpc>
              <a:buNone/>
            </a:pPr>
            <a:r>
              <a:rPr lang="en-US" sz="2100" dirty="0">
                <a:solidFill>
                  <a:srgbClr val="2C333C"/>
                </a:solidFill>
                <a:latin typeface="Arial" pitchFamily="34" charset="0"/>
                <a:ea typeface="Arial" pitchFamily="34" charset="-122"/>
                <a:cs typeface="Arial" pitchFamily="34" charset="-120"/>
              </a:rPr>
              <a:t>・「平成27年度における主要な企業結合事例」事例9（ファミリーマート × ユニーグループHD）</a:t>
            </a:r>
            <a:endParaRPr lang="en-US" sz="2100" dirty="0"/>
          </a:p>
        </p:txBody>
      </p:sp>
      <p:sp>
        <p:nvSpPr>
          <p:cNvPr id="9" name="Shape 7"/>
          <p:cNvSpPr/>
          <p:nvPr/>
        </p:nvSpPr>
        <p:spPr>
          <a:xfrm>
            <a:off x="1028700" y="5661422"/>
            <a:ext cx="8763000" cy="9525"/>
          </a:xfrm>
          <a:prstGeom prst="rect">
            <a:avLst/>
          </a:prstGeom>
          <a:solidFill>
            <a:srgbClr val="E4E0D7"/>
          </a:solidFill>
          <a:ln/>
        </p:spPr>
      </p:sp>
      <p:sp>
        <p:nvSpPr>
          <p:cNvPr id="10" name="Text 8"/>
          <p:cNvSpPr/>
          <p:nvPr/>
        </p:nvSpPr>
        <p:spPr>
          <a:xfrm>
            <a:off x="1028700" y="5880497"/>
            <a:ext cx="9639300" cy="412750"/>
          </a:xfrm>
          <a:prstGeom prst="rect">
            <a:avLst/>
          </a:prstGeom>
          <a:noFill/>
          <a:ln/>
        </p:spPr>
        <p:txBody>
          <a:bodyPr wrap="square" lIns="25400" tIns="25400" rIns="25400" bIns="25400" rtlCol="0" anchor="t">
            <a:normAutofit/>
          </a:bodyPr>
          <a:lstStyle/>
          <a:p>
            <a:pPr marL="0" indent="0" algn="l">
              <a:buNone/>
            </a:pPr>
            <a:r>
              <a:rPr lang="en-US" sz="2025" kern="0" spc="122" dirty="0">
                <a:solidFill>
                  <a:srgbClr val="9A4A38"/>
                </a:solidFill>
                <a:latin typeface="Arial" pitchFamily="34" charset="0"/>
                <a:ea typeface="Arial" pitchFamily="34" charset="-122"/>
                <a:cs typeface="Arial" pitchFamily="34" charset="-120"/>
              </a:rPr>
              <a:t>文献</a:t>
            </a:r>
            <a:endParaRPr lang="en-US" sz="2025" dirty="0"/>
          </a:p>
        </p:txBody>
      </p:sp>
      <p:sp>
        <p:nvSpPr>
          <p:cNvPr id="11" name="Text 9"/>
          <p:cNvSpPr/>
          <p:nvPr/>
        </p:nvSpPr>
        <p:spPr>
          <a:xfrm>
            <a:off x="1028700" y="6388497"/>
            <a:ext cx="9639300" cy="424755"/>
          </a:xfrm>
          <a:prstGeom prst="rect">
            <a:avLst/>
          </a:prstGeom>
          <a:noFill/>
          <a:ln/>
        </p:spPr>
        <p:txBody>
          <a:bodyPr wrap="square" lIns="25400" tIns="25400" rIns="25400" bIns="25400" rtlCol="0" anchor="t">
            <a:normAutofit/>
          </a:bodyPr>
          <a:lstStyle/>
          <a:p>
            <a:pPr marL="0" indent="0" algn="l">
              <a:lnSpc>
                <a:spcPct val="145000"/>
              </a:lnSpc>
              <a:buNone/>
            </a:pPr>
            <a:r>
              <a:rPr lang="en-US" sz="2100" dirty="0">
                <a:solidFill>
                  <a:srgbClr val="2C333C"/>
                </a:solidFill>
                <a:latin typeface="Arial" pitchFamily="34" charset="0"/>
                <a:ea typeface="Arial" pitchFamily="34" charset="-122"/>
                <a:cs typeface="Arial" pitchFamily="34" charset="-120"/>
              </a:rPr>
              <a:t>・菅久修一『独占禁止法〔第5版〕』（商事法務、2024）</a:t>
            </a:r>
            <a:endParaRPr lang="en-US" sz="2100" dirty="0"/>
          </a:p>
        </p:txBody>
      </p:sp>
      <p:sp>
        <p:nvSpPr>
          <p:cNvPr id="12" name="Text 10"/>
          <p:cNvSpPr/>
          <p:nvPr/>
        </p:nvSpPr>
        <p:spPr>
          <a:xfrm>
            <a:off x="1028700" y="6889453"/>
            <a:ext cx="9025890" cy="811411"/>
          </a:xfrm>
          <a:prstGeom prst="rect">
            <a:avLst/>
          </a:prstGeom>
          <a:noFill/>
          <a:ln/>
        </p:spPr>
        <p:txBody>
          <a:bodyPr wrap="square" lIns="25400" tIns="25400" rIns="25400" bIns="25400" rtlCol="0" anchor="t">
            <a:normAutofit/>
          </a:bodyPr>
          <a:lstStyle/>
          <a:p>
            <a:pPr marL="0" indent="0" algn="l">
              <a:lnSpc>
                <a:spcPct val="145000"/>
              </a:lnSpc>
              <a:buNone/>
            </a:pPr>
            <a:r>
              <a:rPr lang="en-US" sz="2100" dirty="0">
                <a:solidFill>
                  <a:srgbClr val="2C333C"/>
                </a:solidFill>
                <a:latin typeface="Arial" pitchFamily="34" charset="0"/>
                <a:ea typeface="Arial" pitchFamily="34" charset="-122"/>
                <a:cs typeface="Arial" pitchFamily="34" charset="-120"/>
              </a:rPr>
              <a:t>・川濵昇・武田邦宣・和久井理子『経済法判例・審決百選〔第3版〕』（有斐閣、2024）</a:t>
            </a:r>
            <a:endParaRPr lang="en-US" sz="2100" dirty="0"/>
          </a:p>
        </p:txBody>
      </p:sp>
      <p:sp>
        <p:nvSpPr>
          <p:cNvPr id="13" name="Text 11"/>
          <p:cNvSpPr/>
          <p:nvPr/>
        </p:nvSpPr>
        <p:spPr>
          <a:xfrm>
            <a:off x="10248900" y="2008684"/>
            <a:ext cx="7711440" cy="412750"/>
          </a:xfrm>
          <a:prstGeom prst="rect">
            <a:avLst/>
          </a:prstGeom>
          <a:noFill/>
          <a:ln/>
        </p:spPr>
        <p:txBody>
          <a:bodyPr wrap="square" lIns="25400" tIns="25400" rIns="25400" bIns="25400" rtlCol="0" anchor="t">
            <a:normAutofit/>
          </a:bodyPr>
          <a:lstStyle/>
          <a:p>
            <a:pPr marL="0" indent="0" algn="l">
              <a:buNone/>
            </a:pPr>
            <a:r>
              <a:rPr lang="en-US" sz="2025" kern="0" spc="122" dirty="0">
                <a:solidFill>
                  <a:srgbClr val="9A4A38"/>
                </a:solidFill>
                <a:latin typeface="Arial" pitchFamily="34" charset="0"/>
                <a:ea typeface="Arial" pitchFamily="34" charset="-122"/>
                <a:cs typeface="Arial" pitchFamily="34" charset="-120"/>
              </a:rPr>
              <a:t>計画資料</a:t>
            </a:r>
            <a:endParaRPr lang="en-US" sz="2025" dirty="0"/>
          </a:p>
        </p:txBody>
      </p:sp>
      <p:sp>
        <p:nvSpPr>
          <p:cNvPr id="14" name="Text 12"/>
          <p:cNvSpPr/>
          <p:nvPr/>
        </p:nvSpPr>
        <p:spPr>
          <a:xfrm>
            <a:off x="10248900" y="2516684"/>
            <a:ext cx="7220712" cy="811411"/>
          </a:xfrm>
          <a:prstGeom prst="rect">
            <a:avLst/>
          </a:prstGeom>
          <a:noFill/>
          <a:ln/>
        </p:spPr>
        <p:txBody>
          <a:bodyPr wrap="square" lIns="25400" tIns="25400" rIns="25400" bIns="25400" rtlCol="0" anchor="t">
            <a:normAutofit/>
          </a:bodyPr>
          <a:lstStyle/>
          <a:p>
            <a:pPr marL="0" indent="0" algn="l">
              <a:lnSpc>
                <a:spcPct val="145000"/>
              </a:lnSpc>
              <a:buNone/>
            </a:pPr>
            <a:r>
              <a:rPr lang="en-US" sz="2100" dirty="0">
                <a:solidFill>
                  <a:srgbClr val="2C333C"/>
                </a:solidFill>
                <a:latin typeface="Arial" pitchFamily="34" charset="0"/>
                <a:ea typeface="Arial" pitchFamily="34" charset="-122"/>
                <a:cs typeface="Arial" pitchFamily="34" charset="-120"/>
              </a:rPr>
              <a:t>・イオン株式会社「2026年度〜2030年度 グループ中期経営計画」</a:t>
            </a:r>
            <a:endParaRPr lang="en-US" sz="2100" dirty="0"/>
          </a:p>
        </p:txBody>
      </p:sp>
      <p:sp>
        <p:nvSpPr>
          <p:cNvPr id="15" name="Shape 13"/>
          <p:cNvSpPr/>
          <p:nvPr/>
        </p:nvSpPr>
        <p:spPr>
          <a:xfrm>
            <a:off x="10248900" y="3499545"/>
            <a:ext cx="7010400" cy="9525"/>
          </a:xfrm>
          <a:prstGeom prst="rect">
            <a:avLst/>
          </a:prstGeom>
          <a:solidFill>
            <a:srgbClr val="E4E0D7"/>
          </a:solidFill>
          <a:ln/>
        </p:spPr>
      </p:sp>
      <p:sp>
        <p:nvSpPr>
          <p:cNvPr id="16" name="Shape 14"/>
          <p:cNvSpPr/>
          <p:nvPr/>
        </p:nvSpPr>
        <p:spPr>
          <a:xfrm>
            <a:off x="10248900" y="3718620"/>
            <a:ext cx="7010400" cy="2063750"/>
          </a:xfrm>
          <a:prstGeom prst="roundRect">
            <a:avLst>
              <a:gd name="adj" fmla="val 4615"/>
            </a:avLst>
          </a:prstGeom>
          <a:solidFill>
            <a:srgbClr val="FFFFFF"/>
          </a:solidFill>
          <a:ln w="6350">
            <a:solidFill>
              <a:srgbClr val="E0DCD2"/>
            </a:solidFill>
            <a:prstDash val="solid"/>
          </a:ln>
        </p:spPr>
      </p:sp>
      <p:sp>
        <p:nvSpPr>
          <p:cNvPr id="17" name="Text 15"/>
          <p:cNvSpPr/>
          <p:nvPr/>
        </p:nvSpPr>
        <p:spPr>
          <a:xfrm>
            <a:off x="10541001" y="3972620"/>
            <a:ext cx="7068820" cy="412750"/>
          </a:xfrm>
          <a:prstGeom prst="rect">
            <a:avLst/>
          </a:prstGeom>
          <a:noFill/>
          <a:ln/>
        </p:spPr>
        <p:txBody>
          <a:bodyPr wrap="square" lIns="25400" tIns="25400" rIns="25400" bIns="25400" rtlCol="0" anchor="t">
            <a:normAutofit/>
          </a:bodyPr>
          <a:lstStyle/>
          <a:p>
            <a:pPr marL="0" indent="0" algn="l">
              <a:buNone/>
            </a:pPr>
            <a:r>
              <a:rPr lang="en-US" sz="2025" kern="0" spc="122" dirty="0">
                <a:solidFill>
                  <a:srgbClr val="5A6470"/>
                </a:solidFill>
                <a:latin typeface="Arial" pitchFamily="34" charset="0"/>
                <a:ea typeface="Arial" pitchFamily="34" charset="-122"/>
                <a:cs typeface="Arial" pitchFamily="34" charset="-120"/>
              </a:rPr>
              <a:t>分析環境</a:t>
            </a:r>
            <a:endParaRPr lang="en-US" sz="2025" dirty="0"/>
          </a:p>
        </p:txBody>
      </p:sp>
      <p:sp>
        <p:nvSpPr>
          <p:cNvPr id="18" name="Shape 16"/>
          <p:cNvSpPr/>
          <p:nvPr/>
        </p:nvSpPr>
        <p:spPr>
          <a:xfrm>
            <a:off x="10541001" y="4480620"/>
            <a:ext cx="2175570" cy="476250"/>
          </a:xfrm>
          <a:prstGeom prst="roundRect">
            <a:avLst>
              <a:gd name="adj" fmla="val 12000"/>
            </a:avLst>
          </a:prstGeom>
          <a:solidFill>
            <a:srgbClr val="EDEAE2"/>
          </a:solidFill>
          <a:ln/>
        </p:spPr>
      </p:sp>
      <p:sp>
        <p:nvSpPr>
          <p:cNvPr id="19" name="Text 17"/>
          <p:cNvSpPr/>
          <p:nvPr/>
        </p:nvSpPr>
        <p:spPr>
          <a:xfrm>
            <a:off x="10712451" y="4556820"/>
            <a:ext cx="1908870" cy="361950"/>
          </a:xfrm>
          <a:prstGeom prst="rect">
            <a:avLst/>
          </a:prstGeom>
          <a:noFill/>
          <a:ln/>
        </p:spPr>
        <p:txBody>
          <a:bodyPr wrap="square" lIns="25400" tIns="25400" rIns="25400" bIns="25400" rtlCol="0" anchor="t">
            <a:normAutofit/>
          </a:bodyPr>
          <a:lstStyle/>
          <a:p>
            <a:pPr marL="0" indent="0" algn="l">
              <a:buNone/>
            </a:pPr>
            <a:r>
              <a:rPr lang="en-US" sz="1950" dirty="0">
                <a:solidFill>
                  <a:srgbClr val="3A4350"/>
                </a:solidFill>
                <a:latin typeface="Courier New" pitchFamily="34" charset="0"/>
                <a:ea typeface="Courier New" pitchFamily="34" charset="-122"/>
                <a:cs typeface="Courier New" pitchFamily="34" charset="-120"/>
              </a:rPr>
              <a:t>R（sf / plm）</a:t>
            </a:r>
            <a:endParaRPr lang="en-US" sz="1950" dirty="0"/>
          </a:p>
        </p:txBody>
      </p:sp>
      <p:sp>
        <p:nvSpPr>
          <p:cNvPr id="20" name="Shape 18"/>
          <p:cNvSpPr/>
          <p:nvPr/>
        </p:nvSpPr>
        <p:spPr>
          <a:xfrm>
            <a:off x="12811820" y="4480620"/>
            <a:ext cx="2274590" cy="476250"/>
          </a:xfrm>
          <a:prstGeom prst="roundRect">
            <a:avLst>
              <a:gd name="adj" fmla="val 12000"/>
            </a:avLst>
          </a:prstGeom>
          <a:solidFill>
            <a:srgbClr val="EDEAE2"/>
          </a:solidFill>
          <a:ln/>
        </p:spPr>
      </p:sp>
      <p:sp>
        <p:nvSpPr>
          <p:cNvPr id="21" name="Text 19"/>
          <p:cNvSpPr/>
          <p:nvPr/>
        </p:nvSpPr>
        <p:spPr>
          <a:xfrm>
            <a:off x="12983270" y="4556820"/>
            <a:ext cx="2007890" cy="361950"/>
          </a:xfrm>
          <a:prstGeom prst="rect">
            <a:avLst/>
          </a:prstGeom>
          <a:noFill/>
          <a:ln/>
        </p:spPr>
        <p:txBody>
          <a:bodyPr wrap="square" lIns="25400" tIns="25400" rIns="25400" bIns="25400" rtlCol="0" anchor="t">
            <a:normAutofit/>
          </a:bodyPr>
          <a:lstStyle/>
          <a:p>
            <a:pPr marL="0" indent="0" algn="l">
              <a:buNone/>
            </a:pPr>
            <a:r>
              <a:rPr lang="en-US" sz="1950" dirty="0">
                <a:solidFill>
                  <a:srgbClr val="3A4350"/>
                </a:solidFill>
                <a:latin typeface="Courier New" pitchFamily="34" charset="0"/>
                <a:ea typeface="Courier New" pitchFamily="34" charset="-122"/>
                <a:cs typeface="Courier New" pitchFamily="34" charset="-120"/>
              </a:rPr>
              <a:t>OpenStreetMap</a:t>
            </a:r>
            <a:endParaRPr lang="en-US" sz="1950" dirty="0"/>
          </a:p>
        </p:txBody>
      </p:sp>
      <p:sp>
        <p:nvSpPr>
          <p:cNvPr id="22" name="Shape 20"/>
          <p:cNvSpPr/>
          <p:nvPr/>
        </p:nvSpPr>
        <p:spPr>
          <a:xfrm>
            <a:off x="10541001" y="5052120"/>
            <a:ext cx="2869009" cy="476250"/>
          </a:xfrm>
          <a:prstGeom prst="roundRect">
            <a:avLst>
              <a:gd name="adj" fmla="val 12000"/>
            </a:avLst>
          </a:prstGeom>
          <a:solidFill>
            <a:srgbClr val="EDEAE2"/>
          </a:solidFill>
          <a:ln/>
        </p:spPr>
      </p:sp>
      <p:sp>
        <p:nvSpPr>
          <p:cNvPr id="23" name="Text 21"/>
          <p:cNvSpPr/>
          <p:nvPr/>
        </p:nvSpPr>
        <p:spPr>
          <a:xfrm>
            <a:off x="10712451" y="5128320"/>
            <a:ext cx="2612180" cy="361950"/>
          </a:xfrm>
          <a:prstGeom prst="rect">
            <a:avLst/>
          </a:prstGeom>
          <a:noFill/>
          <a:ln/>
        </p:spPr>
        <p:txBody>
          <a:bodyPr wrap="square" lIns="25400" tIns="25400" rIns="25400" bIns="25400" rtlCol="0" anchor="t">
            <a:normAutofit/>
          </a:bodyPr>
          <a:lstStyle/>
          <a:p>
            <a:pPr marL="0" indent="0" algn="l">
              <a:buNone/>
            </a:pPr>
            <a:r>
              <a:rPr lang="en-US" sz="1950" dirty="0">
                <a:solidFill>
                  <a:srgbClr val="3A4350"/>
                </a:solidFill>
                <a:latin typeface="Courier New" pitchFamily="34" charset="0"/>
                <a:ea typeface="Courier New" pitchFamily="34" charset="-122"/>
                <a:cs typeface="Courier New" pitchFamily="34" charset="-120"/>
              </a:rPr>
              <a:t>Google Places API</a:t>
            </a:r>
            <a:endParaRPr lang="en-US" sz="1950" dirty="0"/>
          </a:p>
        </p:txBody>
      </p:sp>
      <p:sp>
        <p:nvSpPr>
          <p:cNvPr id="24" name="Shape 22"/>
          <p:cNvSpPr/>
          <p:nvPr/>
        </p:nvSpPr>
        <p:spPr>
          <a:xfrm>
            <a:off x="13505259" y="5052120"/>
            <a:ext cx="1383109" cy="476250"/>
          </a:xfrm>
          <a:prstGeom prst="roundRect">
            <a:avLst>
              <a:gd name="adj" fmla="val 12000"/>
            </a:avLst>
          </a:prstGeom>
          <a:solidFill>
            <a:srgbClr val="EDEAE2"/>
          </a:solidFill>
          <a:ln/>
        </p:spPr>
      </p:sp>
      <p:sp>
        <p:nvSpPr>
          <p:cNvPr id="25" name="Text 23"/>
          <p:cNvSpPr/>
          <p:nvPr/>
        </p:nvSpPr>
        <p:spPr>
          <a:xfrm>
            <a:off x="13676709" y="5128320"/>
            <a:ext cx="1116409" cy="361950"/>
          </a:xfrm>
          <a:prstGeom prst="rect">
            <a:avLst/>
          </a:prstGeom>
          <a:noFill/>
          <a:ln/>
        </p:spPr>
        <p:txBody>
          <a:bodyPr wrap="square" lIns="25400" tIns="25400" rIns="25400" bIns="25400" rtlCol="0" anchor="t">
            <a:normAutofit/>
          </a:bodyPr>
          <a:lstStyle/>
          <a:p>
            <a:pPr marL="0" indent="0" algn="l">
              <a:buNone/>
            </a:pPr>
            <a:r>
              <a:rPr lang="en-US" sz="1950" dirty="0">
                <a:solidFill>
                  <a:srgbClr val="3A4350"/>
                </a:solidFill>
                <a:latin typeface="Courier New" pitchFamily="34" charset="0"/>
                <a:ea typeface="Courier New" pitchFamily="34" charset="-122"/>
                <a:cs typeface="Courier New" pitchFamily="34" charset="-120"/>
              </a:rPr>
              <a:t>対象 7県</a:t>
            </a:r>
            <a:endParaRPr lang="en-US" sz="1950" dirty="0"/>
          </a:p>
        </p:txBody>
      </p:sp>
      <p:sp>
        <p:nvSpPr>
          <p:cNvPr id="26" name="Shape 24"/>
          <p:cNvSpPr/>
          <p:nvPr/>
        </p:nvSpPr>
        <p:spPr>
          <a:xfrm>
            <a:off x="1028700" y="9296400"/>
            <a:ext cx="16230600" cy="9525"/>
          </a:xfrm>
          <a:prstGeom prst="rect">
            <a:avLst/>
          </a:prstGeom>
          <a:solidFill>
            <a:srgbClr val="E4E0D7"/>
          </a:solidFill>
          <a:ln/>
        </p:spPr>
      </p:sp>
      <p:sp>
        <p:nvSpPr>
          <p:cNvPr id="27" name="Text 25"/>
          <p:cNvSpPr/>
          <p:nvPr/>
        </p:nvSpPr>
        <p:spPr>
          <a:xfrm>
            <a:off x="1028700" y="9455150"/>
            <a:ext cx="6976378" cy="393700"/>
          </a:xfrm>
          <a:prstGeom prst="rect">
            <a:avLst/>
          </a:prstGeom>
          <a:noFill/>
          <a:ln/>
        </p:spPr>
        <p:txBody>
          <a:bodyPr wrap="square" lIns="25400" tIns="25400" rIns="25400" bIns="25400" rtlCol="0" anchor="t">
            <a:normAutofit/>
          </a:bodyPr>
          <a:lstStyle/>
          <a:p>
            <a:pPr marL="0" indent="0" algn="l">
              <a:buNone/>
            </a:pPr>
            <a:r>
              <a:rPr lang="en-US" sz="1950" dirty="0">
                <a:solidFill>
                  <a:srgbClr val="97928A"/>
                </a:solidFill>
                <a:latin typeface="Arial" pitchFamily="34" charset="0"/>
                <a:ea typeface="Arial" pitchFamily="34" charset="-122"/>
                <a:cs typeface="Arial" pitchFamily="34" charset="-120"/>
              </a:rPr>
              <a:t>永田 稔人 ｜ 中里ゼミ（経済法） ｜ 2026年6月30日</a:t>
            </a:r>
            <a:endParaRPr lang="en-US" sz="1950" dirty="0"/>
          </a:p>
        </p:txBody>
      </p:sp>
      <p:sp>
        <p:nvSpPr>
          <p:cNvPr id="28" name="Text 26"/>
          <p:cNvSpPr/>
          <p:nvPr/>
        </p:nvSpPr>
        <p:spPr>
          <a:xfrm>
            <a:off x="16115109" y="9471025"/>
            <a:ext cx="1220391" cy="361950"/>
          </a:xfrm>
          <a:prstGeom prst="rect">
            <a:avLst/>
          </a:prstGeom>
          <a:noFill/>
          <a:ln/>
        </p:spPr>
        <p:txBody>
          <a:bodyPr wrap="square" lIns="25400" tIns="25400" rIns="25400" bIns="25400" rtlCol="0" anchor="t">
            <a:normAutofit/>
          </a:bodyPr>
          <a:lstStyle/>
          <a:p>
            <a:pPr marL="0" indent="0" algn="l">
              <a:buNone/>
            </a:pPr>
            <a:r>
              <a:rPr lang="en-US" sz="1950" kern="0" spc="117" dirty="0">
                <a:solidFill>
                  <a:srgbClr val="97928A"/>
                </a:solidFill>
                <a:latin typeface="Courier New" pitchFamily="34" charset="0"/>
                <a:ea typeface="Courier New" pitchFamily="34" charset="-122"/>
                <a:cs typeface="Courier New" pitchFamily="34" charset="-120"/>
              </a:rPr>
              <a:t>27 / 27</a:t>
            </a:r>
            <a:endParaRPr lang="en-US" sz="1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2427</Words>
  <Application>Microsoft Office PowerPoint</Application>
  <PresentationFormat>ユーザー設定</PresentationFormat>
  <Paragraphs>493</Paragraphs>
  <Slides>27</Slides>
  <Notes>27</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27</vt:i4>
      </vt:variant>
    </vt:vector>
  </HeadingPairs>
  <TitlesOfParts>
    <vt:vector size="30" baseType="lpstr">
      <vt:lpstr>Arial</vt:lpstr>
      <vt:lpstr>Courier New</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稔人 永田</cp:lastModifiedBy>
  <cp:revision>2</cp:revision>
  <dcterms:created xsi:type="dcterms:W3CDTF">2026-06-30T00:59:00Z</dcterms:created>
  <dcterms:modified xsi:type="dcterms:W3CDTF">2026-07-02T07:03:25Z</dcterms:modified>
</cp:coreProperties>
</file>